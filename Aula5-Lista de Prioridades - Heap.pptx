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4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x="4610100" cy="346075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90" y="-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Spranq eco sans"/>
              </a:rPr>
              <a:t>Clique para mover o slide</a:t>
            </a: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2000" b="0" strike="noStrike" spc="-1">
                <a:latin typeface="Spranq eco sans"/>
              </a:rPr>
              <a:t>Clique para editar o formato de notas</a:t>
            </a:r>
          </a:p>
        </p:txBody>
      </p:sp>
      <p:sp>
        <p:nvSpPr>
          <p:cNvPr id="17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1400" b="0" strike="noStrike" spc="-1">
                <a:latin typeface="Spranq eco sans"/>
              </a:rPr>
              <a:t> </a:t>
            </a:r>
          </a:p>
        </p:txBody>
      </p:sp>
      <p:sp>
        <p:nvSpPr>
          <p:cNvPr id="178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pt-BR" sz="1400" b="0" strike="noStrike" spc="-1">
                <a:latin typeface="Spranq eco sans"/>
              </a:rPr>
              <a:t> </a:t>
            </a:r>
          </a:p>
        </p:txBody>
      </p:sp>
      <p:sp>
        <p:nvSpPr>
          <p:cNvPr id="179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pt-BR" sz="1400" b="0" strike="noStrike" spc="-1">
                <a:latin typeface="Spranq eco sans"/>
              </a:rPr>
              <a:t> </a:t>
            </a:r>
          </a:p>
        </p:txBody>
      </p:sp>
      <p:sp>
        <p:nvSpPr>
          <p:cNvPr id="180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87D1FF1D-E901-47CF-95F0-5F0FA31A4608}" type="slidenum">
              <a:rPr lang="pt-BR" sz="1400" b="0" strike="noStrike" spc="-1">
                <a:latin typeface="Spranq eco sans"/>
              </a:rPr>
              <a:t>‹nº›</a:t>
            </a:fld>
            <a:endParaRPr lang="pt-BR" sz="1400" b="0" strike="noStrike" spc="-1">
              <a:latin typeface="Spranq ec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CustomShape 1"/>
          <p:cNvSpPr/>
          <p:nvPr/>
        </p:nvSpPr>
        <p:spPr>
          <a:xfrm>
            <a:off x="4282200" y="10155600"/>
            <a:ext cx="3269880" cy="528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/>
          <a:lstStyle/>
          <a:p>
            <a:pPr algn="r">
              <a:lnSpc>
                <a:spcPct val="100000"/>
              </a:lnSpc>
            </a:pPr>
            <a:fld id="{9FEA4A63-C67A-40C6-8831-41D826D57255}" type="slidenum">
              <a:rPr lang="pt-BR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pt-BR" sz="1200" b="0" strike="noStrike" spc="-1">
              <a:latin typeface="Spranq eco sans"/>
            </a:endParaRPr>
          </a:p>
        </p:txBody>
      </p:sp>
      <p:sp>
        <p:nvSpPr>
          <p:cNvPr id="976" name="CustomShape 2"/>
          <p:cNvSpPr/>
          <p:nvPr/>
        </p:nvSpPr>
        <p:spPr>
          <a:xfrm>
            <a:off x="4282200" y="10155240"/>
            <a:ext cx="3272040" cy="530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/>
          <a:lstStyle/>
          <a:p>
            <a:pPr algn="r">
              <a:lnSpc>
                <a:spcPct val="100000"/>
              </a:lnSpc>
            </a:pPr>
            <a:fld id="{F00A1FD3-BA4F-42EE-817F-365139C18B44}" type="slidenum">
              <a:rPr lang="pt-BR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pt-BR" sz="1200" b="0" strike="noStrike" spc="-1">
              <a:latin typeface="Spranq eco sans"/>
            </a:endParaRPr>
          </a:p>
        </p:txBody>
      </p:sp>
      <p:sp>
        <p:nvSpPr>
          <p:cNvPr id="977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1260000" y="801720"/>
            <a:ext cx="5039280" cy="4008960"/>
          </a:xfrm>
          <a:prstGeom prst="rect">
            <a:avLst/>
          </a:prstGeom>
        </p:spPr>
      </p:sp>
      <p:sp>
        <p:nvSpPr>
          <p:cNvPr id="978" name="CustomShape 4"/>
          <p:cNvSpPr/>
          <p:nvPr/>
        </p:nvSpPr>
        <p:spPr>
          <a:xfrm>
            <a:off x="756000" y="5078520"/>
            <a:ext cx="6047280" cy="4810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230400" y="137880"/>
            <a:ext cx="4148640" cy="2678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2304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230400" y="1857960"/>
            <a:ext cx="414864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230400" y="1857960"/>
            <a:ext cx="414864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2304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1633320" y="80964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3035880" y="80964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230400" y="185796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1633320" y="185796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3035880" y="185796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230400" y="137880"/>
            <a:ext cx="4148640" cy="2678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2304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230400" y="1857960"/>
            <a:ext cx="414864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230400" y="1857960"/>
            <a:ext cx="414864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2304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1633320" y="80964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3035880" y="80964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230400" y="185796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1633320" y="185796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body"/>
          </p:nvPr>
        </p:nvSpPr>
        <p:spPr>
          <a:xfrm>
            <a:off x="3035880" y="185796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>
          <a:xfrm>
            <a:off x="230400" y="137880"/>
            <a:ext cx="4148640" cy="2678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2304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230400" y="1857960"/>
            <a:ext cx="414864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230400" y="1857960"/>
            <a:ext cx="414864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2304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1633320" y="80964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3035880" y="80964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230400" y="185796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body"/>
          </p:nvPr>
        </p:nvSpPr>
        <p:spPr>
          <a:xfrm>
            <a:off x="1633320" y="185796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 type="body"/>
          </p:nvPr>
        </p:nvSpPr>
        <p:spPr>
          <a:xfrm>
            <a:off x="3035880" y="185796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ubTitle"/>
          </p:nvPr>
        </p:nvSpPr>
        <p:spPr>
          <a:xfrm>
            <a:off x="230400" y="137880"/>
            <a:ext cx="4148640" cy="2678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2304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230400" y="1857960"/>
            <a:ext cx="414864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230400" y="1857960"/>
            <a:ext cx="414864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2356200" y="80964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2304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body"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230400" y="-551880"/>
            <a:ext cx="4148640" cy="1957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Spranq eco sans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230400" y="80964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1633320" y="80964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3035880" y="80964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body"/>
          </p:nvPr>
        </p:nvSpPr>
        <p:spPr>
          <a:xfrm>
            <a:off x="230400" y="185796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body"/>
          </p:nvPr>
        </p:nvSpPr>
        <p:spPr>
          <a:xfrm>
            <a:off x="1633320" y="185796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  <p:sp>
        <p:nvSpPr>
          <p:cNvPr id="174" name="PlaceHolder 7"/>
          <p:cNvSpPr>
            <a:spLocks noGrp="1"/>
          </p:cNvSpPr>
          <p:nvPr>
            <p:ph type="body"/>
          </p:nvPr>
        </p:nvSpPr>
        <p:spPr>
          <a:xfrm>
            <a:off x="3035880" y="1857960"/>
            <a:ext cx="1335600" cy="956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Spranq eco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vmlDrawing" Target="../drawings/vmlDrawing2.v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vmlDrawing" Target="../drawings/vmlDrawing3.v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vmlDrawing" Target="../drawings/vmlDrawing4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/>
          <p:cNvSpPr/>
          <p:nvPr/>
        </p:nvSpPr>
        <p:spPr>
          <a:xfrm>
            <a:off x="230400" y="3150720"/>
            <a:ext cx="1073520" cy="228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2"/>
          <p:cNvSpPr/>
          <p:nvPr/>
        </p:nvSpPr>
        <p:spPr>
          <a:xfrm>
            <a:off x="1575000" y="3150720"/>
            <a:ext cx="1457640" cy="228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CustomShape 3"/>
          <p:cNvSpPr/>
          <p:nvPr/>
        </p:nvSpPr>
        <p:spPr>
          <a:xfrm>
            <a:off x="93240" y="48600"/>
            <a:ext cx="4442400" cy="608760"/>
          </a:xfrm>
          <a:custGeom>
            <a:avLst/>
            <a:gdLst/>
            <a:ahLst/>
            <a:cxnLst/>
            <a:rect l="l" t="t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80">
            <a:solidFill>
              <a:srgbClr val="CC99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Line 4"/>
          <p:cNvSpPr/>
          <p:nvPr/>
        </p:nvSpPr>
        <p:spPr>
          <a:xfrm>
            <a:off x="72000" y="3312000"/>
            <a:ext cx="4464000" cy="360"/>
          </a:xfrm>
          <a:prstGeom prst="line">
            <a:avLst/>
          </a:prstGeom>
          <a:ln w="19080">
            <a:solidFill>
              <a:srgbClr val="CC99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4" name="Object 5"/>
          <p:cNvGraphicFramePr/>
          <p:nvPr/>
        </p:nvGraphicFramePr>
        <p:xfrm>
          <a:off x="3888000" y="74520"/>
          <a:ext cx="647280" cy="32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r:id="rId15" imgW="0" imgH="0" progId="">
                  <p:embed/>
                </p:oleObj>
              </mc:Choice>
              <mc:Fallback>
                <p:oleObj r:id="rId15" imgW="0" imgH="0" progId="">
                  <p:embed/>
                  <p:pic>
                    <p:nvPicPr>
                      <p:cNvPr id="5" name="Object 8"/>
                      <p:cNvPicPr/>
                      <p:nvPr/>
                    </p:nvPicPr>
                    <p:blipFill>
                      <a:blip r:embed="rId16"/>
                      <a:stretch/>
                    </p:blipFill>
                    <p:spPr>
                      <a:xfrm>
                        <a:off x="3888000" y="74520"/>
                        <a:ext cx="647280" cy="32328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laceHolder 6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Spranq eco sans"/>
              </a:rPr>
              <a:t>Clique para editar o formato do texto do título</a:t>
            </a:r>
          </a:p>
        </p:txBody>
      </p:sp>
      <p:sp>
        <p:nvSpPr>
          <p:cNvPr id="7" name="PlaceHolder 7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Spranq eco sans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Spranq eco sans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Spranq eco sans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Spranq eco sans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Spranq eco sans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Spranq eco sans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Spranq eco sans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0"/>
            <a:ext cx="4607280" cy="3455280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0" y="3456000"/>
                </a:moveTo>
                <a:lnTo>
                  <a:pt x="4608004" y="3456000"/>
                </a:lnTo>
                <a:lnTo>
                  <a:pt x="4608004" y="0"/>
                </a:lnTo>
                <a:lnTo>
                  <a:pt x="0" y="0"/>
                </a:lnTo>
                <a:lnTo>
                  <a:pt x="0" y="3456000"/>
                </a:lnTo>
                <a:close/>
              </a:path>
            </a:pathLst>
          </a:custGeom>
          <a:solidFill>
            <a:srgbClr val="F6F6F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CustomShape 2"/>
          <p:cNvSpPr/>
          <p:nvPr/>
        </p:nvSpPr>
        <p:spPr>
          <a:xfrm>
            <a:off x="92880" y="48600"/>
            <a:ext cx="4442400" cy="608760"/>
          </a:xfrm>
          <a:custGeom>
            <a:avLst/>
            <a:gdLst/>
            <a:ahLst/>
            <a:cxnLst/>
            <a:rect l="l" t="t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80">
            <a:solidFill>
              <a:srgbClr val="CC99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Line 3"/>
          <p:cNvSpPr/>
          <p:nvPr/>
        </p:nvSpPr>
        <p:spPr>
          <a:xfrm>
            <a:off x="457200" y="6172200"/>
            <a:ext cx="8229600" cy="1440"/>
          </a:xfrm>
          <a:prstGeom prst="line">
            <a:avLst/>
          </a:prstGeom>
          <a:ln w="19080">
            <a:solidFill>
              <a:srgbClr val="CC99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47" name="Object 4"/>
          <p:cNvGraphicFramePr/>
          <p:nvPr/>
        </p:nvGraphicFramePr>
        <p:xfrm>
          <a:off x="3888000" y="74520"/>
          <a:ext cx="647280" cy="32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r:id="rId15" imgW="0" imgH="0" progId="">
                  <p:embed/>
                </p:oleObj>
              </mc:Choice>
              <mc:Fallback>
                <p:oleObj r:id="rId15" imgW="0" imgH="0" progId="">
                  <p:embed/>
                  <p:pic>
                    <p:nvPicPr>
                      <p:cNvPr id="48" name="Object 8"/>
                      <p:cNvPicPr/>
                      <p:nvPr/>
                    </p:nvPicPr>
                    <p:blipFill>
                      <a:blip r:embed="rId16"/>
                      <a:stretch/>
                    </p:blipFill>
                    <p:spPr>
                      <a:xfrm>
                        <a:off x="3888000" y="74520"/>
                        <a:ext cx="647280" cy="32328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Line 5"/>
          <p:cNvSpPr/>
          <p:nvPr/>
        </p:nvSpPr>
        <p:spPr>
          <a:xfrm>
            <a:off x="72000" y="3312000"/>
            <a:ext cx="4464000" cy="360"/>
          </a:xfrm>
          <a:prstGeom prst="line">
            <a:avLst/>
          </a:prstGeom>
          <a:ln w="19080">
            <a:solidFill>
              <a:srgbClr val="CC99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" name="Line 6"/>
          <p:cNvSpPr/>
          <p:nvPr/>
        </p:nvSpPr>
        <p:spPr>
          <a:xfrm>
            <a:off x="72000" y="3312000"/>
            <a:ext cx="4464000" cy="360"/>
          </a:xfrm>
          <a:prstGeom prst="line">
            <a:avLst/>
          </a:prstGeom>
          <a:ln w="19080">
            <a:solidFill>
              <a:srgbClr val="CC99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" name="PlaceHolder 7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Spranq eco sans"/>
              </a:rPr>
              <a:t>Clique para editar o formato do texto do título</a:t>
            </a:r>
          </a:p>
        </p:txBody>
      </p:sp>
      <p:sp>
        <p:nvSpPr>
          <p:cNvPr id="52" name="PlaceHolder 8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Spranq eco sans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Spranq eco sans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Spranq eco sans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Spranq eco sans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Spranq eco sans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Spranq eco sans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Spranq eco sans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0" y="0"/>
            <a:ext cx="4607280" cy="3455280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0" y="3456000"/>
                </a:moveTo>
                <a:lnTo>
                  <a:pt x="4608004" y="3456000"/>
                </a:lnTo>
                <a:lnTo>
                  <a:pt x="4608004" y="0"/>
                </a:lnTo>
                <a:lnTo>
                  <a:pt x="0" y="0"/>
                </a:lnTo>
                <a:lnTo>
                  <a:pt x="0" y="3456000"/>
                </a:lnTo>
                <a:close/>
              </a:path>
            </a:pathLst>
          </a:custGeom>
          <a:solidFill>
            <a:srgbClr val="F6F6F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" name="CustomShape 2"/>
          <p:cNvSpPr/>
          <p:nvPr/>
        </p:nvSpPr>
        <p:spPr>
          <a:xfrm>
            <a:off x="93240" y="48600"/>
            <a:ext cx="4442400" cy="608760"/>
          </a:xfrm>
          <a:custGeom>
            <a:avLst/>
            <a:gdLst/>
            <a:ahLst/>
            <a:cxnLst/>
            <a:rect l="l" t="t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80">
            <a:solidFill>
              <a:srgbClr val="CC99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" name="Line 3"/>
          <p:cNvSpPr/>
          <p:nvPr/>
        </p:nvSpPr>
        <p:spPr>
          <a:xfrm>
            <a:off x="72000" y="3312000"/>
            <a:ext cx="4464000" cy="360"/>
          </a:xfrm>
          <a:prstGeom prst="line">
            <a:avLst/>
          </a:prstGeom>
          <a:ln w="19080">
            <a:solidFill>
              <a:srgbClr val="CC99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92" name="Object 4"/>
          <p:cNvGraphicFramePr/>
          <p:nvPr/>
        </p:nvGraphicFramePr>
        <p:xfrm>
          <a:off x="3888000" y="74520"/>
          <a:ext cx="647280" cy="32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r:id="rId15" imgW="0" imgH="0" progId="">
                  <p:embed/>
                </p:oleObj>
              </mc:Choice>
              <mc:Fallback>
                <p:oleObj r:id="rId15" imgW="0" imgH="0" progId="">
                  <p:embed/>
                  <p:pic>
                    <p:nvPicPr>
                      <p:cNvPr id="93" name="Object 8"/>
                      <p:cNvPicPr/>
                      <p:nvPr/>
                    </p:nvPicPr>
                    <p:blipFill>
                      <a:blip r:embed="rId16"/>
                      <a:stretch/>
                    </p:blipFill>
                    <p:spPr>
                      <a:xfrm>
                        <a:off x="3888000" y="74520"/>
                        <a:ext cx="647280" cy="32328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PlaceHolder 5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Spranq eco sans"/>
              </a:rPr>
              <a:t>Clique para editar o formato do texto do título</a:t>
            </a:r>
          </a:p>
        </p:txBody>
      </p:sp>
      <p:sp>
        <p:nvSpPr>
          <p:cNvPr id="95" name="PlaceHolder 6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Spranq eco sans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Spranq eco sans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Spranq eco sans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Spranq eco sans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Spranq eco sans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Spranq eco sans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Spranq eco sans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0" y="0"/>
            <a:ext cx="4607280" cy="3455280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0" y="3456000"/>
                </a:moveTo>
                <a:lnTo>
                  <a:pt x="4608004" y="3456000"/>
                </a:lnTo>
                <a:lnTo>
                  <a:pt x="4608004" y="0"/>
                </a:lnTo>
                <a:lnTo>
                  <a:pt x="0" y="0"/>
                </a:lnTo>
                <a:lnTo>
                  <a:pt x="0" y="3456000"/>
                </a:lnTo>
                <a:close/>
              </a:path>
            </a:pathLst>
          </a:custGeom>
          <a:solidFill>
            <a:srgbClr val="F6F6F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3" name="CustomShape 2"/>
          <p:cNvSpPr/>
          <p:nvPr/>
        </p:nvSpPr>
        <p:spPr>
          <a:xfrm>
            <a:off x="93240" y="48600"/>
            <a:ext cx="4442400" cy="608760"/>
          </a:xfrm>
          <a:custGeom>
            <a:avLst/>
            <a:gdLst/>
            <a:ahLst/>
            <a:cxnLst/>
            <a:rect l="l" t="t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80">
            <a:solidFill>
              <a:srgbClr val="CC99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4" name="Line 3"/>
          <p:cNvSpPr/>
          <p:nvPr/>
        </p:nvSpPr>
        <p:spPr>
          <a:xfrm>
            <a:off x="72000" y="3312000"/>
            <a:ext cx="4464000" cy="360"/>
          </a:xfrm>
          <a:prstGeom prst="line">
            <a:avLst/>
          </a:prstGeom>
          <a:ln w="19080">
            <a:solidFill>
              <a:srgbClr val="CC99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35" name="Object 4"/>
          <p:cNvGraphicFramePr/>
          <p:nvPr/>
        </p:nvGraphicFramePr>
        <p:xfrm>
          <a:off x="3888000" y="74520"/>
          <a:ext cx="647280" cy="32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r:id="rId15" imgW="0" imgH="0" progId="">
                  <p:embed/>
                </p:oleObj>
              </mc:Choice>
              <mc:Fallback>
                <p:oleObj r:id="rId15" imgW="0" imgH="0" progId="">
                  <p:embed/>
                  <p:pic>
                    <p:nvPicPr>
                      <p:cNvPr id="136" name="Object 8"/>
                      <p:cNvPicPr/>
                      <p:nvPr/>
                    </p:nvPicPr>
                    <p:blipFill>
                      <a:blip r:embed="rId16"/>
                      <a:stretch/>
                    </p:blipFill>
                    <p:spPr>
                      <a:xfrm>
                        <a:off x="3888000" y="74520"/>
                        <a:ext cx="647280" cy="32328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" name="PlaceHolder 5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Spranq eco sans"/>
              </a:rPr>
              <a:t>Clique para editar o formato do texto do título</a:t>
            </a:r>
          </a:p>
        </p:txBody>
      </p:sp>
      <p:sp>
        <p:nvSpPr>
          <p:cNvPr id="138" name="PlaceHolder 6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Spranq eco sans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Spranq eco sans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Spranq eco sans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Spranq eco sans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Spranq eco sans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Spranq eco sans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Spranq eco sans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3303720" y="3150360"/>
            <a:ext cx="107316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/>
          <a:lstStyle/>
          <a:p>
            <a:pPr algn="r">
              <a:lnSpc>
                <a:spcPct val="100000"/>
              </a:lnSpc>
            </a:pPr>
            <a:fld id="{2C6AF4A6-189E-41FF-A55C-BADE004D0C44}" type="slidenum">
              <a:rPr lang="pt-BR" sz="1200" b="0" strike="noStrike" spc="-1">
                <a:solidFill>
                  <a:srgbClr val="000000"/>
                </a:solidFill>
                <a:latin typeface="Garamond"/>
                <a:ea typeface="DejaVu Sans"/>
              </a:rPr>
              <a:t>1</a:t>
            </a:fld>
            <a:endParaRPr lang="pt-BR" sz="1200" b="0" strike="noStrike" spc="-1">
              <a:latin typeface="Spranq eco sans"/>
            </a:endParaRPr>
          </a:p>
        </p:txBody>
      </p:sp>
      <p:sp>
        <p:nvSpPr>
          <p:cNvPr id="182" name="CustomShape 2"/>
          <p:cNvSpPr/>
          <p:nvPr/>
        </p:nvSpPr>
        <p:spPr>
          <a:xfrm>
            <a:off x="900000" y="1592640"/>
            <a:ext cx="3563280" cy="81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2200" b="1" strike="noStrike" spc="-1">
                <a:solidFill>
                  <a:srgbClr val="0E0363"/>
                </a:solidFill>
                <a:latin typeface="Garamond"/>
                <a:ea typeface="DejaVu Sans"/>
              </a:rPr>
              <a:t>Lista de Prioridades (heap)</a:t>
            </a:r>
            <a:endParaRPr lang="pt-BR" sz="22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2500" b="1" strike="noStrike" spc="-1">
                <a:solidFill>
                  <a:srgbClr val="0E0363"/>
                </a:solidFill>
                <a:latin typeface="Garamond"/>
                <a:ea typeface="DejaVu Sans"/>
              </a:rPr>
              <a:t> </a:t>
            </a:r>
            <a:endParaRPr lang="pt-BR" sz="2500" b="0" strike="noStrike" spc="-1">
              <a:latin typeface="Spranq eco sans"/>
            </a:endParaRPr>
          </a:p>
        </p:txBody>
      </p:sp>
      <p:sp>
        <p:nvSpPr>
          <p:cNvPr id="183" name="CustomShape 3"/>
          <p:cNvSpPr/>
          <p:nvPr/>
        </p:nvSpPr>
        <p:spPr>
          <a:xfrm>
            <a:off x="691200" y="2268360"/>
            <a:ext cx="3226320" cy="729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  <a:spcBef>
                <a:spcPts val="697"/>
              </a:spcBef>
            </a:pPr>
            <a:r>
              <a:rPr lang="pt-BR" sz="130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Estrutura de Dados 2</a:t>
            </a:r>
            <a:endParaRPr lang="pt-BR" sz="1300" b="0" strike="noStrike" spc="-1">
              <a:latin typeface="Spranq eco sans"/>
            </a:endParaRPr>
          </a:p>
          <a:p>
            <a:pPr algn="r">
              <a:lnSpc>
                <a:spcPct val="100000"/>
              </a:lnSpc>
              <a:spcBef>
                <a:spcPts val="697"/>
              </a:spcBef>
            </a:pPr>
            <a:r>
              <a:rPr lang="pt-BR" sz="130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Professor: </a:t>
            </a:r>
            <a:r>
              <a:rPr lang="pt-BR" sz="13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André Lucio</a:t>
            </a:r>
            <a:endParaRPr lang="pt-BR" sz="1300" b="0" strike="noStrike" spc="-1">
              <a:latin typeface="Spranq eco sans"/>
            </a:endParaRPr>
          </a:p>
        </p:txBody>
      </p:sp>
      <p:sp>
        <p:nvSpPr>
          <p:cNvPr id="184" name="Line 4"/>
          <p:cNvSpPr/>
          <p:nvPr/>
        </p:nvSpPr>
        <p:spPr>
          <a:xfrm>
            <a:off x="1008000" y="2016000"/>
            <a:ext cx="3312000" cy="360"/>
          </a:xfrm>
          <a:prstGeom prst="line">
            <a:avLst/>
          </a:prstGeom>
          <a:ln w="19080">
            <a:solidFill>
              <a:srgbClr val="CC99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95400" y="59040"/>
            <a:ext cx="145116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-7">
                <a:solidFill>
                  <a:srgbClr val="990100"/>
                </a:solidFill>
                <a:latin typeface="Trebuchet MS"/>
                <a:ea typeface="DejaVu Sans"/>
              </a:rPr>
              <a:t>Fila </a:t>
            </a:r>
            <a:r>
              <a:rPr lang="pt-BR" sz="1400" b="0" strike="noStrike" spc="26">
                <a:solidFill>
                  <a:srgbClr val="990100"/>
                </a:solidFill>
                <a:latin typeface="Trebuchet MS"/>
                <a:ea typeface="DejaVu Sans"/>
              </a:rPr>
              <a:t>de</a:t>
            </a:r>
            <a:r>
              <a:rPr lang="pt-BR" sz="1400" b="0" strike="noStrike" spc="-83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-1">
                <a:solidFill>
                  <a:srgbClr val="990100"/>
                </a:solidFill>
                <a:latin typeface="Trebuchet MS"/>
                <a:ea typeface="DejaVu Sans"/>
              </a:rPr>
              <a:t>Prioridade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2315160" y="3300120"/>
            <a:ext cx="78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2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187" name="CustomShape 3"/>
          <p:cNvSpPr/>
          <p:nvPr/>
        </p:nvSpPr>
        <p:spPr>
          <a:xfrm>
            <a:off x="383400" y="531360"/>
            <a:ext cx="3902400" cy="280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40" rIns="0" bIns="0"/>
          <a:lstStyle/>
          <a:p>
            <a:pPr marL="216000" indent="-216000">
              <a:lnSpc>
                <a:spcPct val="100000"/>
              </a:lnSpc>
              <a:spcBef>
                <a:spcPts val="394"/>
              </a:spcBef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Uma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24">
                <a:solidFill>
                  <a:srgbClr val="B90504"/>
                </a:solidFill>
                <a:latin typeface="Trebuchet MS"/>
                <a:ea typeface="DejaVu Sans"/>
              </a:rPr>
              <a:t>ﬁla</a:t>
            </a:r>
            <a:r>
              <a:rPr lang="pt-BR" sz="1000" b="0" strike="noStrike" spc="-7">
                <a:solidFill>
                  <a:srgbClr val="B90504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6">
                <a:solidFill>
                  <a:srgbClr val="B90504"/>
                </a:solidFill>
                <a:latin typeface="Trebuchet MS"/>
                <a:ea typeface="DejaVu Sans"/>
              </a:rPr>
              <a:t>de</a:t>
            </a:r>
            <a:r>
              <a:rPr lang="pt-BR" sz="1000" b="0" strike="noStrike" spc="-7">
                <a:solidFill>
                  <a:srgbClr val="B90504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7">
                <a:solidFill>
                  <a:srgbClr val="B90504"/>
                </a:solidFill>
                <a:latin typeface="Trebuchet MS"/>
                <a:ea typeface="DejaVu Sans"/>
              </a:rPr>
              <a:t>prioridades</a:t>
            </a:r>
            <a:r>
              <a:rPr lang="pt-BR" sz="1000" b="0" strike="noStrike" spc="-7">
                <a:solidFill>
                  <a:srgbClr val="B90504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uma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estrutura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de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58">
                <a:solidFill>
                  <a:srgbClr val="333333"/>
                </a:solidFill>
                <a:latin typeface="Trebuchet MS"/>
                <a:ea typeface="DejaVu Sans"/>
              </a:rPr>
              <a:t>dados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com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duas  </a:t>
            </a:r>
            <a:r>
              <a:rPr lang="pt-BR" sz="100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operações</a:t>
            </a:r>
            <a:r>
              <a:rPr lang="pt-BR" sz="100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básicas:</a:t>
            </a:r>
            <a:endParaRPr lang="pt-BR" sz="1000" b="0" strike="noStrike" spc="-1">
              <a:latin typeface="Spranq eco sans"/>
            </a:endParaRPr>
          </a:p>
          <a:p>
            <a:pPr marL="432000" lvl="1" indent="-216000">
              <a:lnSpc>
                <a:spcPct val="100000"/>
              </a:lnSpc>
              <a:spcBef>
                <a:spcPts val="394"/>
              </a:spcBef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Inserir </a:t>
            </a:r>
            <a:r>
              <a:rPr lang="pt-BR" sz="100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um </a:t>
            </a:r>
            <a:r>
              <a:rPr lang="pt-BR" sz="100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novo</a:t>
            </a:r>
            <a:r>
              <a:rPr lang="pt-BR" sz="1000" b="0" strike="noStrike" spc="-7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elemento</a:t>
            </a:r>
            <a:endParaRPr lang="pt-BR" sz="1000" b="0" strike="noStrike" spc="-1">
              <a:latin typeface="Spranq eco sans"/>
            </a:endParaRPr>
          </a:p>
          <a:p>
            <a:pPr marL="12600" lvl="1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pt-BR" sz="100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Remover </a:t>
            </a: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elemento </a:t>
            </a:r>
            <a:r>
              <a:rPr lang="pt-BR" sz="100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com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maior</a:t>
            </a:r>
            <a:r>
              <a:rPr lang="pt-BR" sz="1000" b="0" strike="noStrike" spc="-208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i="1" strike="noStrike" spc="4">
                <a:solidFill>
                  <a:srgbClr val="333333"/>
                </a:solidFill>
                <a:latin typeface="Arial"/>
                <a:ea typeface="DejaVu Sans"/>
              </a:rPr>
              <a:t>chave 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(prioridade)</a:t>
            </a:r>
            <a:endParaRPr lang="pt-BR" sz="1000" b="0" strike="noStrike" spc="-1">
              <a:latin typeface="Spranq eco sans"/>
            </a:endParaRPr>
          </a:p>
          <a:p>
            <a:pPr marL="126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Uma </a:t>
            </a:r>
            <a:r>
              <a:rPr lang="pt-BR" sz="1000" b="0" strike="noStrike" spc="-1">
                <a:solidFill>
                  <a:srgbClr val="B90504"/>
                </a:solidFill>
                <a:latin typeface="Trebuchet MS"/>
                <a:ea typeface="DejaVu Sans"/>
              </a:rPr>
              <a:t>pilha </a:t>
            </a:r>
            <a:r>
              <a:rPr lang="pt-BR" sz="100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 </a:t>
            </a: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como </a:t>
            </a:r>
            <a:r>
              <a:rPr lang="pt-BR" sz="100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uma </a:t>
            </a:r>
            <a:r>
              <a:rPr lang="pt-BR" sz="1000" b="0" strike="noStrike" spc="-24">
                <a:solidFill>
                  <a:srgbClr val="333333"/>
                </a:solidFill>
                <a:latin typeface="Trebuchet MS"/>
                <a:ea typeface="DejaVu Sans"/>
              </a:rPr>
              <a:t>ﬁla </a:t>
            </a:r>
            <a:r>
              <a:rPr lang="pt-BR" sz="100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de</a:t>
            </a:r>
            <a:r>
              <a:rPr lang="pt-BR" sz="1000" b="0" strike="noStrike" spc="-216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prioridades:</a:t>
            </a:r>
            <a:endParaRPr lang="pt-BR" sz="1000" b="0" strike="noStrike" spc="-1">
              <a:latin typeface="Spranq eco sans"/>
            </a:endParaRPr>
          </a:p>
          <a:p>
            <a:pPr marL="432000" lvl="1" indent="-216000">
              <a:lnSpc>
                <a:spcPct val="100000"/>
              </a:lnSpc>
              <a:spcBef>
                <a:spcPts val="391"/>
              </a:spcBef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elemento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com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maior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chave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sempre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último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inserido</a:t>
            </a:r>
            <a:endParaRPr lang="pt-BR" sz="1000" b="0" strike="noStrike" spc="-1">
              <a:latin typeface="Spranq eco sans"/>
            </a:endParaRPr>
          </a:p>
          <a:p>
            <a:pPr marL="12600">
              <a:lnSpc>
                <a:spcPct val="100000"/>
              </a:lnSpc>
              <a:spcBef>
                <a:spcPts val="1590"/>
              </a:spcBef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Uma </a:t>
            </a:r>
            <a:r>
              <a:rPr lang="pt-BR" sz="1000" b="0" strike="noStrike" spc="-24">
                <a:solidFill>
                  <a:srgbClr val="B90504"/>
                </a:solidFill>
                <a:latin typeface="Trebuchet MS"/>
                <a:ea typeface="DejaVu Sans"/>
              </a:rPr>
              <a:t>ﬁla </a:t>
            </a:r>
            <a:r>
              <a:rPr lang="pt-BR" sz="100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 </a:t>
            </a: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como </a:t>
            </a:r>
            <a:r>
              <a:rPr lang="pt-BR" sz="100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uma </a:t>
            </a:r>
            <a:r>
              <a:rPr lang="pt-BR" sz="1000" b="0" strike="noStrike" spc="-24">
                <a:solidFill>
                  <a:srgbClr val="333333"/>
                </a:solidFill>
                <a:latin typeface="Trebuchet MS"/>
                <a:ea typeface="DejaVu Sans"/>
              </a:rPr>
              <a:t>ﬁla </a:t>
            </a:r>
            <a:r>
              <a:rPr lang="pt-BR" sz="100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de</a:t>
            </a:r>
            <a:r>
              <a:rPr lang="pt-BR" sz="1000" b="0" strike="noStrike" spc="-19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prioridades quando:</a:t>
            </a:r>
            <a:endParaRPr lang="pt-BR" sz="1000" b="0" strike="noStrike" spc="-1">
              <a:latin typeface="Spranq eco sans"/>
            </a:endParaRPr>
          </a:p>
          <a:p>
            <a:pPr marL="432000" lvl="1" indent="-216000">
              <a:lnSpc>
                <a:spcPct val="100000"/>
              </a:lnSpc>
              <a:spcBef>
                <a:spcPts val="394"/>
              </a:spcBef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elemento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com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maior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chave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sempre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primeiro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inserido</a:t>
            </a:r>
            <a:endParaRPr lang="pt-BR" sz="1000" b="0" strike="noStrike" spc="-1">
              <a:latin typeface="Spranq eco sans"/>
            </a:endParaRPr>
          </a:p>
          <a:p>
            <a:pPr marL="12600">
              <a:lnSpc>
                <a:spcPct val="100000"/>
              </a:lnSpc>
              <a:spcBef>
                <a:spcPts val="1590"/>
              </a:spcBef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Primeira implementação: </a:t>
            </a:r>
            <a:r>
              <a:rPr lang="pt-BR" sz="100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armazenar </a:t>
            </a:r>
            <a:r>
              <a:rPr lang="pt-BR" sz="100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elementos </a:t>
            </a:r>
            <a:r>
              <a:rPr lang="pt-BR" sz="100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em </a:t>
            </a:r>
            <a:r>
              <a:rPr lang="pt-BR" sz="100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um</a:t>
            </a:r>
            <a:r>
              <a:rPr lang="pt-BR" sz="100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vetor.</a:t>
            </a:r>
            <a:endParaRPr lang="pt-BR" sz="1000" b="0" strike="noStrike" spc="-1">
              <a:latin typeface="Spranq eco sans"/>
            </a:endParaRPr>
          </a:p>
          <a:p>
            <a:pPr marL="216000" indent="-216000">
              <a:lnSpc>
                <a:spcPct val="100000"/>
              </a:lnSpc>
              <a:spcBef>
                <a:spcPts val="394"/>
              </a:spcBef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pt-BR" sz="1000" b="0" strike="noStrike" spc="106">
                <a:solidFill>
                  <a:srgbClr val="333333"/>
                </a:solidFill>
                <a:latin typeface="Trebuchet MS"/>
                <a:ea typeface="DejaVu Sans"/>
              </a:rPr>
              <a:t>Mas</a:t>
            </a:r>
            <a:r>
              <a:rPr lang="pt-BR" sz="1000" b="0" strike="noStrike" spc="-15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veremos </a:t>
            </a:r>
            <a:r>
              <a:rPr lang="pt-BR" sz="100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uma </a:t>
            </a:r>
            <a:r>
              <a:rPr lang="pt-BR" sz="100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implementação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muito melhor</a:t>
            </a:r>
            <a:endParaRPr lang="pt-BR" sz="10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239400" y="58320"/>
            <a:ext cx="1991880" cy="315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7280" rIns="0" bIns="0"/>
          <a:lstStyle/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lang="pt-BR" sz="1400" b="0" strike="noStrike" spc="92">
                <a:solidFill>
                  <a:srgbClr val="990100"/>
                </a:solidFill>
                <a:latin typeface="Trebuchet MS"/>
                <a:ea typeface="DejaVu Sans"/>
              </a:rPr>
              <a:t>A </a:t>
            </a:r>
            <a:r>
              <a:rPr lang="pt-BR" sz="1400" b="0" strike="noStrike" spc="12">
                <a:solidFill>
                  <a:srgbClr val="990100"/>
                </a:solidFill>
                <a:latin typeface="Trebuchet MS"/>
                <a:ea typeface="DejaVu Sans"/>
              </a:rPr>
              <a:t>função</a:t>
            </a:r>
            <a:r>
              <a:rPr lang="pt-BR" sz="1400" b="0" strike="noStrike" spc="-194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-97">
                <a:solidFill>
                  <a:srgbClr val="990100"/>
                </a:solidFill>
                <a:latin typeface="Courier New"/>
                <a:ea typeface="DejaVu Sans"/>
              </a:rPr>
              <a:t>troca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189" name="CustomShape 2"/>
          <p:cNvSpPr/>
          <p:nvPr/>
        </p:nvSpPr>
        <p:spPr>
          <a:xfrm>
            <a:off x="2315160" y="3300120"/>
            <a:ext cx="78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3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190" name="CustomShape 3"/>
          <p:cNvSpPr/>
          <p:nvPr/>
        </p:nvSpPr>
        <p:spPr>
          <a:xfrm>
            <a:off x="241920" y="374400"/>
            <a:ext cx="4017960" cy="279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7280" rIns="0" bIns="0"/>
          <a:lstStyle/>
          <a:p>
            <a:pPr marL="118080">
              <a:lnSpc>
                <a:spcPct val="100000"/>
              </a:lnSpc>
              <a:spcBef>
                <a:spcPts val="136"/>
              </a:spcBef>
            </a:pP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Várias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vezes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iremos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trocar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dois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elementos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de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posição.</a:t>
            </a:r>
            <a:endParaRPr lang="pt-BR" sz="1050" b="0" strike="noStrike" spc="-1">
              <a:latin typeface="Spranq eco sans"/>
            </a:endParaRPr>
          </a:p>
          <a:p>
            <a:pPr marL="118080">
              <a:lnSpc>
                <a:spcPct val="100000"/>
              </a:lnSpc>
            </a:pP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Para 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tanto, </a:t>
            </a:r>
            <a:r>
              <a:rPr lang="pt-BR" sz="105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vamos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usar a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seguinte</a:t>
            </a:r>
            <a:r>
              <a:rPr lang="pt-BR" sz="1050" b="0" strike="noStrike" spc="-20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função:</a:t>
            </a:r>
            <a:endParaRPr lang="pt-BR" sz="1050" b="0" strike="noStrike" spc="-1">
              <a:latin typeface="Spranq eco sans"/>
            </a:endParaRPr>
          </a:p>
          <a:p>
            <a:pPr marL="118080">
              <a:lnSpc>
                <a:spcPct val="100000"/>
              </a:lnSpc>
              <a:spcBef>
                <a:spcPts val="40"/>
              </a:spcBef>
            </a:pPr>
            <a:endParaRPr lang="pt-BR" sz="1050" b="0" strike="noStrike" spc="-1">
              <a:latin typeface="Spranq eco sans"/>
            </a:endParaRPr>
          </a:p>
          <a:p>
            <a:pPr marL="12600">
              <a:lnSpc>
                <a:spcPts val="955"/>
              </a:lnSpc>
            </a:pPr>
            <a:r>
              <a:rPr lang="pt-BR" sz="1100" b="0" strike="noStrike" spc="-24">
                <a:solidFill>
                  <a:srgbClr val="B90504"/>
                </a:solidFill>
                <a:latin typeface="Courier New"/>
                <a:ea typeface="DejaVu Sans"/>
              </a:rPr>
              <a:t>	void </a:t>
            </a:r>
            <a:r>
              <a:rPr lang="pt-BR" sz="1100" b="0" strike="noStrike" spc="-18">
                <a:solidFill>
                  <a:srgbClr val="333333"/>
                </a:solidFill>
                <a:latin typeface="Courier New"/>
                <a:ea typeface="DejaVu Sans"/>
              </a:rPr>
              <a:t>troca </a:t>
            </a:r>
            <a:r>
              <a:rPr lang="pt-BR" sz="11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( </a:t>
            </a:r>
            <a:r>
              <a:rPr lang="pt-BR" sz="1100" b="0" strike="noStrike" spc="-26">
                <a:solidFill>
                  <a:srgbClr val="B90504"/>
                </a:solidFill>
                <a:latin typeface="Courier New"/>
                <a:ea typeface="DejaVu Sans"/>
              </a:rPr>
              <a:t>int </a:t>
            </a:r>
            <a:r>
              <a:rPr lang="pt-BR" sz="1100" b="0" strike="noStrike" spc="-18">
                <a:solidFill>
                  <a:srgbClr val="333333"/>
                </a:solidFill>
                <a:latin typeface="Courier New"/>
                <a:ea typeface="DejaVu Sans"/>
              </a:rPr>
              <a:t>*a, </a:t>
            </a:r>
            <a:r>
              <a:rPr lang="pt-BR" sz="1100" b="0" strike="noStrike" spc="-26">
                <a:solidFill>
                  <a:srgbClr val="B90504"/>
                </a:solidFill>
                <a:latin typeface="Courier New"/>
                <a:ea typeface="DejaVu Sans"/>
              </a:rPr>
              <a:t>int </a:t>
            </a:r>
            <a:r>
              <a:rPr lang="pt-BR" sz="1100" b="0" strike="noStrike" spc="-18">
                <a:solidFill>
                  <a:srgbClr val="333333"/>
                </a:solidFill>
                <a:latin typeface="Courier New"/>
                <a:ea typeface="DejaVu Sans"/>
              </a:rPr>
              <a:t>*b)</a:t>
            </a:r>
            <a:r>
              <a:rPr lang="pt-BR" sz="1100" b="0" strike="noStrike" spc="-131">
                <a:solidFill>
                  <a:srgbClr val="333333"/>
                </a:solidFill>
                <a:latin typeface="Courier New"/>
                <a:ea typeface="DejaVu Sans"/>
              </a:rPr>
              <a:t> </a:t>
            </a:r>
            <a:r>
              <a:rPr lang="pt-BR" sz="11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{</a:t>
            </a:r>
            <a:endParaRPr lang="pt-BR" sz="1100" b="0" strike="noStrike" spc="-1">
              <a:latin typeface="Spranq eco sans"/>
            </a:endParaRPr>
          </a:p>
          <a:p>
            <a:pPr marL="12600">
              <a:lnSpc>
                <a:spcPts val="944"/>
              </a:lnSpc>
            </a:pPr>
            <a:r>
              <a:rPr lang="pt-BR" sz="110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			</a:t>
            </a:r>
            <a:r>
              <a:rPr lang="pt-BR" sz="1100" b="0" strike="noStrike" spc="-26">
                <a:solidFill>
                  <a:srgbClr val="B90504"/>
                </a:solidFill>
                <a:latin typeface="Courier New"/>
                <a:ea typeface="DejaVu Sans"/>
              </a:rPr>
              <a:t>int </a:t>
            </a:r>
            <a:r>
              <a:rPr lang="pt-BR" sz="11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t =</a:t>
            </a:r>
            <a:r>
              <a:rPr lang="pt-BR" sz="1100" b="0" strike="noStrike" spc="248">
                <a:solidFill>
                  <a:srgbClr val="333333"/>
                </a:solidFill>
                <a:latin typeface="Courier New"/>
                <a:ea typeface="DejaVu Sans"/>
              </a:rPr>
              <a:t> </a:t>
            </a:r>
            <a:r>
              <a:rPr lang="pt-BR" sz="1100" b="0" strike="noStrike" spc="-18">
                <a:solidFill>
                  <a:srgbClr val="333333"/>
                </a:solidFill>
                <a:latin typeface="Courier New"/>
                <a:ea typeface="DejaVu Sans"/>
              </a:rPr>
              <a:t>*a;</a:t>
            </a:r>
            <a:endParaRPr lang="pt-BR" sz="1100" b="0" strike="noStrike" spc="-1">
              <a:latin typeface="Spranq eco sans"/>
            </a:endParaRPr>
          </a:p>
          <a:p>
            <a:pPr marL="12600">
              <a:lnSpc>
                <a:spcPts val="944"/>
              </a:lnSpc>
            </a:pPr>
            <a:r>
              <a:rPr lang="pt-BR" sz="110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			</a:t>
            </a:r>
            <a:r>
              <a:rPr lang="pt-BR" sz="1100" b="0" strike="noStrike" spc="-26">
                <a:solidFill>
                  <a:srgbClr val="333333"/>
                </a:solidFill>
                <a:latin typeface="Courier New"/>
                <a:ea typeface="DejaVu Sans"/>
              </a:rPr>
              <a:t>*a </a:t>
            </a:r>
            <a:r>
              <a:rPr lang="pt-BR" sz="11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=</a:t>
            </a:r>
            <a:r>
              <a:rPr lang="pt-BR" sz="1100" b="0" strike="noStrike" spc="123">
                <a:solidFill>
                  <a:srgbClr val="333333"/>
                </a:solidFill>
                <a:latin typeface="Courier New"/>
                <a:ea typeface="DejaVu Sans"/>
              </a:rPr>
              <a:t> </a:t>
            </a:r>
            <a:r>
              <a:rPr lang="pt-BR" sz="1100" b="0" strike="noStrike" spc="-18">
                <a:solidFill>
                  <a:srgbClr val="333333"/>
                </a:solidFill>
                <a:latin typeface="Courier New"/>
                <a:ea typeface="DejaVu Sans"/>
              </a:rPr>
              <a:t>*b;</a:t>
            </a:r>
            <a:endParaRPr lang="pt-BR" sz="1100" b="0" strike="noStrike" spc="-1">
              <a:latin typeface="Spranq eco sans"/>
            </a:endParaRPr>
          </a:p>
          <a:p>
            <a:pPr marL="12600">
              <a:lnSpc>
                <a:spcPts val="944"/>
              </a:lnSpc>
            </a:pPr>
            <a:r>
              <a:rPr lang="pt-BR" sz="110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			</a:t>
            </a:r>
            <a:r>
              <a:rPr lang="pt-BR" sz="1100" b="0" strike="noStrike" spc="-26">
                <a:solidFill>
                  <a:srgbClr val="333333"/>
                </a:solidFill>
                <a:latin typeface="Courier New"/>
                <a:ea typeface="DejaVu Sans"/>
              </a:rPr>
              <a:t>*b </a:t>
            </a:r>
            <a:r>
              <a:rPr lang="pt-BR" sz="11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=</a:t>
            </a:r>
            <a:r>
              <a:rPr lang="pt-BR" sz="1100" b="0" strike="noStrike" spc="123">
                <a:solidFill>
                  <a:srgbClr val="333333"/>
                </a:solidFill>
                <a:latin typeface="Courier New"/>
                <a:ea typeface="DejaVu Sans"/>
              </a:rPr>
              <a:t> </a:t>
            </a:r>
            <a:r>
              <a:rPr lang="pt-BR" sz="1100" b="0" strike="noStrike" spc="-24">
                <a:solidFill>
                  <a:srgbClr val="333333"/>
                </a:solidFill>
                <a:latin typeface="Courier New"/>
                <a:ea typeface="DejaVu Sans"/>
              </a:rPr>
              <a:t>t;</a:t>
            </a:r>
            <a:endParaRPr lang="pt-BR" sz="1100" b="0" strike="noStrike" spc="-1">
              <a:latin typeface="Spranq eco sans"/>
            </a:endParaRPr>
          </a:p>
          <a:p>
            <a:pPr marL="12600">
              <a:lnSpc>
                <a:spcPts val="955"/>
              </a:lnSpc>
            </a:pPr>
            <a:r>
              <a:rPr lang="pt-BR" sz="11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		}</a:t>
            </a:r>
            <a:endParaRPr lang="pt-BR" sz="1100" b="0" strike="noStrike" spc="-1">
              <a:latin typeface="Spranq eco sans"/>
            </a:endParaRPr>
          </a:p>
          <a:p>
            <a:pPr marL="12600">
              <a:lnSpc>
                <a:spcPct val="100000"/>
              </a:lnSpc>
            </a:pPr>
            <a:endParaRPr lang="pt-BR" sz="1100" b="0" strike="noStrike" spc="-1">
              <a:latin typeface="Spranq eco sans"/>
            </a:endParaRPr>
          </a:p>
          <a:p>
            <a:pPr marL="118080">
              <a:lnSpc>
                <a:spcPct val="100000"/>
              </a:lnSpc>
              <a:spcBef>
                <a:spcPts val="740"/>
              </a:spcBef>
            </a:pPr>
            <a:r>
              <a:rPr lang="pt-BR" sz="1050" b="0" strike="noStrike" spc="63">
                <a:solidFill>
                  <a:srgbClr val="333333"/>
                </a:solidFill>
                <a:latin typeface="Trebuchet MS"/>
                <a:ea typeface="DejaVu Sans"/>
              </a:rPr>
              <a:t>Ou</a:t>
            </a:r>
            <a:r>
              <a:rPr lang="pt-BR" sz="1050" b="0" strike="noStrike" spc="-3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seja,</a:t>
            </a:r>
            <a:r>
              <a:rPr lang="pt-BR" sz="1050" b="0" strike="noStrike" spc="-26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1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troca(&amp;v[i],</a:t>
            </a:r>
            <a:r>
              <a:rPr lang="pt-BR" sz="1100" b="0" strike="noStrike" spc="-77">
                <a:solidFill>
                  <a:srgbClr val="B90504"/>
                </a:solidFill>
                <a:latin typeface="Courier New"/>
                <a:ea typeface="DejaVu Sans"/>
              </a:rPr>
              <a:t> </a:t>
            </a:r>
            <a:r>
              <a:rPr lang="pt-BR" sz="11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&amp;v[j])</a:t>
            </a:r>
            <a:r>
              <a:rPr lang="pt-BR" sz="1100" b="0" strike="noStrike" spc="-372">
                <a:solidFill>
                  <a:srgbClr val="B90504"/>
                </a:solidFill>
                <a:latin typeface="Courier New"/>
                <a:ea typeface="DejaVu Sans"/>
              </a:rPr>
              <a:t>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troca</a:t>
            </a:r>
            <a:r>
              <a:rPr lang="pt-BR" sz="1050" b="0" strike="noStrike" spc="-3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77">
                <a:solidFill>
                  <a:srgbClr val="333333"/>
                </a:solidFill>
                <a:latin typeface="Trebuchet MS"/>
                <a:ea typeface="DejaVu Sans"/>
              </a:rPr>
              <a:t>os</a:t>
            </a:r>
            <a:r>
              <a:rPr lang="pt-BR" sz="1050" b="0" strike="noStrike" spc="-3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valores</a:t>
            </a:r>
            <a:r>
              <a:rPr lang="pt-BR" sz="1050" b="0" strike="noStrike" spc="-26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de</a:t>
            </a:r>
            <a:r>
              <a:rPr lang="pt-BR" sz="1050" b="0" strike="noStrike" spc="-3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1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v[i]</a:t>
            </a:r>
            <a:r>
              <a:rPr lang="pt-BR" sz="1100" b="0" strike="noStrike" spc="-372">
                <a:solidFill>
                  <a:srgbClr val="B90504"/>
                </a:solidFill>
                <a:latin typeface="Courier New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e</a:t>
            </a:r>
            <a:r>
              <a:rPr lang="pt-BR" sz="1050" b="0" strike="noStrike" spc="-3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1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v[j]</a:t>
            </a:r>
            <a:endParaRPr lang="pt-BR" sz="1100" b="0" strike="noStrike" spc="-1">
              <a:latin typeface="Spranq eco sans"/>
            </a:endParaRPr>
          </a:p>
          <a:p>
            <a:pPr marL="118080">
              <a:lnSpc>
                <a:spcPct val="100000"/>
              </a:lnSpc>
            </a:pPr>
            <a:endParaRPr lang="pt-BR" sz="1100" b="0" strike="noStrike" spc="-1">
              <a:latin typeface="Spranq eco sans"/>
            </a:endParaRPr>
          </a:p>
          <a:p>
            <a:pPr marL="118080">
              <a:lnSpc>
                <a:spcPct val="100000"/>
              </a:lnSpc>
              <a:spcBef>
                <a:spcPts val="865"/>
              </a:spcBef>
            </a:pP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Outra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opção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colocar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diretamente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no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código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da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8">
                <a:solidFill>
                  <a:srgbClr val="333333"/>
                </a:solidFill>
                <a:latin typeface="Trebuchet MS"/>
                <a:ea typeface="DejaVu Sans"/>
              </a:rPr>
              <a:t>função</a:t>
            </a:r>
            <a:endParaRPr lang="pt-BR" sz="1050" b="0" strike="noStrike" spc="-1">
              <a:latin typeface="Spranq eco sans"/>
            </a:endParaRPr>
          </a:p>
          <a:p>
            <a:pPr marL="394920" indent="-137520">
              <a:lnSpc>
                <a:spcPct val="100000"/>
              </a:lnSpc>
              <a:spcBef>
                <a:spcPts val="394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não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precisa </a:t>
            </a:r>
            <a:r>
              <a:rPr lang="pt-BR" sz="1050" b="0" strike="noStrike" spc="18">
                <a:solidFill>
                  <a:srgbClr val="333333"/>
                </a:solidFill>
                <a:latin typeface="Trebuchet MS"/>
                <a:ea typeface="DejaVu Sans"/>
              </a:rPr>
              <a:t>chamar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outra</a:t>
            </a:r>
            <a:r>
              <a:rPr lang="pt-BR" sz="1050" b="0" strike="noStrike" spc="-143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8">
                <a:solidFill>
                  <a:srgbClr val="333333"/>
                </a:solidFill>
                <a:latin typeface="Trebuchet MS"/>
                <a:ea typeface="DejaVu Sans"/>
              </a:rPr>
              <a:t>função</a:t>
            </a:r>
            <a:endParaRPr lang="pt-BR" sz="1050" b="0" strike="noStrike" spc="-1">
              <a:latin typeface="Spranq eco sans"/>
            </a:endParaRPr>
          </a:p>
          <a:p>
            <a:pPr marL="394920" indent="-137520">
              <a:lnSpc>
                <a:spcPct val="100000"/>
              </a:lnSpc>
              <a:spcBef>
                <a:spcPts val="391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um </a:t>
            </a:r>
            <a:r>
              <a:rPr lang="pt-BR" sz="1050" b="0" strike="noStrike" spc="43">
                <a:solidFill>
                  <a:srgbClr val="333333"/>
                </a:solidFill>
                <a:latin typeface="Trebuchet MS"/>
                <a:ea typeface="DejaVu Sans"/>
              </a:rPr>
              <a:t>pouco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mais</a:t>
            </a:r>
            <a:r>
              <a:rPr lang="pt-BR" sz="1050" b="0" strike="noStrike" spc="-128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rápido</a:t>
            </a:r>
            <a:endParaRPr lang="pt-BR" sz="1050" b="0" strike="noStrike" spc="-1">
              <a:latin typeface="Spranq eco sans"/>
            </a:endParaRPr>
          </a:p>
          <a:p>
            <a:pPr marL="394920" indent="-137520">
              <a:lnSpc>
                <a:spcPct val="100000"/>
              </a:lnSpc>
              <a:spcBef>
                <a:spcPts val="394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código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um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3">
                <a:solidFill>
                  <a:srgbClr val="333333"/>
                </a:solidFill>
                <a:latin typeface="Trebuchet MS"/>
                <a:ea typeface="DejaVu Sans"/>
              </a:rPr>
              <a:t>pouco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mais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longo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e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24">
                <a:solidFill>
                  <a:srgbClr val="333333"/>
                </a:solidFill>
                <a:latin typeface="Trebuchet MS"/>
                <a:ea typeface="DejaVu Sans"/>
              </a:rPr>
              <a:t>difícil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de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entender</a:t>
            </a:r>
            <a:endParaRPr lang="pt-BR" sz="105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1"/>
          <p:cNvSpPr/>
          <p:nvPr/>
        </p:nvSpPr>
        <p:spPr>
          <a:xfrm>
            <a:off x="275400" y="131040"/>
            <a:ext cx="335412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-7">
                <a:solidFill>
                  <a:srgbClr val="990100"/>
                </a:solidFill>
                <a:latin typeface="Trebuchet MS"/>
                <a:ea typeface="DejaVu Sans"/>
              </a:rPr>
              <a:t>Fila </a:t>
            </a:r>
            <a:r>
              <a:rPr lang="pt-BR" sz="1400" b="0" strike="noStrike" spc="26">
                <a:solidFill>
                  <a:srgbClr val="990100"/>
                </a:solidFill>
                <a:latin typeface="Trebuchet MS"/>
                <a:ea typeface="DejaVu Sans"/>
              </a:rPr>
              <a:t>de </a:t>
            </a:r>
            <a:r>
              <a:rPr lang="pt-BR" sz="1400" b="0" strike="noStrike" spc="-1">
                <a:solidFill>
                  <a:srgbClr val="990100"/>
                </a:solidFill>
                <a:latin typeface="Trebuchet MS"/>
                <a:ea typeface="DejaVu Sans"/>
              </a:rPr>
              <a:t>Prioridade </a:t>
            </a:r>
            <a:r>
              <a:rPr lang="pt-BR" sz="1400" b="0" strike="noStrike" spc="24">
                <a:solidFill>
                  <a:srgbClr val="990100"/>
                </a:solidFill>
                <a:latin typeface="Trebuchet MS"/>
                <a:ea typeface="DejaVu Sans"/>
              </a:rPr>
              <a:t>(usando </a:t>
            </a:r>
            <a:r>
              <a:rPr lang="pt-BR" sz="1400" b="0" strike="noStrike" spc="-7">
                <a:solidFill>
                  <a:srgbClr val="990100"/>
                </a:solidFill>
                <a:latin typeface="Trebuchet MS"/>
                <a:ea typeface="DejaVu Sans"/>
              </a:rPr>
              <a:t>vetores) </a:t>
            </a:r>
            <a:r>
              <a:rPr lang="pt-BR" sz="1400" b="0" strike="noStrike" spc="32">
                <a:solidFill>
                  <a:srgbClr val="990100"/>
                </a:solidFill>
                <a:latin typeface="Trebuchet MS"/>
                <a:ea typeface="DejaVu Sans"/>
              </a:rPr>
              <a:t>-</a:t>
            </a:r>
            <a:r>
              <a:rPr lang="pt-BR" sz="1400" b="0" strike="noStrike" spc="-188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32">
                <a:solidFill>
                  <a:srgbClr val="990100"/>
                </a:solidFill>
                <a:latin typeface="Trebuchet MS"/>
                <a:ea typeface="DejaVu Sans"/>
              </a:rPr>
              <a:t>TAD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192" name="CustomShape 2"/>
          <p:cNvSpPr/>
          <p:nvPr/>
        </p:nvSpPr>
        <p:spPr>
          <a:xfrm>
            <a:off x="2423160" y="3084120"/>
            <a:ext cx="78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4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193" name="CustomShape 3"/>
          <p:cNvSpPr/>
          <p:nvPr/>
        </p:nvSpPr>
        <p:spPr>
          <a:xfrm>
            <a:off x="369720" y="684000"/>
            <a:ext cx="1789560" cy="867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050" b="1" strike="noStrike" spc="-1" dirty="0" err="1">
                <a:solidFill>
                  <a:srgbClr val="000000"/>
                </a:solidFill>
                <a:latin typeface="Spranq eco sans"/>
                <a:ea typeface="DejaVu Sans"/>
              </a:rPr>
              <a:t>typedef</a:t>
            </a:r>
            <a:r>
              <a:rPr lang="pt-BR" sz="1050" b="0" strike="noStrike" spc="-1" dirty="0">
                <a:solidFill>
                  <a:srgbClr val="000000"/>
                </a:solidFill>
                <a:latin typeface="Spranq eco sans"/>
                <a:ea typeface="DejaVu Sans"/>
              </a:rPr>
              <a:t> </a:t>
            </a:r>
            <a:r>
              <a:rPr lang="pt-BR" sz="1050" b="0" strike="noStrike" spc="-1" dirty="0" err="1">
                <a:solidFill>
                  <a:srgbClr val="000000"/>
                </a:solidFill>
                <a:latin typeface="Spranq eco sans"/>
                <a:ea typeface="DejaVu Sans"/>
              </a:rPr>
              <a:t>struct</a:t>
            </a:r>
            <a:r>
              <a:rPr lang="pt-BR" sz="1050" b="0" strike="noStrike" spc="-1" dirty="0">
                <a:solidFill>
                  <a:srgbClr val="000000"/>
                </a:solidFill>
                <a:latin typeface="Spranq eco sans"/>
                <a:ea typeface="DejaVu Sans"/>
              </a:rPr>
              <a:t> item{</a:t>
            </a:r>
            <a:endParaRPr lang="pt-BR" sz="1050" b="0" strike="noStrike" spc="-1" dirty="0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50" b="0" strike="noStrike" spc="-1" dirty="0">
                <a:solidFill>
                  <a:srgbClr val="000000"/>
                </a:solidFill>
                <a:latin typeface="Spranq eco sans"/>
                <a:ea typeface="DejaVu Sans"/>
              </a:rPr>
              <a:t>	char nome [20];</a:t>
            </a:r>
            <a:endParaRPr lang="pt-BR" sz="1050" b="0" strike="noStrike" spc="-1" dirty="0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50" b="0" strike="noStrike" spc="-1" dirty="0">
                <a:solidFill>
                  <a:srgbClr val="000000"/>
                </a:solidFill>
                <a:latin typeface="Spranq eco sans"/>
                <a:ea typeface="DejaVu Sans"/>
              </a:rPr>
              <a:t>	</a:t>
            </a:r>
            <a:r>
              <a:rPr lang="pt-BR" sz="1050" b="1" strike="noStrike" spc="-1" dirty="0" err="1">
                <a:solidFill>
                  <a:srgbClr val="000000"/>
                </a:solidFill>
                <a:latin typeface="Spranq eco sans"/>
                <a:ea typeface="DejaVu Sans"/>
              </a:rPr>
              <a:t>int</a:t>
            </a:r>
            <a:r>
              <a:rPr lang="pt-BR" sz="1050" b="0" strike="noStrike" spc="-1" dirty="0">
                <a:solidFill>
                  <a:srgbClr val="000000"/>
                </a:solidFill>
                <a:latin typeface="Spranq eco sans"/>
                <a:ea typeface="DejaVu Sans"/>
              </a:rPr>
              <a:t> chave;</a:t>
            </a:r>
            <a:endParaRPr lang="pt-BR" sz="1050" b="0" strike="noStrike" spc="-1" dirty="0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50" b="0" strike="noStrike" spc="-1" dirty="0">
                <a:solidFill>
                  <a:srgbClr val="000000"/>
                </a:solidFill>
                <a:latin typeface="Spranq eco sans"/>
                <a:ea typeface="DejaVu Sans"/>
              </a:rPr>
              <a:t>} Item;</a:t>
            </a:r>
            <a:endParaRPr lang="pt-BR" sz="1050" b="0" strike="noStrike" spc="-1" dirty="0">
              <a:latin typeface="Spranq eco sans"/>
            </a:endParaRPr>
          </a:p>
        </p:txBody>
      </p:sp>
      <p:sp>
        <p:nvSpPr>
          <p:cNvPr id="194" name="CustomShape 4"/>
          <p:cNvSpPr/>
          <p:nvPr/>
        </p:nvSpPr>
        <p:spPr>
          <a:xfrm>
            <a:off x="2376000" y="709560"/>
            <a:ext cx="2010240" cy="621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pt-BR" sz="105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typedef</a:t>
            </a:r>
            <a:r>
              <a:rPr lang="pt-BR" sz="10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struct fp{</a:t>
            </a:r>
            <a:endParaRPr lang="pt-BR" sz="10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Item *v;</a:t>
            </a:r>
            <a:endParaRPr lang="pt-BR" sz="10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</a:t>
            </a:r>
            <a:r>
              <a:rPr lang="pt-BR" sz="105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int</a:t>
            </a:r>
            <a:r>
              <a:rPr lang="pt-BR" sz="10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n, tamanho;</a:t>
            </a:r>
            <a:endParaRPr lang="pt-BR" sz="10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50" b="0" strike="noStrike" spc="-1">
                <a:solidFill>
                  <a:srgbClr val="000000"/>
                </a:solidFill>
                <a:latin typeface="Spranq eco sans"/>
                <a:ea typeface="Noto Sans CJK SC Regular"/>
              </a:rPr>
              <a:t>} FP, *pFP;</a:t>
            </a:r>
            <a:endParaRPr lang="pt-BR" sz="1050" b="0" strike="noStrike" spc="-1">
              <a:latin typeface="Spranq eco sans"/>
            </a:endParaRPr>
          </a:p>
        </p:txBody>
      </p:sp>
      <p:sp>
        <p:nvSpPr>
          <p:cNvPr id="195" name="CustomShape 5"/>
          <p:cNvSpPr/>
          <p:nvPr/>
        </p:nvSpPr>
        <p:spPr>
          <a:xfrm>
            <a:off x="1114920" y="1764000"/>
            <a:ext cx="2880360" cy="777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pt-BR" sz="10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pFP criar_filaprio(</a:t>
            </a:r>
            <a:r>
              <a:rPr lang="pt-BR" sz="105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int</a:t>
            </a:r>
            <a:r>
              <a:rPr lang="pt-BR" sz="10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tam);</a:t>
            </a:r>
            <a:endParaRPr lang="pt-BR" sz="10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5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void</a:t>
            </a:r>
            <a:r>
              <a:rPr lang="pt-BR" sz="10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insere(pFP fprio , Item item);</a:t>
            </a:r>
            <a:endParaRPr lang="pt-BR" sz="10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Item extrai_maximo(pFP fprio);</a:t>
            </a:r>
            <a:endParaRPr lang="pt-BR" sz="10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5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int</a:t>
            </a:r>
            <a:r>
              <a:rPr lang="pt-BR" sz="10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vazia(pFP fprio);</a:t>
            </a:r>
            <a:endParaRPr lang="pt-BR" sz="10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5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int</a:t>
            </a:r>
            <a:r>
              <a:rPr lang="pt-BR" sz="10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cheia(pFP fprio);</a:t>
            </a:r>
            <a:endParaRPr lang="pt-BR" sz="105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131400" y="59040"/>
            <a:ext cx="160992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43">
                <a:solidFill>
                  <a:srgbClr val="990100"/>
                </a:solidFill>
                <a:latin typeface="Trebuchet MS"/>
                <a:ea typeface="DejaVu Sans"/>
              </a:rPr>
              <a:t>Operações</a:t>
            </a:r>
            <a:r>
              <a:rPr lang="pt-BR" sz="1400" b="0" strike="noStrike" spc="-66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66">
                <a:solidFill>
                  <a:srgbClr val="990100"/>
                </a:solidFill>
                <a:latin typeface="Trebuchet MS"/>
                <a:ea typeface="DejaVu Sans"/>
              </a:rPr>
              <a:t>Básicas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197" name="CustomShape 2"/>
          <p:cNvSpPr/>
          <p:nvPr/>
        </p:nvSpPr>
        <p:spPr>
          <a:xfrm>
            <a:off x="2315160" y="3300120"/>
            <a:ext cx="78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198" name="CustomShape 3"/>
          <p:cNvSpPr/>
          <p:nvPr/>
        </p:nvSpPr>
        <p:spPr>
          <a:xfrm>
            <a:off x="324000" y="900000"/>
            <a:ext cx="4103280" cy="1947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pFP </a:t>
            </a:r>
            <a:r>
              <a:rPr lang="pt-BR" sz="1400" b="1" strike="noStrike" spc="-1">
                <a:solidFill>
                  <a:srgbClr val="21409A"/>
                </a:solidFill>
                <a:latin typeface="Spranq eco sans"/>
                <a:ea typeface="DejaVu Sans"/>
              </a:rPr>
              <a:t>criar_filaprio</a:t>
            </a:r>
            <a:r>
              <a:rPr lang="pt-BR" sz="14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(</a:t>
            </a:r>
            <a:r>
              <a:rPr lang="pt-BR" sz="140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int</a:t>
            </a:r>
            <a:r>
              <a:rPr lang="pt-BR" sz="14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tam) {</a:t>
            </a:r>
            <a:endParaRPr lang="pt-BR" sz="14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pFP fprio = malloc(sizeof(FP));</a:t>
            </a:r>
            <a:endParaRPr lang="pt-BR" sz="14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fprio-&gt;v = malloc(tam * sizeof(Item));</a:t>
            </a:r>
            <a:endParaRPr lang="pt-BR" sz="14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fprio-&gt;n = 0;</a:t>
            </a:r>
            <a:endParaRPr lang="pt-BR" sz="14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fprio-&gt;tamanho = tam;</a:t>
            </a:r>
            <a:endParaRPr lang="pt-BR" sz="14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return fprio;</a:t>
            </a:r>
            <a:endParaRPr lang="pt-BR" sz="14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}</a:t>
            </a:r>
            <a:endParaRPr lang="pt-BR" sz="14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"/>
          <p:cNvSpPr/>
          <p:nvPr/>
        </p:nvSpPr>
        <p:spPr>
          <a:xfrm>
            <a:off x="131400" y="59040"/>
            <a:ext cx="160992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43">
                <a:solidFill>
                  <a:srgbClr val="990100"/>
                </a:solidFill>
                <a:latin typeface="Trebuchet MS"/>
                <a:ea typeface="DejaVu Sans"/>
              </a:rPr>
              <a:t>Operações</a:t>
            </a:r>
            <a:r>
              <a:rPr lang="pt-BR" sz="1400" b="0" strike="noStrike" spc="-66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66">
                <a:solidFill>
                  <a:srgbClr val="990100"/>
                </a:solidFill>
                <a:latin typeface="Trebuchet MS"/>
                <a:ea typeface="DejaVu Sans"/>
              </a:rPr>
              <a:t>Básicas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200" name="CustomShape 2"/>
          <p:cNvSpPr/>
          <p:nvPr/>
        </p:nvSpPr>
        <p:spPr>
          <a:xfrm>
            <a:off x="2315160" y="3300120"/>
            <a:ext cx="78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201" name="CustomShape 3"/>
          <p:cNvSpPr/>
          <p:nvPr/>
        </p:nvSpPr>
        <p:spPr>
          <a:xfrm>
            <a:off x="1368000" y="360000"/>
            <a:ext cx="3020400" cy="74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void </a:t>
            </a:r>
            <a:r>
              <a:rPr lang="pt-BR" sz="1100" b="1" strike="noStrike" spc="-1">
                <a:solidFill>
                  <a:srgbClr val="21409A"/>
                </a:solidFill>
                <a:latin typeface="Spranq eco sans"/>
                <a:ea typeface="DejaVu Sans"/>
              </a:rPr>
              <a:t>insere</a:t>
            </a: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(pFP fprio , Item item) {</a:t>
            </a:r>
            <a:endParaRPr lang="pt-BR" sz="11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fprio-&gt;v[fprio-&gt;n] = item;</a:t>
            </a:r>
            <a:endParaRPr lang="pt-BR" sz="11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fprio-&gt;n++;</a:t>
            </a:r>
            <a:endParaRPr lang="pt-BR" sz="11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}</a:t>
            </a:r>
            <a:endParaRPr lang="pt-BR" sz="1100" b="0" strike="noStrike" spc="-1">
              <a:latin typeface="Spranq eco sans"/>
            </a:endParaRPr>
          </a:p>
        </p:txBody>
      </p:sp>
      <p:sp>
        <p:nvSpPr>
          <p:cNvPr id="202" name="CustomShape 4"/>
          <p:cNvSpPr/>
          <p:nvPr/>
        </p:nvSpPr>
        <p:spPr>
          <a:xfrm>
            <a:off x="137160" y="1134360"/>
            <a:ext cx="4771800" cy="1883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Item </a:t>
            </a:r>
            <a:r>
              <a:rPr lang="pt-BR" sz="1100" b="1" strike="noStrike" spc="-1">
                <a:solidFill>
                  <a:srgbClr val="21409A"/>
                </a:solidFill>
                <a:latin typeface="Spranq eco sans"/>
                <a:ea typeface="DejaVu Sans"/>
              </a:rPr>
              <a:t>extrai_maximo</a:t>
            </a: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(pFP fprio) {</a:t>
            </a:r>
            <a:endParaRPr lang="pt-BR" sz="11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int j, max = 0;</a:t>
            </a:r>
            <a:endParaRPr lang="pt-BR" sz="11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for (j = 1; j &lt; fprio-&gt;n; j++){</a:t>
            </a:r>
            <a:endParaRPr lang="pt-BR" sz="11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	if (fprio-&gt;v[max]. chave &lt; fprio-&gt;v[j]. chave)</a:t>
            </a:r>
            <a:endParaRPr lang="pt-BR" sz="11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		max = j;</a:t>
            </a:r>
            <a:endParaRPr lang="pt-BR" sz="11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}</a:t>
            </a:r>
            <a:endParaRPr lang="pt-BR" sz="11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troca (&amp;( fprio-&gt;v[max]), &amp;(fprio-&gt;v[fprio-&gt;n -1]));</a:t>
            </a:r>
            <a:endParaRPr lang="pt-BR" sz="11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fprio-&gt;n--;</a:t>
            </a:r>
            <a:endParaRPr lang="pt-BR" sz="11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</a:t>
            </a:r>
            <a:r>
              <a:rPr lang="pt-BR" sz="110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return</a:t>
            </a: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fprio-&gt;v[fprio-&gt;n];</a:t>
            </a:r>
            <a:endParaRPr lang="pt-BR" sz="11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}</a:t>
            </a:r>
            <a:endParaRPr lang="pt-BR" sz="1100" b="0" strike="noStrike" spc="-1">
              <a:latin typeface="Spranq eco sans"/>
            </a:endParaRPr>
          </a:p>
        </p:txBody>
      </p:sp>
      <p:sp>
        <p:nvSpPr>
          <p:cNvPr id="203" name="CustomShape 5"/>
          <p:cNvSpPr/>
          <p:nvPr/>
        </p:nvSpPr>
        <p:spPr>
          <a:xfrm>
            <a:off x="132480" y="2890800"/>
            <a:ext cx="4421160" cy="49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21409A"/>
                </a:solidFill>
                <a:latin typeface="Spranq eco sans"/>
                <a:ea typeface="DejaVu Sans"/>
              </a:rPr>
              <a:t>Insere em </a:t>
            </a:r>
            <a:r>
              <a:rPr lang="pt-BR" sz="1100" b="1" strike="noStrike" spc="-1">
                <a:solidFill>
                  <a:srgbClr val="21409A"/>
                </a:solidFill>
                <a:latin typeface="Spranq eco sans"/>
                <a:ea typeface="DejaVu Sans"/>
              </a:rPr>
              <a:t>O(1)</a:t>
            </a:r>
            <a:r>
              <a:rPr lang="pt-BR" sz="1100" b="0" strike="noStrike" spc="-1">
                <a:solidFill>
                  <a:srgbClr val="21409A"/>
                </a:solidFill>
                <a:latin typeface="Spranq eco sans"/>
                <a:ea typeface="DejaVu Sans"/>
              </a:rPr>
              <a:t> , extrai o máximo em </a:t>
            </a:r>
            <a:r>
              <a:rPr lang="pt-BR" sz="1100" b="1" strike="noStrike" spc="-1">
                <a:solidFill>
                  <a:srgbClr val="21409A"/>
                </a:solidFill>
                <a:latin typeface="Spranq eco sans"/>
                <a:ea typeface="DejaVu Sans"/>
              </a:rPr>
              <a:t>O(n)</a:t>
            </a:r>
            <a:endParaRPr lang="pt-BR" sz="11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100" b="0" strike="noStrike" spc="-1">
                <a:solidFill>
                  <a:srgbClr val="21409A"/>
                </a:solidFill>
                <a:latin typeface="Spranq eco sans"/>
                <a:ea typeface="DejaVu Sans"/>
              </a:rPr>
              <a:t>• Se mantiver o vetor ordenado, os tempos se invertem</a:t>
            </a:r>
            <a:endParaRPr lang="pt-BR" sz="11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131400" y="59040"/>
            <a:ext cx="228492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18">
                <a:solidFill>
                  <a:srgbClr val="990100"/>
                </a:solidFill>
                <a:latin typeface="Trebuchet MS"/>
                <a:ea typeface="DejaVu Sans"/>
              </a:rPr>
              <a:t>Árvores </a:t>
            </a:r>
            <a:r>
              <a:rPr lang="pt-BR" sz="1400" b="0" strike="noStrike" spc="12">
                <a:solidFill>
                  <a:srgbClr val="990100"/>
                </a:solidFill>
                <a:latin typeface="Trebuchet MS"/>
                <a:ea typeface="DejaVu Sans"/>
              </a:rPr>
              <a:t>Binárias</a:t>
            </a:r>
            <a:r>
              <a:rPr lang="pt-BR" sz="1400" b="0" strike="noStrike" spc="-103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32">
                <a:solidFill>
                  <a:srgbClr val="990100"/>
                </a:solidFill>
                <a:latin typeface="Trebuchet MS"/>
                <a:ea typeface="DejaVu Sans"/>
              </a:rPr>
              <a:t>Completas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205" name="CustomShape 2"/>
          <p:cNvSpPr/>
          <p:nvPr/>
        </p:nvSpPr>
        <p:spPr>
          <a:xfrm>
            <a:off x="347400" y="518400"/>
            <a:ext cx="3781440" cy="1001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0840" rIns="0" bIns="0"/>
          <a:lstStyle/>
          <a:p>
            <a:pPr marL="12600">
              <a:lnSpc>
                <a:spcPct val="100000"/>
              </a:lnSpc>
              <a:spcBef>
                <a:spcPts val="479"/>
              </a:spcBef>
            </a:pP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Uma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árvore binária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 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dita </a:t>
            </a:r>
            <a:r>
              <a:rPr lang="pt-BR" sz="1050" b="0" strike="noStrike" spc="7">
                <a:solidFill>
                  <a:srgbClr val="B90504"/>
                </a:solidFill>
                <a:latin typeface="Trebuchet MS"/>
                <a:ea typeface="DejaVu Sans"/>
              </a:rPr>
              <a:t>completa</a:t>
            </a:r>
            <a:r>
              <a:rPr lang="pt-BR" sz="1050" b="0" strike="noStrike" spc="-131">
                <a:solidFill>
                  <a:srgbClr val="B90504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se:</a:t>
            </a:r>
            <a:endParaRPr lang="pt-BR" sz="1050" b="0" strike="noStrike" spc="-1">
              <a:latin typeface="Spranq eco sans"/>
            </a:endParaRPr>
          </a:p>
          <a:p>
            <a:pPr marL="289440" indent="-137520">
              <a:lnSpc>
                <a:spcPct val="100000"/>
              </a:lnSpc>
              <a:spcBef>
                <a:spcPts val="394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Todos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77">
                <a:solidFill>
                  <a:srgbClr val="333333"/>
                </a:solidFill>
                <a:latin typeface="Trebuchet MS"/>
                <a:ea typeface="DejaVu Sans"/>
              </a:rPr>
              <a:t>os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níveis,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exceto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último (sem contar o nível das folhas),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8">
                <a:solidFill>
                  <a:srgbClr val="333333"/>
                </a:solidFill>
                <a:latin typeface="Trebuchet MS"/>
                <a:ea typeface="DejaVu Sans"/>
              </a:rPr>
              <a:t>estão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cheios</a:t>
            </a:r>
            <a:endParaRPr lang="pt-BR" sz="1050" b="0" strike="noStrike" spc="-1">
              <a:latin typeface="Spranq eco sans"/>
            </a:endParaRPr>
          </a:p>
          <a:p>
            <a:pPr marL="289440" indent="-137520">
              <a:lnSpc>
                <a:spcPct val="100000"/>
              </a:lnSpc>
              <a:spcBef>
                <a:spcPts val="391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50" b="0" strike="noStrike" spc="106">
                <a:solidFill>
                  <a:srgbClr val="333333"/>
                </a:solidFill>
                <a:latin typeface="Trebuchet MS"/>
                <a:ea typeface="DejaVu Sans"/>
              </a:rPr>
              <a:t>Os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8">
                <a:solidFill>
                  <a:srgbClr val="333333"/>
                </a:solidFill>
                <a:latin typeface="Trebuchet MS"/>
                <a:ea typeface="DejaVu Sans"/>
              </a:rPr>
              <a:t>nós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do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último 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nível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8">
                <a:solidFill>
                  <a:srgbClr val="333333"/>
                </a:solidFill>
                <a:latin typeface="Trebuchet MS"/>
                <a:ea typeface="DejaVu Sans"/>
              </a:rPr>
              <a:t>estão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mais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a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esquerda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possível</a:t>
            </a:r>
            <a:endParaRPr lang="pt-BR" sz="1050" b="0" strike="noStrike" spc="-1">
              <a:latin typeface="Spranq eco sans"/>
            </a:endParaRPr>
          </a:p>
          <a:p>
            <a:pPr marL="12600">
              <a:lnSpc>
                <a:spcPct val="100000"/>
              </a:lnSpc>
              <a:spcBef>
                <a:spcPts val="1590"/>
              </a:spcBef>
            </a:pP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Exemplo:</a:t>
            </a:r>
            <a:endParaRPr lang="pt-BR" sz="1050" b="0" strike="noStrike" spc="-1">
              <a:latin typeface="Spranq eco sans"/>
            </a:endParaRPr>
          </a:p>
        </p:txBody>
      </p:sp>
      <p:sp>
        <p:nvSpPr>
          <p:cNvPr id="206" name="CustomShape 3"/>
          <p:cNvSpPr/>
          <p:nvPr/>
        </p:nvSpPr>
        <p:spPr>
          <a:xfrm>
            <a:off x="2326320" y="1432440"/>
            <a:ext cx="134640" cy="1346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7" name="CustomShape 4"/>
          <p:cNvSpPr/>
          <p:nvPr/>
        </p:nvSpPr>
        <p:spPr>
          <a:xfrm>
            <a:off x="1606320" y="1792440"/>
            <a:ext cx="134640" cy="13464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8" name="CustomShape 5"/>
          <p:cNvSpPr/>
          <p:nvPr/>
        </p:nvSpPr>
        <p:spPr>
          <a:xfrm>
            <a:off x="1743840" y="1535400"/>
            <a:ext cx="579240" cy="289080"/>
          </a:xfrm>
          <a:custGeom>
            <a:avLst/>
            <a:gdLst/>
            <a:ahLst/>
            <a:cxnLst/>
            <a:rect l="l" t="t" r="r" b="b"/>
            <a:pathLst>
              <a:path w="580389" h="290194">
                <a:moveTo>
                  <a:pt x="580269" y="0"/>
                </a:moveTo>
                <a:lnTo>
                  <a:pt x="0" y="290136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CustomShape 6"/>
          <p:cNvSpPr/>
          <p:nvPr/>
        </p:nvSpPr>
        <p:spPr>
          <a:xfrm>
            <a:off x="1246320" y="2152440"/>
            <a:ext cx="134640" cy="134640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CustomShape 7"/>
          <p:cNvSpPr/>
          <p:nvPr/>
        </p:nvSpPr>
        <p:spPr>
          <a:xfrm>
            <a:off x="1369080" y="1915560"/>
            <a:ext cx="249120" cy="249120"/>
          </a:xfrm>
          <a:custGeom>
            <a:avLst/>
            <a:gdLst/>
            <a:ahLst/>
            <a:cxnLst/>
            <a:rect l="l" t="t" r="r" b="b"/>
            <a:pathLst>
              <a:path w="250190" h="250189">
                <a:moveTo>
                  <a:pt x="249746" y="0"/>
                </a:moveTo>
                <a:lnTo>
                  <a:pt x="0" y="249750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1" name="CustomShape 8"/>
          <p:cNvSpPr/>
          <p:nvPr/>
        </p:nvSpPr>
        <p:spPr>
          <a:xfrm>
            <a:off x="1066320" y="2287800"/>
            <a:ext cx="214560" cy="359640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CustomShape 9"/>
          <p:cNvSpPr/>
          <p:nvPr/>
        </p:nvSpPr>
        <p:spPr>
          <a:xfrm>
            <a:off x="1346400" y="2287800"/>
            <a:ext cx="214560" cy="359640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CustomShape 10"/>
          <p:cNvSpPr/>
          <p:nvPr/>
        </p:nvSpPr>
        <p:spPr>
          <a:xfrm>
            <a:off x="1966320" y="2152440"/>
            <a:ext cx="134640" cy="134640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4" name="CustomShape 11"/>
          <p:cNvSpPr/>
          <p:nvPr/>
        </p:nvSpPr>
        <p:spPr>
          <a:xfrm>
            <a:off x="1729080" y="1915560"/>
            <a:ext cx="249120" cy="249120"/>
          </a:xfrm>
          <a:custGeom>
            <a:avLst/>
            <a:gdLst/>
            <a:ahLst/>
            <a:cxnLst/>
            <a:rect l="l" t="t" r="r" b="b"/>
            <a:pathLst>
              <a:path w="250189" h="250189">
                <a:moveTo>
                  <a:pt x="0" y="0"/>
                </a:moveTo>
                <a:lnTo>
                  <a:pt x="249750" y="249746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CustomShape 12"/>
          <p:cNvSpPr/>
          <p:nvPr/>
        </p:nvSpPr>
        <p:spPr>
          <a:xfrm>
            <a:off x="1786320" y="2287800"/>
            <a:ext cx="214560" cy="359640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6" name="CustomShape 13"/>
          <p:cNvSpPr/>
          <p:nvPr/>
        </p:nvSpPr>
        <p:spPr>
          <a:xfrm>
            <a:off x="3046320" y="1792440"/>
            <a:ext cx="134640" cy="134640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7" name="CustomShape 14"/>
          <p:cNvSpPr/>
          <p:nvPr/>
        </p:nvSpPr>
        <p:spPr>
          <a:xfrm>
            <a:off x="2463840" y="1535400"/>
            <a:ext cx="579240" cy="289080"/>
          </a:xfrm>
          <a:custGeom>
            <a:avLst/>
            <a:gdLst/>
            <a:ahLst/>
            <a:cxnLst/>
            <a:rect l="l" t="t" r="r" b="b"/>
            <a:pathLst>
              <a:path w="580389" h="290194">
                <a:moveTo>
                  <a:pt x="0" y="0"/>
                </a:moveTo>
                <a:lnTo>
                  <a:pt x="580270" y="290136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8" name="CustomShape 15"/>
          <p:cNvSpPr/>
          <p:nvPr/>
        </p:nvSpPr>
        <p:spPr>
          <a:xfrm>
            <a:off x="2686320" y="2152440"/>
            <a:ext cx="134640" cy="1346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9" name="CustomShape 16"/>
          <p:cNvSpPr/>
          <p:nvPr/>
        </p:nvSpPr>
        <p:spPr>
          <a:xfrm>
            <a:off x="2809080" y="1915560"/>
            <a:ext cx="249120" cy="249120"/>
          </a:xfrm>
          <a:custGeom>
            <a:avLst/>
            <a:gdLst/>
            <a:ahLst/>
            <a:cxnLst/>
            <a:rect l="l" t="t" r="r" b="b"/>
            <a:pathLst>
              <a:path w="250189" h="250189">
                <a:moveTo>
                  <a:pt x="249748" y="0"/>
                </a:moveTo>
                <a:lnTo>
                  <a:pt x="0" y="249750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0" name="CustomShape 17"/>
          <p:cNvSpPr/>
          <p:nvPr/>
        </p:nvSpPr>
        <p:spPr>
          <a:xfrm>
            <a:off x="3406320" y="2152440"/>
            <a:ext cx="134640" cy="1346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1" name="CustomShape 18"/>
          <p:cNvSpPr/>
          <p:nvPr/>
        </p:nvSpPr>
        <p:spPr>
          <a:xfrm>
            <a:off x="3169080" y="1915560"/>
            <a:ext cx="249120" cy="249120"/>
          </a:xfrm>
          <a:custGeom>
            <a:avLst/>
            <a:gdLst/>
            <a:ahLst/>
            <a:cxnLst/>
            <a:rect l="l" t="t" r="r" b="b"/>
            <a:pathLst>
              <a:path w="250189" h="250189">
                <a:moveTo>
                  <a:pt x="0" y="0"/>
                </a:moveTo>
                <a:lnTo>
                  <a:pt x="249751" y="249746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2" name="CustomShape 19"/>
          <p:cNvSpPr/>
          <p:nvPr/>
        </p:nvSpPr>
        <p:spPr>
          <a:xfrm>
            <a:off x="239400" y="2703240"/>
            <a:ext cx="4152600" cy="43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080" rIns="0" bIns="0"/>
          <a:lstStyle/>
          <a:p>
            <a:pPr marL="12600">
              <a:lnSpc>
                <a:spcPct val="100000"/>
              </a:lnSpc>
              <a:spcBef>
                <a:spcPts val="434"/>
              </a:spcBef>
            </a:pP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Uma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árvore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binária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completa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de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100" b="0" i="1" strike="noStrike" spc="-4">
                <a:solidFill>
                  <a:srgbClr val="B90504"/>
                </a:solidFill>
                <a:latin typeface="Courier New"/>
                <a:ea typeface="DejaVu Sans"/>
              </a:rPr>
              <a:t>n</a:t>
            </a:r>
            <a:r>
              <a:rPr lang="pt-BR" sz="1100" b="0" i="1" strike="noStrike" spc="-347">
                <a:solidFill>
                  <a:srgbClr val="B90504"/>
                </a:solidFill>
                <a:latin typeface="Courier New"/>
                <a:ea typeface="DejaVu Sans"/>
              </a:rPr>
              <a:t> </a:t>
            </a:r>
            <a:r>
              <a:rPr lang="pt-BR" sz="1050" b="0" strike="noStrike" spc="58">
                <a:solidFill>
                  <a:srgbClr val="333333"/>
                </a:solidFill>
                <a:latin typeface="Trebuchet MS"/>
                <a:ea typeface="DejaVu Sans"/>
              </a:rPr>
              <a:t>nós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tem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quantos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níveis?</a:t>
            </a:r>
            <a:endParaRPr lang="pt-BR" sz="1050" b="0" strike="noStrike" spc="-1">
              <a:latin typeface="Spranq eco sans"/>
            </a:endParaRPr>
          </a:p>
          <a:p>
            <a:pPr marL="289440" indent="-137520">
              <a:lnSpc>
                <a:spcPct val="100000"/>
              </a:lnSpc>
              <a:spcBef>
                <a:spcPts val="334"/>
              </a:spcBef>
              <a:buClr>
                <a:srgbClr val="333333"/>
              </a:buClr>
              <a:buFont typeface="Symbol"/>
              <a:buChar char=""/>
            </a:pPr>
            <a:r>
              <a:rPr lang="pt-BR" sz="1100" b="0" strike="noStrike" spc="-1">
                <a:solidFill>
                  <a:srgbClr val="333333"/>
                </a:solidFill>
                <a:latin typeface="DejaVu Serif"/>
                <a:ea typeface="DejaVu Sans"/>
              </a:rPr>
              <a:t>⌈</a:t>
            </a:r>
            <a:r>
              <a:rPr lang="pt-BR" sz="1100" b="0" strike="noStrike" spc="-1">
                <a:solidFill>
                  <a:srgbClr val="333333"/>
                </a:solidFill>
                <a:latin typeface="Georgia"/>
                <a:ea typeface="DejaVu Sans"/>
              </a:rPr>
              <a:t>lg(</a:t>
            </a:r>
            <a:r>
              <a:rPr lang="pt-BR" sz="1100" b="0" i="1" strike="noStrike" spc="-1">
                <a:solidFill>
                  <a:srgbClr val="333333"/>
                </a:solidFill>
                <a:latin typeface="Courier New"/>
                <a:ea typeface="DejaVu Sans"/>
              </a:rPr>
              <a:t>n</a:t>
            </a:r>
            <a:r>
              <a:rPr lang="pt-BR" sz="1100" b="0" i="1" strike="noStrike" spc="-418">
                <a:solidFill>
                  <a:srgbClr val="333333"/>
                </a:solidFill>
                <a:latin typeface="Courier New"/>
                <a:ea typeface="DejaVu Sans"/>
              </a:rPr>
              <a:t> </a:t>
            </a:r>
            <a:r>
              <a:rPr lang="pt-BR" sz="1100" b="0" strike="noStrike" spc="131">
                <a:solidFill>
                  <a:srgbClr val="333333"/>
                </a:solidFill>
                <a:latin typeface="Georgia"/>
                <a:ea typeface="DejaVu Sans"/>
              </a:rPr>
              <a:t>+</a:t>
            </a:r>
            <a:r>
              <a:rPr lang="pt-BR" sz="1100" b="0" strike="noStrike" spc="-18">
                <a:solidFill>
                  <a:srgbClr val="333333"/>
                </a:solidFill>
                <a:latin typeface="Georgia"/>
                <a:ea typeface="DejaVu Sans"/>
              </a:rPr>
              <a:t> </a:t>
            </a:r>
            <a:r>
              <a:rPr lang="pt-BR" sz="1100" b="0" strike="noStrike" spc="38">
                <a:solidFill>
                  <a:srgbClr val="333333"/>
                </a:solidFill>
                <a:latin typeface="Georgia"/>
                <a:ea typeface="DejaVu Sans"/>
              </a:rPr>
              <a:t>1)</a:t>
            </a:r>
            <a:r>
              <a:rPr lang="pt-BR" sz="1100" b="0" strike="noStrike" spc="38">
                <a:solidFill>
                  <a:srgbClr val="333333"/>
                </a:solidFill>
                <a:latin typeface="DejaVu Serif"/>
                <a:ea typeface="DejaVu Sans"/>
              </a:rPr>
              <a:t>⌉</a:t>
            </a:r>
            <a:r>
              <a:rPr lang="pt-BR" sz="1100" b="0" strike="noStrike" spc="-43">
                <a:solidFill>
                  <a:srgbClr val="333333"/>
                </a:solidFill>
                <a:latin typeface="DejaVu Serif"/>
                <a:ea typeface="DejaVu Sans"/>
              </a:rPr>
              <a:t> </a:t>
            </a:r>
            <a:r>
              <a:rPr lang="pt-BR" sz="1100" b="0" strike="noStrike" spc="131">
                <a:solidFill>
                  <a:srgbClr val="333333"/>
                </a:solidFill>
                <a:latin typeface="Georgia"/>
                <a:ea typeface="DejaVu Sans"/>
              </a:rPr>
              <a:t>=</a:t>
            </a:r>
            <a:r>
              <a:rPr lang="pt-BR" sz="1100" b="0" strike="noStrike" spc="26">
                <a:solidFill>
                  <a:srgbClr val="333333"/>
                </a:solidFill>
                <a:latin typeface="Georgia"/>
                <a:ea typeface="DejaVu Sans"/>
              </a:rPr>
              <a:t> </a:t>
            </a:r>
            <a:r>
              <a:rPr lang="pt-BR" sz="1100" b="0" strike="noStrike" spc="-1">
                <a:solidFill>
                  <a:srgbClr val="B90504"/>
                </a:solidFill>
                <a:latin typeface="Georgia"/>
                <a:ea typeface="DejaVu Sans"/>
              </a:rPr>
              <a:t>O(lg</a:t>
            </a:r>
            <a:r>
              <a:rPr lang="pt-BR" sz="1100" b="0" strike="noStrike" spc="-63">
                <a:solidFill>
                  <a:srgbClr val="B90504"/>
                </a:solidFill>
                <a:latin typeface="Georgia"/>
                <a:ea typeface="DejaVu Sans"/>
              </a:rPr>
              <a:t> </a:t>
            </a:r>
            <a:r>
              <a:rPr lang="pt-BR" sz="1100" b="0" i="1" strike="noStrike" spc="-1">
                <a:solidFill>
                  <a:srgbClr val="B90504"/>
                </a:solidFill>
                <a:latin typeface="Courier New"/>
                <a:ea typeface="DejaVu Sans"/>
              </a:rPr>
              <a:t>n</a:t>
            </a:r>
            <a:r>
              <a:rPr lang="pt-BR" sz="1100" b="0" strike="noStrike" spc="-1">
                <a:solidFill>
                  <a:srgbClr val="B90504"/>
                </a:solidFill>
                <a:latin typeface="Georgia"/>
                <a:ea typeface="DejaVu Sans"/>
              </a:rPr>
              <a:t>)</a:t>
            </a:r>
            <a:r>
              <a:rPr lang="pt-BR" sz="1100" b="0" strike="noStrike" spc="24">
                <a:solidFill>
                  <a:srgbClr val="B90504"/>
                </a:solidFill>
                <a:latin typeface="Georgia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níveis</a:t>
            </a:r>
            <a:endParaRPr lang="pt-BR" sz="1050" b="0" strike="noStrike" spc="-1">
              <a:latin typeface="Spranq eco sans"/>
            </a:endParaRPr>
          </a:p>
        </p:txBody>
      </p:sp>
      <p:sp>
        <p:nvSpPr>
          <p:cNvPr id="223" name="CustomShape 20"/>
          <p:cNvSpPr/>
          <p:nvPr/>
        </p:nvSpPr>
        <p:spPr>
          <a:xfrm>
            <a:off x="2315160" y="3300120"/>
            <a:ext cx="78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131400" y="59040"/>
            <a:ext cx="368460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18">
                <a:solidFill>
                  <a:srgbClr val="990100"/>
                </a:solidFill>
                <a:latin typeface="Trebuchet MS"/>
                <a:ea typeface="DejaVu Sans"/>
              </a:rPr>
              <a:t>Árvores </a:t>
            </a:r>
            <a:r>
              <a:rPr lang="pt-BR" sz="1400" b="0" strike="noStrike" spc="12">
                <a:solidFill>
                  <a:srgbClr val="990100"/>
                </a:solidFill>
                <a:latin typeface="Trebuchet MS"/>
                <a:ea typeface="DejaVu Sans"/>
              </a:rPr>
              <a:t>Binárias </a:t>
            </a:r>
            <a:r>
              <a:rPr lang="pt-BR" sz="1400" b="0" strike="noStrike" spc="32">
                <a:solidFill>
                  <a:srgbClr val="990100"/>
                </a:solidFill>
                <a:latin typeface="Trebuchet MS"/>
                <a:ea typeface="DejaVu Sans"/>
              </a:rPr>
              <a:t>Completas </a:t>
            </a:r>
            <a:r>
              <a:rPr lang="pt-BR" sz="1400" b="0" strike="noStrike" spc="-1">
                <a:solidFill>
                  <a:srgbClr val="990100"/>
                </a:solidFill>
                <a:latin typeface="Trebuchet MS"/>
                <a:ea typeface="DejaVu Sans"/>
              </a:rPr>
              <a:t>e</a:t>
            </a:r>
            <a:r>
              <a:rPr lang="pt-BR" sz="1400" b="0" strike="noStrike" spc="-208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-1">
                <a:solidFill>
                  <a:srgbClr val="990100"/>
                </a:solidFill>
                <a:latin typeface="Trebuchet MS"/>
                <a:ea typeface="DejaVu Sans"/>
              </a:rPr>
              <a:t>Vetores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225" name="CustomShape 2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6" name="CustomShape 3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7" name="CustomShape 4"/>
          <p:cNvSpPr/>
          <p:nvPr/>
        </p:nvSpPr>
        <p:spPr>
          <a:xfrm>
            <a:off x="2345760" y="59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v[0]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28" name="CustomShape 5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9" name="CustomShape 6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0" name="CustomShape 7"/>
          <p:cNvSpPr/>
          <p:nvPr/>
        </p:nvSpPr>
        <p:spPr>
          <a:xfrm>
            <a:off x="1265760" y="113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v[1]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31" name="CustomShape 8"/>
          <p:cNvSpPr/>
          <p:nvPr/>
        </p:nvSpPr>
        <p:spPr>
          <a:xfrm>
            <a:off x="151596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2" name="CustomShape 9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3" name="CustomShape 10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4" name="CustomShape 11"/>
          <p:cNvSpPr/>
          <p:nvPr/>
        </p:nvSpPr>
        <p:spPr>
          <a:xfrm>
            <a:off x="725760" y="167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v[3]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35" name="CustomShape 12"/>
          <p:cNvSpPr/>
          <p:nvPr/>
        </p:nvSpPr>
        <p:spPr>
          <a:xfrm>
            <a:off x="9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6" name="CustomShape 13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7" name="CustomShape 14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8" name="CustomShape 15"/>
          <p:cNvSpPr/>
          <p:nvPr/>
        </p:nvSpPr>
        <p:spPr>
          <a:xfrm>
            <a:off x="455760" y="221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v[7]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39" name="CustomShape 16"/>
          <p:cNvSpPr/>
          <p:nvPr/>
        </p:nvSpPr>
        <p:spPr>
          <a:xfrm>
            <a:off x="62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0" name="CustomShape 17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1" name="CustomShape 18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2" name="CustomShape 19"/>
          <p:cNvSpPr/>
          <p:nvPr/>
        </p:nvSpPr>
        <p:spPr>
          <a:xfrm>
            <a:off x="995760" y="221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v[8]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43" name="CustomShape 20"/>
          <p:cNvSpPr/>
          <p:nvPr/>
        </p:nvSpPr>
        <p:spPr>
          <a:xfrm>
            <a:off x="89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4" name="CustomShape 21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5" name="CustomShape 22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6" name="CustomShape 23"/>
          <p:cNvSpPr/>
          <p:nvPr/>
        </p:nvSpPr>
        <p:spPr>
          <a:xfrm>
            <a:off x="1805760" y="167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v[4]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47" name="CustomShape 24"/>
          <p:cNvSpPr/>
          <p:nvPr/>
        </p:nvSpPr>
        <p:spPr>
          <a:xfrm>
            <a:off x="148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8" name="CustomShape 25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9" name="CustomShape 26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CustomShape 27"/>
          <p:cNvSpPr/>
          <p:nvPr/>
        </p:nvSpPr>
        <p:spPr>
          <a:xfrm>
            <a:off x="1535760" y="221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v[9]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51" name="CustomShape 28"/>
          <p:cNvSpPr/>
          <p:nvPr/>
        </p:nvSpPr>
        <p:spPr>
          <a:xfrm>
            <a:off x="170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2" name="CustomShape 29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3" name="CustomShape 30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4" name="CustomShape 31"/>
          <p:cNvSpPr/>
          <p:nvPr/>
        </p:nvSpPr>
        <p:spPr>
          <a:xfrm>
            <a:off x="3425760" y="113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v[2]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55" name="CustomShape 32"/>
          <p:cNvSpPr/>
          <p:nvPr/>
        </p:nvSpPr>
        <p:spPr>
          <a:xfrm>
            <a:off x="259560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6" name="CustomShape 33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7" name="CustomShape 34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8" name="CustomShape 35"/>
          <p:cNvSpPr/>
          <p:nvPr/>
        </p:nvSpPr>
        <p:spPr>
          <a:xfrm>
            <a:off x="2885760" y="167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v[5]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59" name="CustomShape 36"/>
          <p:cNvSpPr/>
          <p:nvPr/>
        </p:nvSpPr>
        <p:spPr>
          <a:xfrm>
            <a:off x="310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0" name="CustomShape 37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1" name="CustomShape 38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2" name="CustomShape 39"/>
          <p:cNvSpPr/>
          <p:nvPr/>
        </p:nvSpPr>
        <p:spPr>
          <a:xfrm>
            <a:off x="3965760" y="167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v[6]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63" name="CustomShape 40"/>
          <p:cNvSpPr/>
          <p:nvPr/>
        </p:nvSpPr>
        <p:spPr>
          <a:xfrm>
            <a:off x="36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4" name="CustomShape 41"/>
          <p:cNvSpPr/>
          <p:nvPr/>
        </p:nvSpPr>
        <p:spPr>
          <a:xfrm>
            <a:off x="347400" y="2577600"/>
            <a:ext cx="3684600" cy="43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0840" rIns="0" bIns="0"/>
          <a:lstStyle/>
          <a:p>
            <a:pPr marL="12600">
              <a:lnSpc>
                <a:spcPct val="100000"/>
              </a:lnSpc>
              <a:spcBef>
                <a:spcPts val="479"/>
              </a:spcBef>
            </a:pPr>
            <a:r>
              <a:rPr lang="pt-BR" sz="1050" b="0" strike="noStrike" spc="58">
                <a:solidFill>
                  <a:srgbClr val="333333"/>
                </a:solidFill>
                <a:latin typeface="Trebuchet MS"/>
                <a:ea typeface="DejaVu Sans"/>
              </a:rPr>
              <a:t>Podemos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representar tais </a:t>
            </a:r>
            <a:r>
              <a:rPr lang="pt-BR" sz="105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árvores </a:t>
            </a:r>
            <a:r>
              <a:rPr lang="pt-BR" sz="105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usando</a:t>
            </a:r>
            <a:r>
              <a:rPr lang="pt-BR" sz="1050" b="0" strike="noStrike" spc="-123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vetores.</a:t>
            </a:r>
            <a:endParaRPr lang="pt-BR" sz="1050" b="0" strike="noStrike" spc="-1">
              <a:latin typeface="Spranq eco sans"/>
            </a:endParaRPr>
          </a:p>
          <a:p>
            <a:pPr marL="289440" indent="-137520">
              <a:lnSpc>
                <a:spcPct val="100000"/>
              </a:lnSpc>
              <a:spcBef>
                <a:spcPts val="394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Isto </a:t>
            </a:r>
            <a:r>
              <a:rPr lang="pt-BR" sz="1050" b="0" strike="noStrike" spc="-32">
                <a:solidFill>
                  <a:srgbClr val="333333"/>
                </a:solidFill>
                <a:latin typeface="Trebuchet MS"/>
                <a:ea typeface="DejaVu Sans"/>
              </a:rPr>
              <a:t>é,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não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precisamos de</a:t>
            </a:r>
            <a:r>
              <a:rPr lang="pt-BR" sz="1050" b="0" strike="noStrike" spc="-128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ponteiros</a:t>
            </a:r>
            <a:endParaRPr lang="pt-BR" sz="1050" b="0" strike="noStrike" spc="-1">
              <a:latin typeface="Spranq eco sans"/>
            </a:endParaRPr>
          </a:p>
        </p:txBody>
      </p:sp>
      <p:sp>
        <p:nvSpPr>
          <p:cNvPr id="265" name="CustomShape 42"/>
          <p:cNvSpPr/>
          <p:nvPr/>
        </p:nvSpPr>
        <p:spPr>
          <a:xfrm>
            <a:off x="2302200" y="3300120"/>
            <a:ext cx="10368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2556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7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ustomShape 1"/>
          <p:cNvSpPr/>
          <p:nvPr/>
        </p:nvSpPr>
        <p:spPr>
          <a:xfrm>
            <a:off x="131400" y="59040"/>
            <a:ext cx="375660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18">
                <a:solidFill>
                  <a:srgbClr val="990100"/>
                </a:solidFill>
                <a:latin typeface="Trebuchet MS"/>
                <a:ea typeface="DejaVu Sans"/>
              </a:rPr>
              <a:t>Árvores </a:t>
            </a:r>
            <a:r>
              <a:rPr lang="pt-BR" sz="1400" b="0" strike="noStrike" spc="12">
                <a:solidFill>
                  <a:srgbClr val="990100"/>
                </a:solidFill>
                <a:latin typeface="Trebuchet MS"/>
                <a:ea typeface="DejaVu Sans"/>
              </a:rPr>
              <a:t>Binárias </a:t>
            </a:r>
            <a:r>
              <a:rPr lang="pt-BR" sz="1400" b="0" strike="noStrike" spc="32">
                <a:solidFill>
                  <a:srgbClr val="990100"/>
                </a:solidFill>
                <a:latin typeface="Trebuchet MS"/>
                <a:ea typeface="DejaVu Sans"/>
              </a:rPr>
              <a:t>Completas </a:t>
            </a:r>
            <a:r>
              <a:rPr lang="pt-BR" sz="1400" b="0" strike="noStrike" spc="-1">
                <a:solidFill>
                  <a:srgbClr val="990100"/>
                </a:solidFill>
                <a:latin typeface="Trebuchet MS"/>
                <a:ea typeface="DejaVu Sans"/>
              </a:rPr>
              <a:t>e</a:t>
            </a:r>
            <a:r>
              <a:rPr lang="pt-BR" sz="1400" b="0" strike="noStrike" spc="-208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-1">
                <a:solidFill>
                  <a:srgbClr val="990100"/>
                </a:solidFill>
                <a:latin typeface="Trebuchet MS"/>
                <a:ea typeface="DejaVu Sans"/>
              </a:rPr>
              <a:t>Vetores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267" name="CustomShape 2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8" name="CustomShape 3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9" name="CustomShape 4"/>
          <p:cNvSpPr/>
          <p:nvPr/>
        </p:nvSpPr>
        <p:spPr>
          <a:xfrm>
            <a:off x="2345760" y="59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v[0]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70" name="CustomShape 5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1" name="CustomShape 6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2" name="CustomShape 7"/>
          <p:cNvSpPr/>
          <p:nvPr/>
        </p:nvSpPr>
        <p:spPr>
          <a:xfrm>
            <a:off x="1265760" y="113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v[1]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73" name="CustomShape 8"/>
          <p:cNvSpPr/>
          <p:nvPr/>
        </p:nvSpPr>
        <p:spPr>
          <a:xfrm>
            <a:off x="151596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4" name="CustomShape 9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5" name="CustomShape 10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6" name="CustomShape 11"/>
          <p:cNvSpPr/>
          <p:nvPr/>
        </p:nvSpPr>
        <p:spPr>
          <a:xfrm>
            <a:off x="725760" y="167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v[3]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77" name="CustomShape 12"/>
          <p:cNvSpPr/>
          <p:nvPr/>
        </p:nvSpPr>
        <p:spPr>
          <a:xfrm>
            <a:off x="9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8" name="CustomShape 13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9" name="CustomShape 14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0" name="CustomShape 15"/>
          <p:cNvSpPr/>
          <p:nvPr/>
        </p:nvSpPr>
        <p:spPr>
          <a:xfrm>
            <a:off x="455760" y="221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v[7]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81" name="CustomShape 16"/>
          <p:cNvSpPr/>
          <p:nvPr/>
        </p:nvSpPr>
        <p:spPr>
          <a:xfrm>
            <a:off x="62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2" name="CustomShape 17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3" name="CustomShape 18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4" name="CustomShape 19"/>
          <p:cNvSpPr/>
          <p:nvPr/>
        </p:nvSpPr>
        <p:spPr>
          <a:xfrm>
            <a:off x="995760" y="221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v[8]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85" name="CustomShape 20"/>
          <p:cNvSpPr/>
          <p:nvPr/>
        </p:nvSpPr>
        <p:spPr>
          <a:xfrm>
            <a:off x="89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6" name="CustomShape 21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7" name="CustomShape 22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8" name="CustomShape 23"/>
          <p:cNvSpPr/>
          <p:nvPr/>
        </p:nvSpPr>
        <p:spPr>
          <a:xfrm>
            <a:off x="1805760" y="167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v[4]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89" name="CustomShape 24"/>
          <p:cNvSpPr/>
          <p:nvPr/>
        </p:nvSpPr>
        <p:spPr>
          <a:xfrm>
            <a:off x="148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0" name="CustomShape 25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1" name="CustomShape 26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2" name="CustomShape 27"/>
          <p:cNvSpPr/>
          <p:nvPr/>
        </p:nvSpPr>
        <p:spPr>
          <a:xfrm>
            <a:off x="1535760" y="221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v[9]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93" name="CustomShape 28"/>
          <p:cNvSpPr/>
          <p:nvPr/>
        </p:nvSpPr>
        <p:spPr>
          <a:xfrm>
            <a:off x="170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4" name="CustomShape 29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5" name="CustomShape 30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6" name="CustomShape 31"/>
          <p:cNvSpPr/>
          <p:nvPr/>
        </p:nvSpPr>
        <p:spPr>
          <a:xfrm>
            <a:off x="3425760" y="113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v[2]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297" name="CustomShape 32"/>
          <p:cNvSpPr/>
          <p:nvPr/>
        </p:nvSpPr>
        <p:spPr>
          <a:xfrm>
            <a:off x="259560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8" name="CustomShape 33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9" name="CustomShape 34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0" name="CustomShape 35"/>
          <p:cNvSpPr/>
          <p:nvPr/>
        </p:nvSpPr>
        <p:spPr>
          <a:xfrm>
            <a:off x="2885760" y="167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v[5]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301" name="CustomShape 36"/>
          <p:cNvSpPr/>
          <p:nvPr/>
        </p:nvSpPr>
        <p:spPr>
          <a:xfrm>
            <a:off x="310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2" name="CustomShape 37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3" name="CustomShape 38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4" name="CustomShape 39"/>
          <p:cNvSpPr/>
          <p:nvPr/>
        </p:nvSpPr>
        <p:spPr>
          <a:xfrm>
            <a:off x="3965760" y="167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v[6]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305" name="CustomShape 40"/>
          <p:cNvSpPr/>
          <p:nvPr/>
        </p:nvSpPr>
        <p:spPr>
          <a:xfrm>
            <a:off x="36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6" name="CustomShape 41"/>
          <p:cNvSpPr/>
          <p:nvPr/>
        </p:nvSpPr>
        <p:spPr>
          <a:xfrm>
            <a:off x="347400" y="2468880"/>
            <a:ext cx="3718800" cy="807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080" rIns="0" bIns="0"/>
          <a:lstStyle/>
          <a:p>
            <a:pPr marL="12600">
              <a:lnSpc>
                <a:spcPct val="100000"/>
              </a:lnSpc>
              <a:spcBef>
                <a:spcPts val="434"/>
              </a:spcBef>
            </a:pPr>
            <a:r>
              <a:rPr lang="pt-BR" sz="1050" b="0" strike="noStrike" spc="66">
                <a:solidFill>
                  <a:srgbClr val="333333"/>
                </a:solidFill>
                <a:latin typeface="Trebuchet MS"/>
                <a:ea typeface="DejaVu Sans"/>
              </a:rPr>
              <a:t>Em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relação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a</a:t>
            </a:r>
            <a:r>
              <a:rPr lang="pt-BR" sz="1050" b="0" strike="noStrike" spc="-111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1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v[i]</a:t>
            </a:r>
            <a:r>
              <a:rPr lang="pt-BR" sz="1050" b="0" strike="noStrike" spc="-83">
                <a:solidFill>
                  <a:srgbClr val="333333"/>
                </a:solidFill>
                <a:latin typeface="Trebuchet MS"/>
                <a:ea typeface="DejaVu Sans"/>
              </a:rPr>
              <a:t>:</a:t>
            </a:r>
            <a:endParaRPr lang="pt-BR" sz="1050" b="0" strike="noStrike" spc="-1">
              <a:latin typeface="Spranq eco sans"/>
            </a:endParaRPr>
          </a:p>
          <a:p>
            <a:pPr marL="289440" indent="-137520">
              <a:lnSpc>
                <a:spcPct val="100000"/>
              </a:lnSpc>
              <a:spcBef>
                <a:spcPts val="334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ﬁlho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esquerdo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1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v[2*i+1]</a:t>
            </a:r>
            <a:r>
              <a:rPr lang="pt-BR" sz="1100" b="0" strike="noStrike" spc="-352">
                <a:solidFill>
                  <a:srgbClr val="B90504"/>
                </a:solidFill>
                <a:latin typeface="Courier New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e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ﬁlho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direito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1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v[2*i+2]</a:t>
            </a:r>
            <a:endParaRPr lang="pt-BR" sz="1100" b="0" strike="noStrike" spc="-1">
              <a:latin typeface="Spranq eco sans"/>
            </a:endParaRPr>
          </a:p>
          <a:p>
            <a:pPr marL="289440" indent="-137520">
              <a:lnSpc>
                <a:spcPct val="100000"/>
              </a:lnSpc>
              <a:spcBef>
                <a:spcPts val="329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pai é</a:t>
            </a:r>
            <a:r>
              <a:rPr lang="pt-BR" sz="1050" b="0" strike="noStrike" spc="-111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1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v[(i-1)/2]</a:t>
            </a:r>
            <a:endParaRPr lang="pt-BR" sz="1100" b="0" strike="noStrike" spc="-1">
              <a:latin typeface="Spranq eco sans"/>
            </a:endParaRPr>
          </a:p>
        </p:txBody>
      </p:sp>
      <p:sp>
        <p:nvSpPr>
          <p:cNvPr id="307" name="CustomShape 42"/>
          <p:cNvSpPr/>
          <p:nvPr/>
        </p:nvSpPr>
        <p:spPr>
          <a:xfrm>
            <a:off x="2302200" y="3300120"/>
            <a:ext cx="10368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2556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8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CustomShape 1"/>
          <p:cNvSpPr/>
          <p:nvPr/>
        </p:nvSpPr>
        <p:spPr>
          <a:xfrm>
            <a:off x="131400" y="59040"/>
            <a:ext cx="159660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63">
                <a:solidFill>
                  <a:srgbClr val="990100"/>
                </a:solidFill>
                <a:latin typeface="Trebuchet MS"/>
                <a:ea typeface="DejaVu Sans"/>
              </a:rPr>
              <a:t>Max-Heap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309" name="CustomShape 2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0" name="CustomShape 3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1" name="CustomShape 4"/>
          <p:cNvSpPr/>
          <p:nvPr/>
        </p:nvSpPr>
        <p:spPr>
          <a:xfrm>
            <a:off x="2345760" y="59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v[0]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312" name="CustomShape 5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3" name="CustomShape 6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4" name="CustomShape 7"/>
          <p:cNvSpPr/>
          <p:nvPr/>
        </p:nvSpPr>
        <p:spPr>
          <a:xfrm>
            <a:off x="1265760" y="113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v[1]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315" name="CustomShape 8"/>
          <p:cNvSpPr/>
          <p:nvPr/>
        </p:nvSpPr>
        <p:spPr>
          <a:xfrm>
            <a:off x="151596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6" name="CustomShape 9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7" name="CustomShape 10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8" name="CustomShape 11"/>
          <p:cNvSpPr/>
          <p:nvPr/>
        </p:nvSpPr>
        <p:spPr>
          <a:xfrm>
            <a:off x="725760" y="167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v[3]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319" name="CustomShape 12"/>
          <p:cNvSpPr/>
          <p:nvPr/>
        </p:nvSpPr>
        <p:spPr>
          <a:xfrm>
            <a:off x="9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0" name="CustomShape 13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1" name="CustomShape 14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2" name="CustomShape 15"/>
          <p:cNvSpPr/>
          <p:nvPr/>
        </p:nvSpPr>
        <p:spPr>
          <a:xfrm>
            <a:off x="455760" y="221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v[7]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323" name="CustomShape 16"/>
          <p:cNvSpPr/>
          <p:nvPr/>
        </p:nvSpPr>
        <p:spPr>
          <a:xfrm>
            <a:off x="62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4" name="CustomShape 17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5" name="CustomShape 18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6" name="CustomShape 19"/>
          <p:cNvSpPr/>
          <p:nvPr/>
        </p:nvSpPr>
        <p:spPr>
          <a:xfrm>
            <a:off x="995760" y="221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v[8]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327" name="CustomShape 20"/>
          <p:cNvSpPr/>
          <p:nvPr/>
        </p:nvSpPr>
        <p:spPr>
          <a:xfrm>
            <a:off x="89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8" name="CustomShape 21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9" name="CustomShape 22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0" name="CustomShape 23"/>
          <p:cNvSpPr/>
          <p:nvPr/>
        </p:nvSpPr>
        <p:spPr>
          <a:xfrm>
            <a:off x="1805760" y="167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v[4]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331" name="CustomShape 24"/>
          <p:cNvSpPr/>
          <p:nvPr/>
        </p:nvSpPr>
        <p:spPr>
          <a:xfrm>
            <a:off x="148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2" name="CustomShape 25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3" name="CustomShape 26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4" name="CustomShape 27"/>
          <p:cNvSpPr/>
          <p:nvPr/>
        </p:nvSpPr>
        <p:spPr>
          <a:xfrm>
            <a:off x="1535760" y="221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v[9]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335" name="CustomShape 28"/>
          <p:cNvSpPr/>
          <p:nvPr/>
        </p:nvSpPr>
        <p:spPr>
          <a:xfrm>
            <a:off x="170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6" name="CustomShape 29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7" name="CustomShape 30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8" name="CustomShape 31"/>
          <p:cNvSpPr/>
          <p:nvPr/>
        </p:nvSpPr>
        <p:spPr>
          <a:xfrm>
            <a:off x="3425760" y="113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v[2]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339" name="CustomShape 32"/>
          <p:cNvSpPr/>
          <p:nvPr/>
        </p:nvSpPr>
        <p:spPr>
          <a:xfrm>
            <a:off x="259560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0" name="CustomShape 33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1" name="CustomShape 34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2" name="CustomShape 35"/>
          <p:cNvSpPr/>
          <p:nvPr/>
        </p:nvSpPr>
        <p:spPr>
          <a:xfrm>
            <a:off x="2885760" y="167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v[5]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343" name="CustomShape 36"/>
          <p:cNvSpPr/>
          <p:nvPr/>
        </p:nvSpPr>
        <p:spPr>
          <a:xfrm>
            <a:off x="310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4" name="CustomShape 37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5" name="CustomShape 38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6" name="CustomShape 39"/>
          <p:cNvSpPr/>
          <p:nvPr/>
        </p:nvSpPr>
        <p:spPr>
          <a:xfrm>
            <a:off x="3965760" y="1677960"/>
            <a:ext cx="185760" cy="1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600" b="0" strike="noStrike" spc="-38">
                <a:solidFill>
                  <a:srgbClr val="333333"/>
                </a:solidFill>
                <a:latin typeface="Courier New"/>
                <a:ea typeface="DejaVu Sans"/>
              </a:rPr>
              <a:t>v[6]</a:t>
            </a:r>
            <a:endParaRPr lang="pt-BR" sz="600" b="0" strike="noStrike" spc="-1">
              <a:latin typeface="Spranq eco sans"/>
            </a:endParaRPr>
          </a:p>
        </p:txBody>
      </p:sp>
      <p:sp>
        <p:nvSpPr>
          <p:cNvPr id="347" name="CustomShape 40"/>
          <p:cNvSpPr/>
          <p:nvPr/>
        </p:nvSpPr>
        <p:spPr>
          <a:xfrm>
            <a:off x="36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8" name="CustomShape 41"/>
          <p:cNvSpPr/>
          <p:nvPr/>
        </p:nvSpPr>
        <p:spPr>
          <a:xfrm>
            <a:off x="347400" y="2627640"/>
            <a:ext cx="3540600" cy="835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800" rIns="0" bIns="0"/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pt-BR" sz="1050" b="0" strike="noStrike" spc="66">
                <a:solidFill>
                  <a:srgbClr val="333333"/>
                </a:solidFill>
                <a:latin typeface="Trebuchet MS"/>
                <a:ea typeface="DejaVu Sans"/>
              </a:rPr>
              <a:t>Em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um </a:t>
            </a:r>
            <a:r>
              <a:rPr lang="pt-BR" sz="1050" b="0" strike="noStrike" spc="43">
                <a:solidFill>
                  <a:srgbClr val="333333"/>
                </a:solidFill>
                <a:latin typeface="Trebuchet MS"/>
                <a:ea typeface="DejaVu Sans"/>
              </a:rPr>
              <a:t>Heap 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(de</a:t>
            </a:r>
            <a:r>
              <a:rPr lang="pt-BR" sz="1050" b="0" strike="noStrike" spc="-216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máximo):</a:t>
            </a:r>
            <a:endParaRPr lang="pt-BR" sz="1050" b="0" strike="noStrike" spc="-1">
              <a:latin typeface="Spranq eco sans"/>
            </a:endParaRPr>
          </a:p>
          <a:p>
            <a:pPr marL="151200">
              <a:lnSpc>
                <a:spcPct val="100000"/>
              </a:lnSpc>
              <a:spcBef>
                <a:spcPts val="391"/>
              </a:spcBef>
            </a:pPr>
            <a:r>
              <a:rPr lang="pt-BR" sz="1100" b="0" strike="noStrike" spc="-97">
                <a:solidFill>
                  <a:srgbClr val="333333"/>
                </a:solidFill>
                <a:latin typeface="DejaVu Serif"/>
                <a:ea typeface="DejaVu Sans"/>
              </a:rPr>
              <a:t>•</a:t>
            </a:r>
            <a:r>
              <a:rPr lang="pt-BR" sz="1100" b="0" strike="noStrike" spc="-52">
                <a:solidFill>
                  <a:srgbClr val="333333"/>
                </a:solidFill>
                <a:latin typeface="DejaVu Serif"/>
                <a:ea typeface="DejaVu Sans"/>
              </a:rPr>
              <a:t> </a:t>
            </a:r>
            <a:r>
              <a:rPr lang="pt-BR" sz="1050" b="0" strike="noStrike" spc="106">
                <a:solidFill>
                  <a:srgbClr val="333333"/>
                </a:solidFill>
                <a:latin typeface="Trebuchet MS"/>
                <a:ea typeface="DejaVu Sans"/>
              </a:rPr>
              <a:t>Os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ﬁlhos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63">
                <a:solidFill>
                  <a:srgbClr val="333333"/>
                </a:solidFill>
                <a:latin typeface="Trebuchet MS"/>
                <a:ea typeface="DejaVu Sans"/>
              </a:rPr>
              <a:t>são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menores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ou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8">
                <a:solidFill>
                  <a:srgbClr val="333333"/>
                </a:solidFill>
                <a:latin typeface="Trebuchet MS"/>
                <a:ea typeface="DejaVu Sans"/>
              </a:rPr>
              <a:t>iguais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ao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pai</a:t>
            </a:r>
            <a:endParaRPr lang="pt-BR" sz="1050" b="0" strike="noStrike" spc="-1">
              <a:latin typeface="Spranq eco sans"/>
            </a:endParaRPr>
          </a:p>
          <a:p>
            <a:pPr marL="151200">
              <a:lnSpc>
                <a:spcPct val="100000"/>
              </a:lnSpc>
              <a:spcBef>
                <a:spcPts val="394"/>
              </a:spcBef>
            </a:pPr>
            <a:r>
              <a:rPr lang="pt-BR" sz="1100" b="0" strike="noStrike" spc="-97">
                <a:solidFill>
                  <a:srgbClr val="333333"/>
                </a:solidFill>
                <a:latin typeface="DejaVu Serif"/>
                <a:ea typeface="DejaVu Sans"/>
              </a:rPr>
              <a:t>• </a:t>
            </a:r>
            <a:r>
              <a:rPr lang="pt-BR" sz="1050" b="0" strike="noStrike" spc="63">
                <a:solidFill>
                  <a:srgbClr val="333333"/>
                </a:solidFill>
                <a:latin typeface="Trebuchet MS"/>
                <a:ea typeface="DejaVu Sans"/>
              </a:rPr>
              <a:t>Ou 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seja,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a 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raiz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123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máximo</a:t>
            </a:r>
            <a:endParaRPr lang="pt-BR" sz="1050" b="0" strike="noStrike" spc="-1">
              <a:latin typeface="Spranq eco sans"/>
            </a:endParaRPr>
          </a:p>
          <a:p>
            <a:pPr marL="151200" algn="r">
              <a:lnSpc>
                <a:spcPct val="100000"/>
              </a:lnSpc>
              <a:spcBef>
                <a:spcPts val="859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9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CustomShape 1"/>
          <p:cNvSpPr/>
          <p:nvPr/>
        </p:nvSpPr>
        <p:spPr>
          <a:xfrm>
            <a:off x="131400" y="59040"/>
            <a:ext cx="145260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63">
                <a:solidFill>
                  <a:srgbClr val="990100"/>
                </a:solidFill>
                <a:latin typeface="Trebuchet MS"/>
                <a:ea typeface="DejaVu Sans"/>
              </a:rPr>
              <a:t>Max-Heap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350" name="CustomShape 2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1" name="CustomShape 3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2" name="CustomShape 4"/>
          <p:cNvSpPr/>
          <p:nvPr/>
        </p:nvSpPr>
        <p:spPr>
          <a:xfrm>
            <a:off x="2372400" y="58032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10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353" name="CustomShape 5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4" name="CustomShape 6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5" name="CustomShape 7"/>
          <p:cNvSpPr/>
          <p:nvPr/>
        </p:nvSpPr>
        <p:spPr>
          <a:xfrm>
            <a:off x="1319400" y="112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9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356" name="CustomShape 8"/>
          <p:cNvSpPr/>
          <p:nvPr/>
        </p:nvSpPr>
        <p:spPr>
          <a:xfrm>
            <a:off x="151596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7" name="CustomShape 9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8" name="CustomShape 10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9" name="CustomShape 11"/>
          <p:cNvSpPr/>
          <p:nvPr/>
        </p:nvSpPr>
        <p:spPr>
          <a:xfrm>
            <a:off x="779400" y="16606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7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360" name="CustomShape 12"/>
          <p:cNvSpPr/>
          <p:nvPr/>
        </p:nvSpPr>
        <p:spPr>
          <a:xfrm>
            <a:off x="9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1" name="CustomShape 13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2" name="CustomShape 14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3" name="CustomShape 15"/>
          <p:cNvSpPr/>
          <p:nvPr/>
        </p:nvSpPr>
        <p:spPr>
          <a:xfrm>
            <a:off x="509400" y="220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364" name="CustomShape 16"/>
          <p:cNvSpPr/>
          <p:nvPr/>
        </p:nvSpPr>
        <p:spPr>
          <a:xfrm>
            <a:off x="62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5" name="CustomShape 17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6" name="CustomShape 18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7" name="CustomShape 19"/>
          <p:cNvSpPr/>
          <p:nvPr/>
        </p:nvSpPr>
        <p:spPr>
          <a:xfrm>
            <a:off x="1049400" y="220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368" name="CustomShape 20"/>
          <p:cNvSpPr/>
          <p:nvPr/>
        </p:nvSpPr>
        <p:spPr>
          <a:xfrm>
            <a:off x="89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9" name="CustomShape 21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0" name="CustomShape 22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1" name="CustomShape 23"/>
          <p:cNvSpPr/>
          <p:nvPr/>
        </p:nvSpPr>
        <p:spPr>
          <a:xfrm>
            <a:off x="1859400" y="166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8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372" name="CustomShape 24"/>
          <p:cNvSpPr/>
          <p:nvPr/>
        </p:nvSpPr>
        <p:spPr>
          <a:xfrm>
            <a:off x="148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3" name="CustomShape 25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4" name="CustomShape 26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5" name="CustomShape 27"/>
          <p:cNvSpPr/>
          <p:nvPr/>
        </p:nvSpPr>
        <p:spPr>
          <a:xfrm>
            <a:off x="1589400" y="219996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376" name="CustomShape 28"/>
          <p:cNvSpPr/>
          <p:nvPr/>
        </p:nvSpPr>
        <p:spPr>
          <a:xfrm>
            <a:off x="170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9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8" name="CustomShape 30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9" name="CustomShape 31"/>
          <p:cNvSpPr/>
          <p:nvPr/>
        </p:nvSpPr>
        <p:spPr>
          <a:xfrm>
            <a:off x="3479400" y="112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4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380" name="CustomShape 32"/>
          <p:cNvSpPr/>
          <p:nvPr/>
        </p:nvSpPr>
        <p:spPr>
          <a:xfrm>
            <a:off x="259560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1" name="CustomShape 33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2" name="CustomShape 34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3" name="CustomShape 35"/>
          <p:cNvSpPr/>
          <p:nvPr/>
        </p:nvSpPr>
        <p:spPr>
          <a:xfrm>
            <a:off x="2939400" y="166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3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384" name="CustomShape 36"/>
          <p:cNvSpPr/>
          <p:nvPr/>
        </p:nvSpPr>
        <p:spPr>
          <a:xfrm>
            <a:off x="310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5" name="CustomShape 37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6" name="CustomShape 38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7" name="CustomShape 39"/>
          <p:cNvSpPr/>
          <p:nvPr/>
        </p:nvSpPr>
        <p:spPr>
          <a:xfrm>
            <a:off x="4019400" y="166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2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388" name="CustomShape 40"/>
          <p:cNvSpPr/>
          <p:nvPr/>
        </p:nvSpPr>
        <p:spPr>
          <a:xfrm>
            <a:off x="36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9" name="CustomShape 41"/>
          <p:cNvSpPr/>
          <p:nvPr/>
        </p:nvSpPr>
        <p:spPr>
          <a:xfrm>
            <a:off x="347400" y="2627640"/>
            <a:ext cx="3468600" cy="835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800" rIns="0" bIns="0"/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pt-BR" sz="1050" b="0" strike="noStrike" spc="66">
                <a:solidFill>
                  <a:srgbClr val="333333"/>
                </a:solidFill>
                <a:latin typeface="Trebuchet MS"/>
                <a:ea typeface="DejaVu Sans"/>
              </a:rPr>
              <a:t>Em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um </a:t>
            </a:r>
            <a:r>
              <a:rPr lang="pt-BR" sz="1050" b="0" strike="noStrike" spc="43">
                <a:solidFill>
                  <a:srgbClr val="333333"/>
                </a:solidFill>
                <a:latin typeface="Trebuchet MS"/>
                <a:ea typeface="DejaVu Sans"/>
              </a:rPr>
              <a:t>Heap 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(de</a:t>
            </a:r>
            <a:r>
              <a:rPr lang="pt-BR" sz="1050" b="0" strike="noStrike" spc="-216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máximo):</a:t>
            </a:r>
            <a:endParaRPr lang="pt-BR" sz="1050" b="0" strike="noStrike" spc="-1">
              <a:latin typeface="Spranq eco sans"/>
            </a:endParaRPr>
          </a:p>
          <a:p>
            <a:pPr marL="151200">
              <a:lnSpc>
                <a:spcPct val="100000"/>
              </a:lnSpc>
              <a:spcBef>
                <a:spcPts val="391"/>
              </a:spcBef>
            </a:pPr>
            <a:r>
              <a:rPr lang="pt-BR" sz="1100" b="0" strike="noStrike" spc="-97">
                <a:solidFill>
                  <a:srgbClr val="333333"/>
                </a:solidFill>
                <a:latin typeface="DejaVu Serif"/>
                <a:ea typeface="DejaVu Sans"/>
              </a:rPr>
              <a:t>•</a:t>
            </a:r>
            <a:r>
              <a:rPr lang="pt-BR" sz="1100" b="0" strike="noStrike" spc="-52">
                <a:solidFill>
                  <a:srgbClr val="333333"/>
                </a:solidFill>
                <a:latin typeface="DejaVu Serif"/>
                <a:ea typeface="DejaVu Sans"/>
              </a:rPr>
              <a:t> </a:t>
            </a:r>
            <a:r>
              <a:rPr lang="pt-BR" sz="1050" b="0" strike="noStrike" spc="106">
                <a:solidFill>
                  <a:srgbClr val="333333"/>
                </a:solidFill>
                <a:latin typeface="Trebuchet MS"/>
                <a:ea typeface="DejaVu Sans"/>
              </a:rPr>
              <a:t>Os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ﬁlhos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63">
                <a:solidFill>
                  <a:srgbClr val="333333"/>
                </a:solidFill>
                <a:latin typeface="Trebuchet MS"/>
                <a:ea typeface="DejaVu Sans"/>
              </a:rPr>
              <a:t>são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menores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ou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8">
                <a:solidFill>
                  <a:srgbClr val="333333"/>
                </a:solidFill>
                <a:latin typeface="Trebuchet MS"/>
                <a:ea typeface="DejaVu Sans"/>
              </a:rPr>
              <a:t>iguais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ao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pai</a:t>
            </a:r>
            <a:endParaRPr lang="pt-BR" sz="1050" b="0" strike="noStrike" spc="-1">
              <a:latin typeface="Spranq eco sans"/>
            </a:endParaRPr>
          </a:p>
          <a:p>
            <a:pPr marL="151200">
              <a:lnSpc>
                <a:spcPct val="100000"/>
              </a:lnSpc>
              <a:spcBef>
                <a:spcPts val="394"/>
              </a:spcBef>
            </a:pPr>
            <a:r>
              <a:rPr lang="pt-BR" sz="1100" b="0" strike="noStrike" spc="-97">
                <a:solidFill>
                  <a:srgbClr val="333333"/>
                </a:solidFill>
                <a:latin typeface="DejaVu Serif"/>
                <a:ea typeface="DejaVu Sans"/>
              </a:rPr>
              <a:t>• </a:t>
            </a:r>
            <a:r>
              <a:rPr lang="pt-BR" sz="1050" b="0" strike="noStrike" spc="63">
                <a:solidFill>
                  <a:srgbClr val="333333"/>
                </a:solidFill>
                <a:latin typeface="Trebuchet MS"/>
                <a:ea typeface="DejaVu Sans"/>
              </a:rPr>
              <a:t>Ou 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seja,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a 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raiz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123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máximo</a:t>
            </a:r>
            <a:endParaRPr lang="pt-BR" sz="1050" b="0" strike="noStrike" spc="-1">
              <a:latin typeface="Spranq eco sans"/>
            </a:endParaRPr>
          </a:p>
          <a:p>
            <a:pPr marL="151200" algn="r">
              <a:lnSpc>
                <a:spcPct val="100000"/>
              </a:lnSpc>
              <a:spcBef>
                <a:spcPts val="859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10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CustomShape 1"/>
          <p:cNvSpPr/>
          <p:nvPr/>
        </p:nvSpPr>
        <p:spPr>
          <a:xfrm>
            <a:off x="131400" y="59040"/>
            <a:ext cx="138060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63">
                <a:solidFill>
                  <a:srgbClr val="990100"/>
                </a:solidFill>
                <a:latin typeface="Trebuchet MS"/>
                <a:ea typeface="DejaVu Sans"/>
              </a:rPr>
              <a:t>Max-Heap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391" name="CustomShape 2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2" name="CustomShape 3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3" name="CustomShape 4"/>
          <p:cNvSpPr/>
          <p:nvPr/>
        </p:nvSpPr>
        <p:spPr>
          <a:xfrm>
            <a:off x="2372400" y="58032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10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394" name="CustomShape 5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5" name="CustomShape 6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6" name="CustomShape 7"/>
          <p:cNvSpPr/>
          <p:nvPr/>
        </p:nvSpPr>
        <p:spPr>
          <a:xfrm>
            <a:off x="1319400" y="112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9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397" name="CustomShape 8"/>
          <p:cNvSpPr/>
          <p:nvPr/>
        </p:nvSpPr>
        <p:spPr>
          <a:xfrm>
            <a:off x="151596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8" name="CustomShape 9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9" name="CustomShape 10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0" name="CustomShape 11"/>
          <p:cNvSpPr/>
          <p:nvPr/>
        </p:nvSpPr>
        <p:spPr>
          <a:xfrm>
            <a:off x="779400" y="16606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7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01" name="CustomShape 12"/>
          <p:cNvSpPr/>
          <p:nvPr/>
        </p:nvSpPr>
        <p:spPr>
          <a:xfrm>
            <a:off x="9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2" name="CustomShape 13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3" name="CustomShape 14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4" name="CustomShape 15"/>
          <p:cNvSpPr/>
          <p:nvPr/>
        </p:nvSpPr>
        <p:spPr>
          <a:xfrm>
            <a:off x="509400" y="220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05" name="CustomShape 16"/>
          <p:cNvSpPr/>
          <p:nvPr/>
        </p:nvSpPr>
        <p:spPr>
          <a:xfrm>
            <a:off x="62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6" name="CustomShape 17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7" name="CustomShape 18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8" name="CustomShape 19"/>
          <p:cNvSpPr/>
          <p:nvPr/>
        </p:nvSpPr>
        <p:spPr>
          <a:xfrm>
            <a:off x="1049400" y="220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09" name="CustomShape 20"/>
          <p:cNvSpPr/>
          <p:nvPr/>
        </p:nvSpPr>
        <p:spPr>
          <a:xfrm>
            <a:off x="89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0" name="CustomShape 21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1" name="CustomShape 22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2" name="CustomShape 23"/>
          <p:cNvSpPr/>
          <p:nvPr/>
        </p:nvSpPr>
        <p:spPr>
          <a:xfrm>
            <a:off x="1859400" y="166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8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13" name="CustomShape 24"/>
          <p:cNvSpPr/>
          <p:nvPr/>
        </p:nvSpPr>
        <p:spPr>
          <a:xfrm>
            <a:off x="148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4" name="CustomShape 25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5" name="CustomShape 26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6" name="CustomShape 27"/>
          <p:cNvSpPr/>
          <p:nvPr/>
        </p:nvSpPr>
        <p:spPr>
          <a:xfrm>
            <a:off x="1589400" y="219996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17" name="CustomShape 28"/>
          <p:cNvSpPr/>
          <p:nvPr/>
        </p:nvSpPr>
        <p:spPr>
          <a:xfrm>
            <a:off x="170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8" name="CustomShape 29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9" name="CustomShape 30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0" name="CustomShape 31"/>
          <p:cNvSpPr/>
          <p:nvPr/>
        </p:nvSpPr>
        <p:spPr>
          <a:xfrm>
            <a:off x="3479400" y="112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4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21" name="CustomShape 32"/>
          <p:cNvSpPr/>
          <p:nvPr/>
        </p:nvSpPr>
        <p:spPr>
          <a:xfrm>
            <a:off x="259560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2" name="CustomShape 33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3" name="CustomShape 34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4" name="CustomShape 35"/>
          <p:cNvSpPr/>
          <p:nvPr/>
        </p:nvSpPr>
        <p:spPr>
          <a:xfrm>
            <a:off x="2939400" y="166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3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25" name="CustomShape 36"/>
          <p:cNvSpPr/>
          <p:nvPr/>
        </p:nvSpPr>
        <p:spPr>
          <a:xfrm>
            <a:off x="310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6" name="CustomShape 37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7" name="CustomShape 38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8" name="CustomShape 39"/>
          <p:cNvSpPr/>
          <p:nvPr/>
        </p:nvSpPr>
        <p:spPr>
          <a:xfrm>
            <a:off x="4019400" y="166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2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29" name="CustomShape 40"/>
          <p:cNvSpPr/>
          <p:nvPr/>
        </p:nvSpPr>
        <p:spPr>
          <a:xfrm>
            <a:off x="36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0" name="CustomShape 41"/>
          <p:cNvSpPr/>
          <p:nvPr/>
        </p:nvSpPr>
        <p:spPr>
          <a:xfrm>
            <a:off x="347400" y="2577600"/>
            <a:ext cx="3972600" cy="43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0840" rIns="0" bIns="0"/>
          <a:lstStyle/>
          <a:p>
            <a:pPr marL="12600">
              <a:lnSpc>
                <a:spcPct val="100000"/>
              </a:lnSpc>
              <a:spcBef>
                <a:spcPts val="479"/>
              </a:spcBef>
            </a:pPr>
            <a:r>
              <a:rPr lang="pt-BR" sz="1050" b="0" strike="noStrike" spc="18">
                <a:solidFill>
                  <a:srgbClr val="333333"/>
                </a:solidFill>
                <a:latin typeface="Trebuchet MS"/>
                <a:ea typeface="DejaVu Sans"/>
              </a:rPr>
              <a:t>Note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que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2">
                <a:solidFill>
                  <a:srgbClr val="B90504"/>
                </a:solidFill>
                <a:latin typeface="Trebuchet MS"/>
                <a:ea typeface="DejaVu Sans"/>
              </a:rPr>
              <a:t>não</a:t>
            </a:r>
            <a:r>
              <a:rPr lang="pt-BR" sz="1050" b="0" strike="noStrike" spc="-7">
                <a:solidFill>
                  <a:srgbClr val="B90504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uma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árvore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binária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de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busca!</a:t>
            </a:r>
            <a:endParaRPr lang="pt-BR" sz="1050" b="0" strike="noStrike" spc="-1">
              <a:latin typeface="Spranq eco sans"/>
            </a:endParaRPr>
          </a:p>
          <a:p>
            <a:pPr marL="289440" indent="-137520">
              <a:lnSpc>
                <a:spcPct val="100000"/>
              </a:lnSpc>
              <a:spcBef>
                <a:spcPts val="394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50" b="0" strike="noStrike" spc="92">
                <a:solidFill>
                  <a:srgbClr val="333333"/>
                </a:solidFill>
                <a:latin typeface="Trebuchet MS"/>
                <a:ea typeface="DejaVu Sans"/>
              </a:rPr>
              <a:t>E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77">
                <a:solidFill>
                  <a:srgbClr val="333333"/>
                </a:solidFill>
                <a:latin typeface="Trebuchet MS"/>
                <a:ea typeface="DejaVu Sans"/>
              </a:rPr>
              <a:t>os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8">
                <a:solidFill>
                  <a:srgbClr val="333333"/>
                </a:solidFill>
                <a:latin typeface="Trebuchet MS"/>
                <a:ea typeface="DejaVu Sans"/>
              </a:rPr>
              <a:t>dados</a:t>
            </a:r>
            <a:r>
              <a:rPr lang="pt-BR" sz="105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8">
                <a:solidFill>
                  <a:srgbClr val="333333"/>
                </a:solidFill>
                <a:latin typeface="Trebuchet MS"/>
                <a:ea typeface="DejaVu Sans"/>
              </a:rPr>
              <a:t>estão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bem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menos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estruturados</a:t>
            </a:r>
            <a:endParaRPr lang="pt-BR" sz="1050" b="0" strike="noStrike" spc="-1">
              <a:latin typeface="Spranq eco sans"/>
            </a:endParaRPr>
          </a:p>
        </p:txBody>
      </p:sp>
      <p:sp>
        <p:nvSpPr>
          <p:cNvPr id="431" name="CustomShape 42"/>
          <p:cNvSpPr/>
          <p:nvPr/>
        </p:nvSpPr>
        <p:spPr>
          <a:xfrm>
            <a:off x="486000" y="3047760"/>
            <a:ext cx="3690000" cy="408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800" rIns="0" bIns="0"/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pt-BR" sz="1100" b="0" strike="noStrike" spc="-97">
                <a:solidFill>
                  <a:srgbClr val="333333"/>
                </a:solidFill>
                <a:latin typeface="DejaVu Serif"/>
                <a:ea typeface="DejaVu Sans"/>
              </a:rPr>
              <a:t>•</a:t>
            </a:r>
            <a:r>
              <a:rPr lang="pt-BR" sz="1100" b="0" strike="noStrike" spc="-151">
                <a:solidFill>
                  <a:srgbClr val="333333"/>
                </a:solidFill>
                <a:latin typeface="DejaVu Serif"/>
                <a:ea typeface="DejaVu Sans"/>
              </a:rPr>
              <a:t>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pois estamos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interessados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apenas no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máximo</a:t>
            </a:r>
            <a:endParaRPr lang="pt-BR" sz="1050" b="0" strike="noStrike" spc="-1">
              <a:latin typeface="Spranq eco sans"/>
            </a:endParaRPr>
          </a:p>
          <a:p>
            <a:pPr marL="701640" algn="ctr">
              <a:lnSpc>
                <a:spcPct val="100000"/>
              </a:lnSpc>
              <a:spcBef>
                <a:spcPts val="859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11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CustomShape 1"/>
          <p:cNvSpPr/>
          <p:nvPr/>
        </p:nvSpPr>
        <p:spPr>
          <a:xfrm>
            <a:off x="131400" y="59040"/>
            <a:ext cx="296460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7">
                <a:solidFill>
                  <a:srgbClr val="990100"/>
                </a:solidFill>
                <a:latin typeface="Trebuchet MS"/>
                <a:ea typeface="DejaVu Sans"/>
              </a:rPr>
              <a:t>Inserindo </a:t>
            </a:r>
            <a:r>
              <a:rPr lang="pt-BR" sz="1400" b="0" strike="noStrike" spc="38">
                <a:solidFill>
                  <a:srgbClr val="990100"/>
                </a:solidFill>
                <a:latin typeface="Trebuchet MS"/>
                <a:ea typeface="DejaVu Sans"/>
              </a:rPr>
              <a:t>no</a:t>
            </a:r>
            <a:r>
              <a:rPr lang="pt-BR" sz="1400" b="0" strike="noStrike" spc="-83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43">
                <a:solidFill>
                  <a:srgbClr val="990100"/>
                </a:solidFill>
                <a:latin typeface="Trebuchet MS"/>
                <a:ea typeface="DejaVu Sans"/>
              </a:rPr>
              <a:t>Heap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433" name="CustomShape 2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4" name="CustomShape 3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5" name="CustomShape 4"/>
          <p:cNvSpPr/>
          <p:nvPr/>
        </p:nvSpPr>
        <p:spPr>
          <a:xfrm>
            <a:off x="2372400" y="58032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10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36" name="CustomShape 5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7" name="CustomShape 6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8" name="CustomShape 7"/>
          <p:cNvSpPr/>
          <p:nvPr/>
        </p:nvSpPr>
        <p:spPr>
          <a:xfrm>
            <a:off x="1319400" y="112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9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39" name="CustomShape 8"/>
          <p:cNvSpPr/>
          <p:nvPr/>
        </p:nvSpPr>
        <p:spPr>
          <a:xfrm>
            <a:off x="151596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0" name="CustomShape 9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1" name="CustomShape 10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2" name="CustomShape 11"/>
          <p:cNvSpPr/>
          <p:nvPr/>
        </p:nvSpPr>
        <p:spPr>
          <a:xfrm>
            <a:off x="779400" y="16606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7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43" name="CustomShape 12"/>
          <p:cNvSpPr/>
          <p:nvPr/>
        </p:nvSpPr>
        <p:spPr>
          <a:xfrm>
            <a:off x="9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4" name="CustomShape 13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5" name="CustomShape 14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6" name="CustomShape 15"/>
          <p:cNvSpPr/>
          <p:nvPr/>
        </p:nvSpPr>
        <p:spPr>
          <a:xfrm>
            <a:off x="509400" y="220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47" name="CustomShape 16"/>
          <p:cNvSpPr/>
          <p:nvPr/>
        </p:nvSpPr>
        <p:spPr>
          <a:xfrm>
            <a:off x="62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8" name="CustomShape 17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9" name="CustomShape 18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0" name="CustomShape 19"/>
          <p:cNvSpPr/>
          <p:nvPr/>
        </p:nvSpPr>
        <p:spPr>
          <a:xfrm>
            <a:off x="1049400" y="220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51" name="CustomShape 20"/>
          <p:cNvSpPr/>
          <p:nvPr/>
        </p:nvSpPr>
        <p:spPr>
          <a:xfrm>
            <a:off x="89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2" name="CustomShape 21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3" name="CustomShape 22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4" name="CustomShape 23"/>
          <p:cNvSpPr/>
          <p:nvPr/>
        </p:nvSpPr>
        <p:spPr>
          <a:xfrm>
            <a:off x="1859400" y="166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8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55" name="CustomShape 24"/>
          <p:cNvSpPr/>
          <p:nvPr/>
        </p:nvSpPr>
        <p:spPr>
          <a:xfrm>
            <a:off x="148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6" name="CustomShape 25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7" name="CustomShape 26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8" name="CustomShape 27"/>
          <p:cNvSpPr/>
          <p:nvPr/>
        </p:nvSpPr>
        <p:spPr>
          <a:xfrm>
            <a:off x="1589400" y="219996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59" name="CustomShape 28"/>
          <p:cNvSpPr/>
          <p:nvPr/>
        </p:nvSpPr>
        <p:spPr>
          <a:xfrm>
            <a:off x="170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0" name="CustomShape 29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1" name="CustomShape 30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2" name="CustomShape 31"/>
          <p:cNvSpPr/>
          <p:nvPr/>
        </p:nvSpPr>
        <p:spPr>
          <a:xfrm>
            <a:off x="3479400" y="112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4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63" name="CustomShape 32"/>
          <p:cNvSpPr/>
          <p:nvPr/>
        </p:nvSpPr>
        <p:spPr>
          <a:xfrm>
            <a:off x="259560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4" name="CustomShape 33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5" name="CustomShape 34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6" name="CustomShape 35"/>
          <p:cNvSpPr/>
          <p:nvPr/>
        </p:nvSpPr>
        <p:spPr>
          <a:xfrm>
            <a:off x="2939400" y="166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3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67" name="CustomShape 36"/>
          <p:cNvSpPr/>
          <p:nvPr/>
        </p:nvSpPr>
        <p:spPr>
          <a:xfrm>
            <a:off x="310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8" name="CustomShape 37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9" name="CustomShape 38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0" name="CustomShape 39"/>
          <p:cNvSpPr/>
          <p:nvPr/>
        </p:nvSpPr>
        <p:spPr>
          <a:xfrm>
            <a:off x="4019400" y="166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2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71" name="CustomShape 40"/>
          <p:cNvSpPr/>
          <p:nvPr/>
        </p:nvSpPr>
        <p:spPr>
          <a:xfrm>
            <a:off x="36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2" name="CustomShape 41"/>
          <p:cNvSpPr/>
          <p:nvPr/>
        </p:nvSpPr>
        <p:spPr>
          <a:xfrm>
            <a:off x="144000" y="2779560"/>
            <a:ext cx="4320000" cy="676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800" rIns="0" bIns="0"/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pt-BR" sz="1050" b="0" strike="noStrike" spc="43">
                <a:solidFill>
                  <a:srgbClr val="333333"/>
                </a:solidFill>
                <a:latin typeface="Trebuchet MS"/>
                <a:ea typeface="DejaVu Sans"/>
              </a:rPr>
              <a:t>Basta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46">
                <a:solidFill>
                  <a:srgbClr val="333333"/>
                </a:solidFill>
                <a:latin typeface="Trebuchet MS"/>
                <a:ea typeface="DejaVu Sans"/>
              </a:rPr>
              <a:t>ir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subindo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no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Heap,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trocando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com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pai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se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necessário</a:t>
            </a:r>
            <a:endParaRPr lang="pt-BR" sz="1050" b="0" strike="noStrike" spc="-1">
              <a:latin typeface="Spranq eco sans"/>
            </a:endParaRPr>
          </a:p>
          <a:p>
            <a:pPr marL="151200">
              <a:lnSpc>
                <a:spcPct val="100000"/>
              </a:lnSpc>
              <a:spcBef>
                <a:spcPts val="391"/>
              </a:spcBef>
            </a:pPr>
            <a:r>
              <a:rPr lang="pt-BR" sz="1100" b="0" strike="noStrike" spc="-97">
                <a:solidFill>
                  <a:srgbClr val="333333"/>
                </a:solidFill>
                <a:latin typeface="DejaVu Serif"/>
                <a:ea typeface="DejaVu Sans"/>
              </a:rPr>
              <a:t>• </a:t>
            </a:r>
            <a:r>
              <a:rPr lang="pt-BR" sz="1050" b="0" strike="noStrike" spc="106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20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irmão </a:t>
            </a:r>
            <a:r>
              <a:rPr lang="pt-BR" sz="1050" b="0" strike="noStrike" spc="-52">
                <a:solidFill>
                  <a:srgbClr val="333333"/>
                </a:solidFill>
                <a:latin typeface="Trebuchet MS"/>
                <a:ea typeface="DejaVu Sans"/>
              </a:rPr>
              <a:t>já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menor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que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 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pai,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não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precisamos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mexer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nele</a:t>
            </a:r>
            <a:endParaRPr lang="pt-BR" sz="1050" b="0" strike="noStrike" spc="-1">
              <a:latin typeface="Spranq eco sans"/>
            </a:endParaRPr>
          </a:p>
          <a:p>
            <a:pPr marL="132120" algn="ctr">
              <a:lnSpc>
                <a:spcPct val="100000"/>
              </a:lnSpc>
              <a:spcBef>
                <a:spcPts val="1321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12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CustomShape 1"/>
          <p:cNvSpPr/>
          <p:nvPr/>
        </p:nvSpPr>
        <p:spPr>
          <a:xfrm>
            <a:off x="131400" y="59040"/>
            <a:ext cx="202860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7">
                <a:solidFill>
                  <a:srgbClr val="990100"/>
                </a:solidFill>
                <a:latin typeface="Trebuchet MS"/>
                <a:ea typeface="DejaVu Sans"/>
              </a:rPr>
              <a:t>Inserindo </a:t>
            </a:r>
            <a:r>
              <a:rPr lang="pt-BR" sz="1400" b="0" strike="noStrike" spc="38">
                <a:solidFill>
                  <a:srgbClr val="990100"/>
                </a:solidFill>
                <a:latin typeface="Trebuchet MS"/>
                <a:ea typeface="DejaVu Sans"/>
              </a:rPr>
              <a:t>no</a:t>
            </a:r>
            <a:r>
              <a:rPr lang="pt-BR" sz="1400" b="0" strike="noStrike" spc="-83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43">
                <a:solidFill>
                  <a:srgbClr val="990100"/>
                </a:solidFill>
                <a:latin typeface="Trebuchet MS"/>
                <a:ea typeface="DejaVu Sans"/>
              </a:rPr>
              <a:t>Heap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474" name="CustomShape 2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5" name="CustomShape 3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6" name="CustomShape 4"/>
          <p:cNvSpPr/>
          <p:nvPr/>
        </p:nvSpPr>
        <p:spPr>
          <a:xfrm>
            <a:off x="2372400" y="58032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10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77" name="CustomShape 5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8" name="CustomShape 6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9" name="CustomShape 7"/>
          <p:cNvSpPr/>
          <p:nvPr/>
        </p:nvSpPr>
        <p:spPr>
          <a:xfrm>
            <a:off x="1319400" y="112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9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80" name="CustomShape 8"/>
          <p:cNvSpPr/>
          <p:nvPr/>
        </p:nvSpPr>
        <p:spPr>
          <a:xfrm>
            <a:off x="151596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1" name="CustomShape 9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2" name="CustomShape 10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3" name="CustomShape 11"/>
          <p:cNvSpPr/>
          <p:nvPr/>
        </p:nvSpPr>
        <p:spPr>
          <a:xfrm>
            <a:off x="779400" y="16606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7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84" name="CustomShape 12"/>
          <p:cNvSpPr/>
          <p:nvPr/>
        </p:nvSpPr>
        <p:spPr>
          <a:xfrm>
            <a:off x="9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5" name="CustomShape 13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6" name="CustomShape 14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7" name="CustomShape 15"/>
          <p:cNvSpPr/>
          <p:nvPr/>
        </p:nvSpPr>
        <p:spPr>
          <a:xfrm>
            <a:off x="509400" y="220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88" name="CustomShape 16"/>
          <p:cNvSpPr/>
          <p:nvPr/>
        </p:nvSpPr>
        <p:spPr>
          <a:xfrm>
            <a:off x="62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9" name="CustomShape 17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0" name="CustomShape 18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1" name="CustomShape 19"/>
          <p:cNvSpPr/>
          <p:nvPr/>
        </p:nvSpPr>
        <p:spPr>
          <a:xfrm>
            <a:off x="1049400" y="220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92" name="CustomShape 20"/>
          <p:cNvSpPr/>
          <p:nvPr/>
        </p:nvSpPr>
        <p:spPr>
          <a:xfrm>
            <a:off x="89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3" name="CustomShape 21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4" name="CustomShape 22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5" name="CustomShape 23"/>
          <p:cNvSpPr/>
          <p:nvPr/>
        </p:nvSpPr>
        <p:spPr>
          <a:xfrm>
            <a:off x="1859400" y="166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8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496" name="CustomShape 24"/>
          <p:cNvSpPr/>
          <p:nvPr/>
        </p:nvSpPr>
        <p:spPr>
          <a:xfrm>
            <a:off x="148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7" name="CustomShape 25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8" name="CustomShape 26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9" name="CustomShape 27"/>
          <p:cNvSpPr/>
          <p:nvPr/>
        </p:nvSpPr>
        <p:spPr>
          <a:xfrm>
            <a:off x="1589400" y="219996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00" name="CustomShape 28"/>
          <p:cNvSpPr/>
          <p:nvPr/>
        </p:nvSpPr>
        <p:spPr>
          <a:xfrm>
            <a:off x="170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1" name="CustomShape 29"/>
          <p:cNvSpPr/>
          <p:nvPr/>
        </p:nvSpPr>
        <p:spPr>
          <a:xfrm>
            <a:off x="200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2" name="CustomShape 30"/>
          <p:cNvSpPr/>
          <p:nvPr/>
        </p:nvSpPr>
        <p:spPr>
          <a:xfrm>
            <a:off x="200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3" name="CustomShape 31"/>
          <p:cNvSpPr/>
          <p:nvPr/>
        </p:nvSpPr>
        <p:spPr>
          <a:xfrm>
            <a:off x="2102400" y="220104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04" name="CustomShape 32"/>
          <p:cNvSpPr/>
          <p:nvPr/>
        </p:nvSpPr>
        <p:spPr>
          <a:xfrm>
            <a:off x="197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0" y="0"/>
                </a:moveTo>
                <a:lnTo>
                  <a:pt x="113184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5" name="CustomShape 33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6" name="CustomShape 34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7" name="CustomShape 35"/>
          <p:cNvSpPr/>
          <p:nvPr/>
        </p:nvSpPr>
        <p:spPr>
          <a:xfrm>
            <a:off x="3479400" y="112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4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08" name="CustomShape 36"/>
          <p:cNvSpPr/>
          <p:nvPr/>
        </p:nvSpPr>
        <p:spPr>
          <a:xfrm>
            <a:off x="259560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9" name="CustomShape 37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0" name="CustomShape 38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1" name="CustomShape 39"/>
          <p:cNvSpPr/>
          <p:nvPr/>
        </p:nvSpPr>
        <p:spPr>
          <a:xfrm>
            <a:off x="2939400" y="166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3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12" name="CustomShape 40"/>
          <p:cNvSpPr/>
          <p:nvPr/>
        </p:nvSpPr>
        <p:spPr>
          <a:xfrm>
            <a:off x="310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3" name="CustomShape 41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4" name="CustomShape 42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5" name="CustomShape 43"/>
          <p:cNvSpPr/>
          <p:nvPr/>
        </p:nvSpPr>
        <p:spPr>
          <a:xfrm>
            <a:off x="4019400" y="166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2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16" name="CustomShape 44"/>
          <p:cNvSpPr/>
          <p:nvPr/>
        </p:nvSpPr>
        <p:spPr>
          <a:xfrm>
            <a:off x="36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7" name="CustomShape 45"/>
          <p:cNvSpPr/>
          <p:nvPr/>
        </p:nvSpPr>
        <p:spPr>
          <a:xfrm>
            <a:off x="144000" y="2779560"/>
            <a:ext cx="4392000" cy="676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800" rIns="0" bIns="0"/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pt-BR" sz="1050" b="0" strike="noStrike" spc="43">
                <a:solidFill>
                  <a:srgbClr val="333333"/>
                </a:solidFill>
                <a:latin typeface="Trebuchet MS"/>
                <a:ea typeface="DejaVu Sans"/>
              </a:rPr>
              <a:t>Basta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46">
                <a:solidFill>
                  <a:srgbClr val="333333"/>
                </a:solidFill>
                <a:latin typeface="Trebuchet MS"/>
                <a:ea typeface="DejaVu Sans"/>
              </a:rPr>
              <a:t>ir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subindo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no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Heap,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trocando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com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pai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se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necessário</a:t>
            </a:r>
            <a:endParaRPr lang="pt-BR" sz="1050" b="0" strike="noStrike" spc="-1">
              <a:latin typeface="Spranq eco sans"/>
            </a:endParaRPr>
          </a:p>
          <a:p>
            <a:pPr marL="151200">
              <a:lnSpc>
                <a:spcPct val="100000"/>
              </a:lnSpc>
              <a:spcBef>
                <a:spcPts val="391"/>
              </a:spcBef>
            </a:pPr>
            <a:r>
              <a:rPr lang="pt-BR" sz="1100" b="0" strike="noStrike" spc="-97">
                <a:solidFill>
                  <a:srgbClr val="333333"/>
                </a:solidFill>
                <a:latin typeface="DejaVu Serif"/>
                <a:ea typeface="DejaVu Sans"/>
              </a:rPr>
              <a:t>• </a:t>
            </a:r>
            <a:r>
              <a:rPr lang="pt-BR" sz="1050" b="0" strike="noStrike" spc="106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20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irmão </a:t>
            </a:r>
            <a:r>
              <a:rPr lang="pt-BR" sz="1050" b="0" strike="noStrike" spc="-52">
                <a:solidFill>
                  <a:srgbClr val="333333"/>
                </a:solidFill>
                <a:latin typeface="Trebuchet MS"/>
                <a:ea typeface="DejaVu Sans"/>
              </a:rPr>
              <a:t>já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menor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que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 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pai,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não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precisamos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mexer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nele</a:t>
            </a:r>
            <a:endParaRPr lang="pt-BR" sz="1050" b="0" strike="noStrike" spc="-1">
              <a:latin typeface="Spranq eco sans"/>
            </a:endParaRPr>
          </a:p>
          <a:p>
            <a:pPr marL="132120" algn="ctr">
              <a:lnSpc>
                <a:spcPct val="100000"/>
              </a:lnSpc>
              <a:spcBef>
                <a:spcPts val="1321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12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ustomShape 1"/>
          <p:cNvSpPr/>
          <p:nvPr/>
        </p:nvSpPr>
        <p:spPr>
          <a:xfrm>
            <a:off x="95400" y="59040"/>
            <a:ext cx="220860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7">
                <a:solidFill>
                  <a:srgbClr val="990100"/>
                </a:solidFill>
                <a:latin typeface="Trebuchet MS"/>
                <a:ea typeface="DejaVu Sans"/>
              </a:rPr>
              <a:t>Inserindo </a:t>
            </a:r>
            <a:r>
              <a:rPr lang="pt-BR" sz="1400" b="0" strike="noStrike" spc="38">
                <a:solidFill>
                  <a:srgbClr val="990100"/>
                </a:solidFill>
                <a:latin typeface="Trebuchet MS"/>
                <a:ea typeface="DejaVu Sans"/>
              </a:rPr>
              <a:t>no</a:t>
            </a:r>
            <a:r>
              <a:rPr lang="pt-BR" sz="1400" b="0" strike="noStrike" spc="-83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43">
                <a:solidFill>
                  <a:srgbClr val="990100"/>
                </a:solidFill>
                <a:latin typeface="Trebuchet MS"/>
                <a:ea typeface="DejaVu Sans"/>
              </a:rPr>
              <a:t>Heap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519" name="CustomShape 2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0" name="CustomShape 3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1" name="CustomShape 4"/>
          <p:cNvSpPr/>
          <p:nvPr/>
        </p:nvSpPr>
        <p:spPr>
          <a:xfrm>
            <a:off x="2372400" y="58032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10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22" name="CustomShape 5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3" name="CustomShape 6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4" name="CustomShape 7"/>
          <p:cNvSpPr/>
          <p:nvPr/>
        </p:nvSpPr>
        <p:spPr>
          <a:xfrm>
            <a:off x="1319400" y="112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9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25" name="CustomShape 8"/>
          <p:cNvSpPr/>
          <p:nvPr/>
        </p:nvSpPr>
        <p:spPr>
          <a:xfrm>
            <a:off x="151596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6" name="CustomShape 9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7" name="CustomShape 10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8" name="CustomShape 11"/>
          <p:cNvSpPr/>
          <p:nvPr/>
        </p:nvSpPr>
        <p:spPr>
          <a:xfrm>
            <a:off x="779400" y="16606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7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29" name="CustomShape 12"/>
          <p:cNvSpPr/>
          <p:nvPr/>
        </p:nvSpPr>
        <p:spPr>
          <a:xfrm>
            <a:off x="9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0" name="CustomShape 13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1" name="CustomShape 14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2" name="CustomShape 15"/>
          <p:cNvSpPr/>
          <p:nvPr/>
        </p:nvSpPr>
        <p:spPr>
          <a:xfrm>
            <a:off x="509400" y="220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33" name="CustomShape 16"/>
          <p:cNvSpPr/>
          <p:nvPr/>
        </p:nvSpPr>
        <p:spPr>
          <a:xfrm>
            <a:off x="62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4" name="CustomShape 17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5" name="CustomShape 18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6" name="CustomShape 19"/>
          <p:cNvSpPr/>
          <p:nvPr/>
        </p:nvSpPr>
        <p:spPr>
          <a:xfrm>
            <a:off x="1049400" y="220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37" name="CustomShape 20"/>
          <p:cNvSpPr/>
          <p:nvPr/>
        </p:nvSpPr>
        <p:spPr>
          <a:xfrm>
            <a:off x="89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8" name="CustomShape 21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9" name="CustomShape 22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0" name="CustomShape 23"/>
          <p:cNvSpPr/>
          <p:nvPr/>
        </p:nvSpPr>
        <p:spPr>
          <a:xfrm>
            <a:off x="1832400" y="166104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41" name="CustomShape 24"/>
          <p:cNvSpPr/>
          <p:nvPr/>
        </p:nvSpPr>
        <p:spPr>
          <a:xfrm>
            <a:off x="148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2" name="CustomShape 25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3" name="CustomShape 26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4" name="CustomShape 27"/>
          <p:cNvSpPr/>
          <p:nvPr/>
        </p:nvSpPr>
        <p:spPr>
          <a:xfrm>
            <a:off x="1589400" y="219996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45" name="CustomShape 28"/>
          <p:cNvSpPr/>
          <p:nvPr/>
        </p:nvSpPr>
        <p:spPr>
          <a:xfrm>
            <a:off x="170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6" name="CustomShape 29"/>
          <p:cNvSpPr/>
          <p:nvPr/>
        </p:nvSpPr>
        <p:spPr>
          <a:xfrm>
            <a:off x="200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7" name="CustomShape 30"/>
          <p:cNvSpPr/>
          <p:nvPr/>
        </p:nvSpPr>
        <p:spPr>
          <a:xfrm>
            <a:off x="200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8" name="CustomShape 31"/>
          <p:cNvSpPr/>
          <p:nvPr/>
        </p:nvSpPr>
        <p:spPr>
          <a:xfrm>
            <a:off x="2129400" y="220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8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49" name="CustomShape 32"/>
          <p:cNvSpPr/>
          <p:nvPr/>
        </p:nvSpPr>
        <p:spPr>
          <a:xfrm>
            <a:off x="197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0" y="0"/>
                </a:moveTo>
                <a:lnTo>
                  <a:pt x="113184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0" name="CustomShape 33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1" name="CustomShape 34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2" name="CustomShape 35"/>
          <p:cNvSpPr/>
          <p:nvPr/>
        </p:nvSpPr>
        <p:spPr>
          <a:xfrm>
            <a:off x="3479400" y="112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4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53" name="CustomShape 36"/>
          <p:cNvSpPr/>
          <p:nvPr/>
        </p:nvSpPr>
        <p:spPr>
          <a:xfrm>
            <a:off x="259560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4" name="CustomShape 37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5" name="CustomShape 38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6" name="CustomShape 39"/>
          <p:cNvSpPr/>
          <p:nvPr/>
        </p:nvSpPr>
        <p:spPr>
          <a:xfrm>
            <a:off x="2939400" y="166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3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57" name="CustomShape 40"/>
          <p:cNvSpPr/>
          <p:nvPr/>
        </p:nvSpPr>
        <p:spPr>
          <a:xfrm>
            <a:off x="310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8" name="CustomShape 41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9" name="CustomShape 42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0" name="CustomShape 43"/>
          <p:cNvSpPr/>
          <p:nvPr/>
        </p:nvSpPr>
        <p:spPr>
          <a:xfrm>
            <a:off x="4019400" y="166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2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61" name="CustomShape 44"/>
          <p:cNvSpPr/>
          <p:nvPr/>
        </p:nvSpPr>
        <p:spPr>
          <a:xfrm>
            <a:off x="36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2" name="CustomShape 45"/>
          <p:cNvSpPr/>
          <p:nvPr/>
        </p:nvSpPr>
        <p:spPr>
          <a:xfrm>
            <a:off x="144000" y="2779560"/>
            <a:ext cx="4248000" cy="676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800" rIns="0" bIns="0"/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pt-BR" sz="1050" b="0" strike="noStrike" spc="43">
                <a:solidFill>
                  <a:srgbClr val="333333"/>
                </a:solidFill>
                <a:latin typeface="Trebuchet MS"/>
                <a:ea typeface="DejaVu Sans"/>
              </a:rPr>
              <a:t>Basta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46">
                <a:solidFill>
                  <a:srgbClr val="333333"/>
                </a:solidFill>
                <a:latin typeface="Trebuchet MS"/>
                <a:ea typeface="DejaVu Sans"/>
              </a:rPr>
              <a:t>ir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subindo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no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Heap,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trocando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com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pai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se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necessário</a:t>
            </a:r>
            <a:endParaRPr lang="pt-BR" sz="1050" b="0" strike="noStrike" spc="-1">
              <a:latin typeface="Spranq eco sans"/>
            </a:endParaRPr>
          </a:p>
          <a:p>
            <a:pPr marL="151200">
              <a:lnSpc>
                <a:spcPct val="100000"/>
              </a:lnSpc>
              <a:spcBef>
                <a:spcPts val="391"/>
              </a:spcBef>
            </a:pPr>
            <a:r>
              <a:rPr lang="pt-BR" sz="1100" b="0" strike="noStrike" spc="-97">
                <a:solidFill>
                  <a:srgbClr val="333333"/>
                </a:solidFill>
                <a:latin typeface="DejaVu Serif"/>
                <a:ea typeface="DejaVu Sans"/>
              </a:rPr>
              <a:t>• </a:t>
            </a:r>
            <a:r>
              <a:rPr lang="pt-BR" sz="1050" b="0" strike="noStrike" spc="106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20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irmão </a:t>
            </a:r>
            <a:r>
              <a:rPr lang="pt-BR" sz="1050" b="0" strike="noStrike" spc="-52">
                <a:solidFill>
                  <a:srgbClr val="333333"/>
                </a:solidFill>
                <a:latin typeface="Trebuchet MS"/>
                <a:ea typeface="DejaVu Sans"/>
              </a:rPr>
              <a:t>já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menor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que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 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pai,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não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precisamos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mexer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nele</a:t>
            </a:r>
            <a:endParaRPr lang="pt-BR" sz="1050" b="0" strike="noStrike" spc="-1">
              <a:latin typeface="Spranq eco sans"/>
            </a:endParaRPr>
          </a:p>
          <a:p>
            <a:pPr marL="132120" algn="ctr">
              <a:lnSpc>
                <a:spcPct val="100000"/>
              </a:lnSpc>
              <a:spcBef>
                <a:spcPts val="1321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12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CustomShape 1"/>
          <p:cNvSpPr/>
          <p:nvPr/>
        </p:nvSpPr>
        <p:spPr>
          <a:xfrm>
            <a:off x="95400" y="59040"/>
            <a:ext cx="220860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7">
                <a:solidFill>
                  <a:srgbClr val="990100"/>
                </a:solidFill>
                <a:latin typeface="Trebuchet MS"/>
                <a:ea typeface="DejaVu Sans"/>
              </a:rPr>
              <a:t>Inserindo </a:t>
            </a:r>
            <a:r>
              <a:rPr lang="pt-BR" sz="1400" b="0" strike="noStrike" spc="38">
                <a:solidFill>
                  <a:srgbClr val="990100"/>
                </a:solidFill>
                <a:latin typeface="Trebuchet MS"/>
                <a:ea typeface="DejaVu Sans"/>
              </a:rPr>
              <a:t>no</a:t>
            </a:r>
            <a:r>
              <a:rPr lang="pt-BR" sz="1400" b="0" strike="noStrike" spc="-83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43">
                <a:solidFill>
                  <a:srgbClr val="990100"/>
                </a:solidFill>
                <a:latin typeface="Trebuchet MS"/>
                <a:ea typeface="DejaVu Sans"/>
              </a:rPr>
              <a:t>Heap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564" name="CustomShape 2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5" name="CustomShape 3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6" name="CustomShape 4"/>
          <p:cNvSpPr/>
          <p:nvPr/>
        </p:nvSpPr>
        <p:spPr>
          <a:xfrm>
            <a:off x="2372400" y="58032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10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67" name="CustomShape 5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8" name="CustomShape 6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9" name="CustomShape 7"/>
          <p:cNvSpPr/>
          <p:nvPr/>
        </p:nvSpPr>
        <p:spPr>
          <a:xfrm>
            <a:off x="1292400" y="112104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70" name="CustomShape 8"/>
          <p:cNvSpPr/>
          <p:nvPr/>
        </p:nvSpPr>
        <p:spPr>
          <a:xfrm>
            <a:off x="151596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1" name="CustomShape 9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2" name="CustomShape 10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3" name="CustomShape 11"/>
          <p:cNvSpPr/>
          <p:nvPr/>
        </p:nvSpPr>
        <p:spPr>
          <a:xfrm>
            <a:off x="779400" y="16606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7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74" name="CustomShape 12"/>
          <p:cNvSpPr/>
          <p:nvPr/>
        </p:nvSpPr>
        <p:spPr>
          <a:xfrm>
            <a:off x="9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5" name="CustomShape 13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6" name="CustomShape 14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7" name="CustomShape 15"/>
          <p:cNvSpPr/>
          <p:nvPr/>
        </p:nvSpPr>
        <p:spPr>
          <a:xfrm>
            <a:off x="509400" y="220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78" name="CustomShape 16"/>
          <p:cNvSpPr/>
          <p:nvPr/>
        </p:nvSpPr>
        <p:spPr>
          <a:xfrm>
            <a:off x="62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9" name="CustomShape 17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0" name="CustomShape 18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1" name="CustomShape 19"/>
          <p:cNvSpPr/>
          <p:nvPr/>
        </p:nvSpPr>
        <p:spPr>
          <a:xfrm>
            <a:off x="1049400" y="220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82" name="CustomShape 20"/>
          <p:cNvSpPr/>
          <p:nvPr/>
        </p:nvSpPr>
        <p:spPr>
          <a:xfrm>
            <a:off x="89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3" name="CustomShape 21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4" name="CustomShape 22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5" name="CustomShape 23"/>
          <p:cNvSpPr/>
          <p:nvPr/>
        </p:nvSpPr>
        <p:spPr>
          <a:xfrm>
            <a:off x="1859400" y="166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9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86" name="CustomShape 24"/>
          <p:cNvSpPr/>
          <p:nvPr/>
        </p:nvSpPr>
        <p:spPr>
          <a:xfrm>
            <a:off x="148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7" name="CustomShape 25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8" name="CustomShape 26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9" name="CustomShape 27"/>
          <p:cNvSpPr/>
          <p:nvPr/>
        </p:nvSpPr>
        <p:spPr>
          <a:xfrm>
            <a:off x="1589400" y="219996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90" name="CustomShape 28"/>
          <p:cNvSpPr/>
          <p:nvPr/>
        </p:nvSpPr>
        <p:spPr>
          <a:xfrm>
            <a:off x="170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1" name="CustomShape 29"/>
          <p:cNvSpPr/>
          <p:nvPr/>
        </p:nvSpPr>
        <p:spPr>
          <a:xfrm>
            <a:off x="200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2" name="CustomShape 30"/>
          <p:cNvSpPr/>
          <p:nvPr/>
        </p:nvSpPr>
        <p:spPr>
          <a:xfrm>
            <a:off x="200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3" name="CustomShape 31"/>
          <p:cNvSpPr/>
          <p:nvPr/>
        </p:nvSpPr>
        <p:spPr>
          <a:xfrm>
            <a:off x="2129400" y="220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8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94" name="CustomShape 32"/>
          <p:cNvSpPr/>
          <p:nvPr/>
        </p:nvSpPr>
        <p:spPr>
          <a:xfrm>
            <a:off x="197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0" y="0"/>
                </a:moveTo>
                <a:lnTo>
                  <a:pt x="113184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5" name="CustomShape 33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6" name="CustomShape 34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7" name="CustomShape 35"/>
          <p:cNvSpPr/>
          <p:nvPr/>
        </p:nvSpPr>
        <p:spPr>
          <a:xfrm>
            <a:off x="3479400" y="112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4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598" name="CustomShape 36"/>
          <p:cNvSpPr/>
          <p:nvPr/>
        </p:nvSpPr>
        <p:spPr>
          <a:xfrm>
            <a:off x="259560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9" name="CustomShape 37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0" name="CustomShape 38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1" name="CustomShape 39"/>
          <p:cNvSpPr/>
          <p:nvPr/>
        </p:nvSpPr>
        <p:spPr>
          <a:xfrm>
            <a:off x="2939400" y="166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3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02" name="CustomShape 40"/>
          <p:cNvSpPr/>
          <p:nvPr/>
        </p:nvSpPr>
        <p:spPr>
          <a:xfrm>
            <a:off x="310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3" name="CustomShape 41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4" name="CustomShape 42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5" name="CustomShape 43"/>
          <p:cNvSpPr/>
          <p:nvPr/>
        </p:nvSpPr>
        <p:spPr>
          <a:xfrm>
            <a:off x="4019400" y="166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2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06" name="CustomShape 44"/>
          <p:cNvSpPr/>
          <p:nvPr/>
        </p:nvSpPr>
        <p:spPr>
          <a:xfrm>
            <a:off x="36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7" name="CustomShape 45"/>
          <p:cNvSpPr/>
          <p:nvPr/>
        </p:nvSpPr>
        <p:spPr>
          <a:xfrm>
            <a:off x="144000" y="2779560"/>
            <a:ext cx="4392000" cy="676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800" rIns="0" bIns="0"/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pt-BR" sz="1050" b="0" strike="noStrike" spc="43">
                <a:solidFill>
                  <a:srgbClr val="333333"/>
                </a:solidFill>
                <a:latin typeface="Trebuchet MS"/>
                <a:ea typeface="DejaVu Sans"/>
              </a:rPr>
              <a:t>Basta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46">
                <a:solidFill>
                  <a:srgbClr val="333333"/>
                </a:solidFill>
                <a:latin typeface="Trebuchet MS"/>
                <a:ea typeface="DejaVu Sans"/>
              </a:rPr>
              <a:t>ir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subindo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no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Heap,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trocando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com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pai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se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necessário</a:t>
            </a:r>
            <a:endParaRPr lang="pt-BR" sz="1050" b="0" strike="noStrike" spc="-1">
              <a:latin typeface="Spranq eco sans"/>
            </a:endParaRPr>
          </a:p>
          <a:p>
            <a:pPr marL="151200">
              <a:lnSpc>
                <a:spcPct val="100000"/>
              </a:lnSpc>
              <a:spcBef>
                <a:spcPts val="391"/>
              </a:spcBef>
            </a:pPr>
            <a:r>
              <a:rPr lang="pt-BR" sz="1100" b="0" strike="noStrike" spc="-97">
                <a:solidFill>
                  <a:srgbClr val="333333"/>
                </a:solidFill>
                <a:latin typeface="DejaVu Serif"/>
                <a:ea typeface="DejaVu Sans"/>
              </a:rPr>
              <a:t>• </a:t>
            </a:r>
            <a:r>
              <a:rPr lang="pt-BR" sz="1050" b="0" strike="noStrike" spc="106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20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irmão </a:t>
            </a:r>
            <a:r>
              <a:rPr lang="pt-BR" sz="1050" b="0" strike="noStrike" spc="-52">
                <a:solidFill>
                  <a:srgbClr val="333333"/>
                </a:solidFill>
                <a:latin typeface="Trebuchet MS"/>
                <a:ea typeface="DejaVu Sans"/>
              </a:rPr>
              <a:t>já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menor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que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 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pai,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não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precisamos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mexer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nele</a:t>
            </a:r>
            <a:endParaRPr lang="pt-BR" sz="1050" b="0" strike="noStrike" spc="-1">
              <a:latin typeface="Spranq eco sans"/>
            </a:endParaRPr>
          </a:p>
          <a:p>
            <a:pPr marL="132120" algn="ctr">
              <a:lnSpc>
                <a:spcPct val="100000"/>
              </a:lnSpc>
              <a:spcBef>
                <a:spcPts val="1321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12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CustomShape 1"/>
          <p:cNvSpPr/>
          <p:nvPr/>
        </p:nvSpPr>
        <p:spPr>
          <a:xfrm>
            <a:off x="95400" y="59040"/>
            <a:ext cx="228060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7">
                <a:solidFill>
                  <a:srgbClr val="990100"/>
                </a:solidFill>
                <a:latin typeface="Trebuchet MS"/>
                <a:ea typeface="DejaVu Sans"/>
              </a:rPr>
              <a:t>Inserindo </a:t>
            </a:r>
            <a:r>
              <a:rPr lang="pt-BR" sz="1400" b="0" strike="noStrike" spc="38">
                <a:solidFill>
                  <a:srgbClr val="990100"/>
                </a:solidFill>
                <a:latin typeface="Trebuchet MS"/>
                <a:ea typeface="DejaVu Sans"/>
              </a:rPr>
              <a:t>no</a:t>
            </a:r>
            <a:r>
              <a:rPr lang="pt-BR" sz="1400" b="0" strike="noStrike" spc="-83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43">
                <a:solidFill>
                  <a:srgbClr val="990100"/>
                </a:solidFill>
                <a:latin typeface="Trebuchet MS"/>
                <a:ea typeface="DejaVu Sans"/>
              </a:rPr>
              <a:t>Heap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609" name="CustomShape 2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0" name="CustomShape 3"/>
          <p:cNvSpPr/>
          <p:nvPr/>
        </p:nvSpPr>
        <p:spPr>
          <a:xfrm>
            <a:off x="2277000" y="50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1" name="CustomShape 4"/>
          <p:cNvSpPr/>
          <p:nvPr/>
        </p:nvSpPr>
        <p:spPr>
          <a:xfrm>
            <a:off x="2372400" y="58104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12" name="CustomShape 5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3" name="CustomShape 6"/>
          <p:cNvSpPr/>
          <p:nvPr/>
        </p:nvSpPr>
        <p:spPr>
          <a:xfrm>
            <a:off x="119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4" name="CustomShape 7"/>
          <p:cNvSpPr/>
          <p:nvPr/>
        </p:nvSpPr>
        <p:spPr>
          <a:xfrm>
            <a:off x="1292400" y="112032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10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15" name="CustomShape 8"/>
          <p:cNvSpPr/>
          <p:nvPr/>
        </p:nvSpPr>
        <p:spPr>
          <a:xfrm>
            <a:off x="151596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6" name="CustomShape 9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7" name="CustomShape 10"/>
          <p:cNvSpPr/>
          <p:nvPr/>
        </p:nvSpPr>
        <p:spPr>
          <a:xfrm>
            <a:off x="65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8" name="CustomShape 11"/>
          <p:cNvSpPr/>
          <p:nvPr/>
        </p:nvSpPr>
        <p:spPr>
          <a:xfrm>
            <a:off x="779400" y="16606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7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19" name="CustomShape 12"/>
          <p:cNvSpPr/>
          <p:nvPr/>
        </p:nvSpPr>
        <p:spPr>
          <a:xfrm>
            <a:off x="9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0" name="CustomShape 13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1" name="CustomShape 14"/>
          <p:cNvSpPr/>
          <p:nvPr/>
        </p:nvSpPr>
        <p:spPr>
          <a:xfrm>
            <a:off x="38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2" name="CustomShape 15"/>
          <p:cNvSpPr/>
          <p:nvPr/>
        </p:nvSpPr>
        <p:spPr>
          <a:xfrm>
            <a:off x="509400" y="220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23" name="CustomShape 16"/>
          <p:cNvSpPr/>
          <p:nvPr/>
        </p:nvSpPr>
        <p:spPr>
          <a:xfrm>
            <a:off x="62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4" name="CustomShape 17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5" name="CustomShape 18"/>
          <p:cNvSpPr/>
          <p:nvPr/>
        </p:nvSpPr>
        <p:spPr>
          <a:xfrm>
            <a:off x="92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6" name="CustomShape 19"/>
          <p:cNvSpPr/>
          <p:nvPr/>
        </p:nvSpPr>
        <p:spPr>
          <a:xfrm>
            <a:off x="1049400" y="220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27" name="CustomShape 20"/>
          <p:cNvSpPr/>
          <p:nvPr/>
        </p:nvSpPr>
        <p:spPr>
          <a:xfrm>
            <a:off x="89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8" name="CustomShape 21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9" name="CustomShape 22"/>
          <p:cNvSpPr/>
          <p:nvPr/>
        </p:nvSpPr>
        <p:spPr>
          <a:xfrm>
            <a:off x="173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0" name="CustomShape 23"/>
          <p:cNvSpPr/>
          <p:nvPr/>
        </p:nvSpPr>
        <p:spPr>
          <a:xfrm>
            <a:off x="1859400" y="166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9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31" name="CustomShape 24"/>
          <p:cNvSpPr/>
          <p:nvPr/>
        </p:nvSpPr>
        <p:spPr>
          <a:xfrm>
            <a:off x="148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2" name="CustomShape 25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3" name="CustomShape 26"/>
          <p:cNvSpPr/>
          <p:nvPr/>
        </p:nvSpPr>
        <p:spPr>
          <a:xfrm>
            <a:off x="146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4" name="CustomShape 27"/>
          <p:cNvSpPr/>
          <p:nvPr/>
        </p:nvSpPr>
        <p:spPr>
          <a:xfrm>
            <a:off x="1589400" y="219996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35" name="CustomShape 28"/>
          <p:cNvSpPr/>
          <p:nvPr/>
        </p:nvSpPr>
        <p:spPr>
          <a:xfrm>
            <a:off x="170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6" name="CustomShape 29"/>
          <p:cNvSpPr/>
          <p:nvPr/>
        </p:nvSpPr>
        <p:spPr>
          <a:xfrm>
            <a:off x="200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7" name="CustomShape 30"/>
          <p:cNvSpPr/>
          <p:nvPr/>
        </p:nvSpPr>
        <p:spPr>
          <a:xfrm>
            <a:off x="2007000" y="212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8" name="CustomShape 31"/>
          <p:cNvSpPr/>
          <p:nvPr/>
        </p:nvSpPr>
        <p:spPr>
          <a:xfrm>
            <a:off x="2129400" y="220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8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39" name="CustomShape 32"/>
          <p:cNvSpPr/>
          <p:nvPr/>
        </p:nvSpPr>
        <p:spPr>
          <a:xfrm>
            <a:off x="1977480" y="190008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0" y="0"/>
                </a:moveTo>
                <a:lnTo>
                  <a:pt x="113184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0" name="CustomShape 33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1" name="CustomShape 34"/>
          <p:cNvSpPr/>
          <p:nvPr/>
        </p:nvSpPr>
        <p:spPr>
          <a:xfrm>
            <a:off x="3357000" y="104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2" name="CustomShape 35"/>
          <p:cNvSpPr/>
          <p:nvPr/>
        </p:nvSpPr>
        <p:spPr>
          <a:xfrm>
            <a:off x="3479400" y="112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4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43" name="CustomShape 36"/>
          <p:cNvSpPr/>
          <p:nvPr/>
        </p:nvSpPr>
        <p:spPr>
          <a:xfrm>
            <a:off x="2595600" y="7419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4" name="CustomShape 37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5" name="CustomShape 38"/>
          <p:cNvSpPr/>
          <p:nvPr/>
        </p:nvSpPr>
        <p:spPr>
          <a:xfrm>
            <a:off x="281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6" name="CustomShape 39"/>
          <p:cNvSpPr/>
          <p:nvPr/>
        </p:nvSpPr>
        <p:spPr>
          <a:xfrm>
            <a:off x="2939400" y="166032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3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47" name="CustomShape 40"/>
          <p:cNvSpPr/>
          <p:nvPr/>
        </p:nvSpPr>
        <p:spPr>
          <a:xfrm>
            <a:off x="310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8" name="CustomShape 41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9" name="CustomShape 42"/>
          <p:cNvSpPr/>
          <p:nvPr/>
        </p:nvSpPr>
        <p:spPr>
          <a:xfrm>
            <a:off x="3897000" y="15814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0" name="CustomShape 43"/>
          <p:cNvSpPr/>
          <p:nvPr/>
        </p:nvSpPr>
        <p:spPr>
          <a:xfrm>
            <a:off x="4019400" y="16610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2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51" name="CustomShape 44"/>
          <p:cNvSpPr/>
          <p:nvPr/>
        </p:nvSpPr>
        <p:spPr>
          <a:xfrm>
            <a:off x="3642480" y="13269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2" name="CustomShape 45"/>
          <p:cNvSpPr/>
          <p:nvPr/>
        </p:nvSpPr>
        <p:spPr>
          <a:xfrm>
            <a:off x="144000" y="2779560"/>
            <a:ext cx="4320000" cy="676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800" rIns="0" bIns="0"/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pt-BR" sz="1050" b="0" strike="noStrike" spc="43">
                <a:solidFill>
                  <a:srgbClr val="333333"/>
                </a:solidFill>
                <a:latin typeface="Trebuchet MS"/>
                <a:ea typeface="DejaVu Sans"/>
              </a:rPr>
              <a:t>Basta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46">
                <a:solidFill>
                  <a:srgbClr val="333333"/>
                </a:solidFill>
                <a:latin typeface="Trebuchet MS"/>
                <a:ea typeface="DejaVu Sans"/>
              </a:rPr>
              <a:t>ir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subindo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no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Heap,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trocando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com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pai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se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necessário</a:t>
            </a:r>
            <a:endParaRPr lang="pt-BR" sz="1050" b="0" strike="noStrike" spc="-1">
              <a:latin typeface="Spranq eco sans"/>
            </a:endParaRPr>
          </a:p>
          <a:p>
            <a:pPr marL="151200">
              <a:lnSpc>
                <a:spcPct val="100000"/>
              </a:lnSpc>
              <a:spcBef>
                <a:spcPts val="391"/>
              </a:spcBef>
            </a:pPr>
            <a:r>
              <a:rPr lang="pt-BR" sz="1100" b="0" strike="noStrike" spc="-97">
                <a:solidFill>
                  <a:srgbClr val="333333"/>
                </a:solidFill>
                <a:latin typeface="DejaVu Serif"/>
                <a:ea typeface="DejaVu Sans"/>
              </a:rPr>
              <a:t>• </a:t>
            </a:r>
            <a:r>
              <a:rPr lang="pt-BR" sz="1050" b="0" strike="noStrike" spc="106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20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irmão </a:t>
            </a:r>
            <a:r>
              <a:rPr lang="pt-BR" sz="1050" b="0" strike="noStrike" spc="-52">
                <a:solidFill>
                  <a:srgbClr val="333333"/>
                </a:solidFill>
                <a:latin typeface="Trebuchet MS"/>
                <a:ea typeface="DejaVu Sans"/>
              </a:rPr>
              <a:t>já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é </a:t>
            </a:r>
            <a:r>
              <a:rPr lang="pt-BR" sz="105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menor </a:t>
            </a:r>
            <a:r>
              <a:rPr lang="pt-BR" sz="105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que </a:t>
            </a:r>
            <a:r>
              <a:rPr lang="pt-BR" sz="105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 </a:t>
            </a:r>
            <a:r>
              <a:rPr lang="pt-BR" sz="105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pai,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não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precisamos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mexer </a:t>
            </a:r>
            <a:r>
              <a:rPr lang="pt-BR" sz="105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nele</a:t>
            </a:r>
            <a:endParaRPr lang="pt-BR" sz="1050" b="0" strike="noStrike" spc="-1">
              <a:latin typeface="Spranq eco sans"/>
            </a:endParaRPr>
          </a:p>
          <a:p>
            <a:pPr marL="132120" algn="ctr">
              <a:lnSpc>
                <a:spcPct val="100000"/>
              </a:lnSpc>
              <a:spcBef>
                <a:spcPts val="1321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12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CustomShape 1"/>
          <p:cNvSpPr/>
          <p:nvPr/>
        </p:nvSpPr>
        <p:spPr>
          <a:xfrm>
            <a:off x="131400" y="59040"/>
            <a:ext cx="228492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18">
                <a:solidFill>
                  <a:srgbClr val="990100"/>
                </a:solidFill>
                <a:latin typeface="Trebuchet MS"/>
                <a:ea typeface="DejaVu Sans"/>
              </a:rPr>
              <a:t>Árvores Heap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654" name="CustomShape 2"/>
          <p:cNvSpPr/>
          <p:nvPr/>
        </p:nvSpPr>
        <p:spPr>
          <a:xfrm>
            <a:off x="353880" y="503280"/>
            <a:ext cx="3677400" cy="2457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080" rIns="0" bIns="0"/>
          <a:lstStyle/>
          <a:p>
            <a:pPr marL="12600" indent="-215640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SzPct val="45000"/>
              <a:buFont typeface="Symbol"/>
              <a:buChar char=""/>
            </a:pP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A árvore que representa a estrutura heap é sempre preenchida da esquerda para a direita.</a:t>
            </a:r>
            <a:endParaRPr lang="pt-BR" sz="1400" b="0" strike="noStrike" spc="-1">
              <a:latin typeface="Spranq eco sans"/>
            </a:endParaRPr>
          </a:p>
          <a:p>
            <a:pPr marL="12600" indent="-215640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SzPct val="45000"/>
              <a:buFont typeface="Symbol"/>
              <a:buChar char=""/>
            </a:pP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Existem dois tipos de heaps binários:</a:t>
            </a:r>
            <a:endParaRPr lang="pt-BR" sz="1400" b="0" strike="noStrike" spc="-1">
              <a:latin typeface="Spranq eco sans"/>
            </a:endParaRPr>
          </a:p>
          <a:p>
            <a:pPr marL="432000" lvl="1" indent="-216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1" strike="noStrike" spc="-1">
                <a:solidFill>
                  <a:srgbClr val="333333"/>
                </a:solidFill>
                <a:latin typeface="Trebuchet MS"/>
                <a:ea typeface="DejaVu Sans"/>
              </a:rPr>
              <a:t>heaps máximos</a:t>
            </a: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: o maior elemento se encontra no raiz.</a:t>
            </a:r>
            <a:endParaRPr lang="pt-BR" sz="1400" b="0" strike="noStrike" spc="-1">
              <a:latin typeface="Spranq eco sans"/>
            </a:endParaRPr>
          </a:p>
          <a:p>
            <a:pPr marL="1080000" lvl="4" indent="-216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X[Pai(i)] ≥ X[i]</a:t>
            </a:r>
            <a:endParaRPr lang="pt-BR" sz="1400" b="0" strike="noStrike" spc="-1">
              <a:latin typeface="Spranq eco sans"/>
            </a:endParaRPr>
          </a:p>
          <a:p>
            <a:pPr marL="432000" lvl="1" indent="-216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1" strike="noStrike" spc="-1">
                <a:solidFill>
                  <a:srgbClr val="333333"/>
                </a:solidFill>
                <a:latin typeface="Trebuchet MS"/>
                <a:ea typeface="DejaVu Sans"/>
              </a:rPr>
              <a:t>heaps mínimos</a:t>
            </a: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: o menor elemento está na raiz.</a:t>
            </a:r>
            <a:endParaRPr lang="pt-BR" sz="1400" b="0" strike="noStrike" spc="-1">
              <a:latin typeface="Spranq eco sans"/>
            </a:endParaRPr>
          </a:p>
          <a:p>
            <a:pPr marL="1080000" lvl="4" indent="-216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X[Pai(i)] ≤ X[i]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655" name="CustomShape 3"/>
          <p:cNvSpPr/>
          <p:nvPr/>
        </p:nvSpPr>
        <p:spPr>
          <a:xfrm>
            <a:off x="2315160" y="3300120"/>
            <a:ext cx="78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CustomShape 1"/>
          <p:cNvSpPr/>
          <p:nvPr/>
        </p:nvSpPr>
        <p:spPr>
          <a:xfrm>
            <a:off x="131400" y="59040"/>
            <a:ext cx="228492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18">
                <a:solidFill>
                  <a:srgbClr val="990100"/>
                </a:solidFill>
                <a:latin typeface="Trebuchet MS"/>
                <a:ea typeface="DejaVu Sans"/>
              </a:rPr>
              <a:t>Árvores Heap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657" name="CustomShape 2"/>
          <p:cNvSpPr/>
          <p:nvPr/>
        </p:nvSpPr>
        <p:spPr>
          <a:xfrm>
            <a:off x="389880" y="683280"/>
            <a:ext cx="3677400" cy="2024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080" rIns="0" bIns="0"/>
          <a:lstStyle/>
          <a:p>
            <a:pPr marL="12600" indent="-215640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SzPct val="45000"/>
              <a:buFont typeface="Symbol"/>
              <a:buChar char=""/>
            </a:pP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Exemplo de uso: </a:t>
            </a:r>
            <a:endParaRPr lang="pt-BR" sz="1400" b="0" strike="noStrike" spc="-1">
              <a:latin typeface="Spranq eco sans"/>
            </a:endParaRPr>
          </a:p>
          <a:p>
            <a:pPr marL="432000" lvl="1" indent="-216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Processos pendentes usados por um sistema operacional, onde cada processo possui um valor associado que indica a prioridade do trabalho.</a:t>
            </a:r>
            <a:endParaRPr lang="pt-BR" sz="1400" b="0" strike="noStrike" spc="-1">
              <a:latin typeface="Spranq eco sans"/>
            </a:endParaRPr>
          </a:p>
          <a:p>
            <a:pPr marL="432000" lvl="1" indent="-216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Os processo são mantidos em uma lista de prioridades, onde os com prioridade mais alta serão executados antes de quaisquer trabalhos com necessidades menos urgentes.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658" name="CustomShape 3"/>
          <p:cNvSpPr/>
          <p:nvPr/>
        </p:nvSpPr>
        <p:spPr>
          <a:xfrm>
            <a:off x="2315160" y="3300120"/>
            <a:ext cx="78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CustomShape 1"/>
          <p:cNvSpPr/>
          <p:nvPr/>
        </p:nvSpPr>
        <p:spPr>
          <a:xfrm>
            <a:off x="131400" y="59040"/>
            <a:ext cx="289188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18">
                <a:solidFill>
                  <a:srgbClr val="990100"/>
                </a:solidFill>
                <a:latin typeface="Trebuchet MS"/>
                <a:ea typeface="DejaVu Sans"/>
              </a:rPr>
              <a:t>Árvores Heap – Heap Máximo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660" name="CustomShape 2"/>
          <p:cNvSpPr/>
          <p:nvPr/>
        </p:nvSpPr>
        <p:spPr>
          <a:xfrm>
            <a:off x="389880" y="683280"/>
            <a:ext cx="3677400" cy="267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080" rIns="0" bIns="0"/>
          <a:lstStyle/>
          <a:p>
            <a:pPr marL="12600" indent="-215640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SzPct val="45000"/>
              <a:buFont typeface="Symbol"/>
              <a:buChar char=""/>
            </a:pP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sss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661" name="CustomShape 3"/>
          <p:cNvSpPr/>
          <p:nvPr/>
        </p:nvSpPr>
        <p:spPr>
          <a:xfrm>
            <a:off x="2315160" y="3300120"/>
            <a:ext cx="78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  <p:pic>
        <p:nvPicPr>
          <p:cNvPr id="662" name="Imagem 661"/>
          <p:cNvPicPr/>
          <p:nvPr/>
        </p:nvPicPr>
        <p:blipFill>
          <a:blip r:embed="rId2"/>
          <a:stretch/>
        </p:blipFill>
        <p:spPr>
          <a:xfrm>
            <a:off x="286200" y="499320"/>
            <a:ext cx="4033080" cy="2488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CustomShape 1"/>
          <p:cNvSpPr/>
          <p:nvPr/>
        </p:nvSpPr>
        <p:spPr>
          <a:xfrm>
            <a:off x="131400" y="59040"/>
            <a:ext cx="289188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18">
                <a:solidFill>
                  <a:srgbClr val="990100"/>
                </a:solidFill>
                <a:latin typeface="Trebuchet MS"/>
                <a:ea typeface="DejaVu Sans"/>
              </a:rPr>
              <a:t>Árvores Heap – Heap Mínimo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664" name="CustomShape 2"/>
          <p:cNvSpPr/>
          <p:nvPr/>
        </p:nvSpPr>
        <p:spPr>
          <a:xfrm>
            <a:off x="2315160" y="3300120"/>
            <a:ext cx="78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  <p:pic>
        <p:nvPicPr>
          <p:cNvPr id="665" name="Imagem 664"/>
          <p:cNvPicPr/>
          <p:nvPr/>
        </p:nvPicPr>
        <p:blipFill>
          <a:blip r:embed="rId2"/>
          <a:stretch/>
        </p:blipFill>
        <p:spPr>
          <a:xfrm>
            <a:off x="400320" y="576000"/>
            <a:ext cx="3629520" cy="2375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CustomShape 1"/>
          <p:cNvSpPr/>
          <p:nvPr/>
        </p:nvSpPr>
        <p:spPr>
          <a:xfrm>
            <a:off x="95400" y="59040"/>
            <a:ext cx="249588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7">
                <a:solidFill>
                  <a:srgbClr val="990100"/>
                </a:solidFill>
                <a:latin typeface="Trebuchet MS"/>
                <a:ea typeface="DejaVu Sans"/>
              </a:rPr>
              <a:t>Inserindo </a:t>
            </a:r>
            <a:r>
              <a:rPr lang="pt-BR" sz="1400" b="0" strike="noStrike" spc="38">
                <a:solidFill>
                  <a:srgbClr val="990100"/>
                </a:solidFill>
                <a:latin typeface="Trebuchet MS"/>
                <a:ea typeface="DejaVu Sans"/>
              </a:rPr>
              <a:t>no</a:t>
            </a:r>
            <a:r>
              <a:rPr lang="pt-BR" sz="1400" b="0" strike="noStrike" spc="-83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43">
                <a:solidFill>
                  <a:srgbClr val="990100"/>
                </a:solidFill>
                <a:latin typeface="Trebuchet MS"/>
                <a:ea typeface="DejaVu Sans"/>
              </a:rPr>
              <a:t>Heap - Máximo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667" name="CustomShape 2"/>
          <p:cNvSpPr/>
          <p:nvPr/>
        </p:nvSpPr>
        <p:spPr>
          <a:xfrm>
            <a:off x="2288160" y="3300120"/>
            <a:ext cx="132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13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68" name="CustomShape 3"/>
          <p:cNvSpPr/>
          <p:nvPr/>
        </p:nvSpPr>
        <p:spPr>
          <a:xfrm>
            <a:off x="144000" y="526680"/>
            <a:ext cx="4244400" cy="141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000" b="0" strike="noStrike" spc="7">
                <a:solidFill>
                  <a:srgbClr val="990100"/>
                </a:solidFill>
                <a:latin typeface="Trebuchet MS"/>
                <a:ea typeface="DejaVu Sans"/>
              </a:rPr>
              <a:t>void</a:t>
            </a:r>
            <a:r>
              <a:rPr lang="pt-BR" sz="10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</a:t>
            </a:r>
            <a:r>
              <a:rPr lang="pt-BR" sz="1000" b="1" strike="noStrike" spc="-1">
                <a:solidFill>
                  <a:srgbClr val="21409A"/>
                </a:solidFill>
                <a:latin typeface="Spranq eco sans"/>
                <a:ea typeface="DejaVu Sans"/>
              </a:rPr>
              <a:t>insere</a:t>
            </a:r>
            <a:r>
              <a:rPr lang="pt-BR" sz="10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(pFP fprio , Item item) {</a:t>
            </a:r>
            <a:endParaRPr lang="pt-BR" sz="10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fprio-&gt;v[fprio-&gt;n] = item;</a:t>
            </a:r>
            <a:endParaRPr lang="pt-BR" sz="10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fprio-&gt;n++;</a:t>
            </a:r>
            <a:endParaRPr lang="pt-BR" sz="10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0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	sobe_no_heap</a:t>
            </a:r>
            <a:r>
              <a:rPr lang="pt-BR" sz="10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(fprio , fprio-&gt;n - 1);</a:t>
            </a:r>
            <a:endParaRPr lang="pt-BR" sz="10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}</a:t>
            </a:r>
            <a:endParaRPr lang="pt-BR" sz="1000" b="0" strike="noStrike" spc="-1">
              <a:latin typeface="Spranq eco sans"/>
            </a:endParaRPr>
          </a:p>
        </p:txBody>
      </p:sp>
      <p:sp>
        <p:nvSpPr>
          <p:cNvPr id="669" name="CustomShape 4"/>
          <p:cNvSpPr/>
          <p:nvPr/>
        </p:nvSpPr>
        <p:spPr>
          <a:xfrm>
            <a:off x="129600" y="1367640"/>
            <a:ext cx="2770920" cy="355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000" b="0" strike="noStrike" spc="7">
                <a:solidFill>
                  <a:srgbClr val="990100"/>
                </a:solidFill>
                <a:latin typeface="Trebuchet MS"/>
                <a:ea typeface="DejaVu Sans"/>
              </a:rPr>
              <a:t>#define</a:t>
            </a:r>
            <a:r>
              <a:rPr lang="pt-BR" sz="10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PAI(i) ((i-1) /2)</a:t>
            </a:r>
            <a:endParaRPr lang="pt-BR" sz="1000" b="0" strike="noStrike" spc="-1">
              <a:latin typeface="Spranq eco sans"/>
            </a:endParaRPr>
          </a:p>
        </p:txBody>
      </p:sp>
      <p:sp>
        <p:nvSpPr>
          <p:cNvPr id="670" name="CustomShape 5"/>
          <p:cNvSpPr/>
          <p:nvPr/>
        </p:nvSpPr>
        <p:spPr>
          <a:xfrm>
            <a:off x="256680" y="1701720"/>
            <a:ext cx="4350600" cy="1035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pt-BR" sz="1000" b="0" strike="noStrike" spc="7">
                <a:solidFill>
                  <a:srgbClr val="990100"/>
                </a:solidFill>
                <a:latin typeface="Trebuchet MS"/>
                <a:ea typeface="DejaVu Sans"/>
              </a:rPr>
              <a:t>void</a:t>
            </a:r>
            <a:r>
              <a:rPr lang="pt-BR" sz="1000" b="0" strike="noStrike" spc="-1">
                <a:solidFill>
                  <a:srgbClr val="990100"/>
                </a:solidFill>
                <a:latin typeface="Spranq eco sans"/>
                <a:ea typeface="DejaVu Sans"/>
              </a:rPr>
              <a:t> </a:t>
            </a:r>
            <a:r>
              <a:rPr lang="pt-BR" sz="1000" b="1" strike="noStrike" spc="-1">
                <a:solidFill>
                  <a:srgbClr val="21409A"/>
                </a:solidFill>
                <a:latin typeface="Spranq eco sans"/>
                <a:ea typeface="DejaVu Sans"/>
              </a:rPr>
              <a:t>sobe_no_heap</a:t>
            </a:r>
            <a:r>
              <a:rPr lang="pt-BR" sz="10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(pFP fprio , int k) {</a:t>
            </a:r>
            <a:endParaRPr lang="pt-BR" sz="10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00" b="0" strike="noStrike" spc="-1">
                <a:solidFill>
                  <a:srgbClr val="21409A"/>
                </a:solidFill>
                <a:latin typeface="Spranq eco sans"/>
                <a:ea typeface="DejaVu Sans"/>
              </a:rPr>
              <a:t>	</a:t>
            </a:r>
            <a:r>
              <a:rPr lang="pt-BR" sz="10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if (k &gt; 0 &amp;&amp; fprio-&gt;v[PAI(k)]. chave &lt; fprio-&gt;v[k]. chave) {</a:t>
            </a:r>
            <a:endParaRPr lang="pt-BR" sz="10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	</a:t>
            </a:r>
            <a:r>
              <a:rPr lang="pt-BR" sz="100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troca</a:t>
            </a:r>
            <a:r>
              <a:rPr lang="pt-BR" sz="10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(&amp;fprio-&gt;v[k], &amp;fprio-&gt;v[PAI(k)]);</a:t>
            </a:r>
            <a:endParaRPr lang="pt-BR" sz="10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	</a:t>
            </a:r>
            <a:r>
              <a:rPr lang="pt-BR" sz="100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sobe_no_heap</a:t>
            </a:r>
            <a:r>
              <a:rPr lang="pt-BR" sz="10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(fprio , PAI(k));</a:t>
            </a:r>
            <a:endParaRPr lang="pt-BR" sz="10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}</a:t>
            </a:r>
            <a:endParaRPr lang="pt-BR" sz="10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000" b="0" strike="noStrike" spc="-1">
                <a:solidFill>
                  <a:srgbClr val="21409A"/>
                </a:solidFill>
                <a:latin typeface="Spranq eco sans"/>
                <a:ea typeface="DejaVu Sans"/>
              </a:rPr>
              <a:t>}</a:t>
            </a:r>
            <a:endParaRPr lang="pt-BR" sz="1000" b="0" strike="noStrike" spc="-1">
              <a:latin typeface="Spranq eco sans"/>
            </a:endParaRPr>
          </a:p>
        </p:txBody>
      </p:sp>
      <p:sp>
        <p:nvSpPr>
          <p:cNvPr id="671" name="CustomShape 6"/>
          <p:cNvSpPr/>
          <p:nvPr/>
        </p:nvSpPr>
        <p:spPr>
          <a:xfrm>
            <a:off x="144000" y="2664000"/>
            <a:ext cx="3023280" cy="625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000" b="1" u="sng" strike="noStrike" spc="-1">
                <a:solidFill>
                  <a:srgbClr val="21409A"/>
                </a:solidFill>
                <a:uFillTx/>
                <a:latin typeface="Spranq eco sans"/>
                <a:ea typeface="DejaVu Sans"/>
              </a:rPr>
              <a:t>Tempo de insere</a:t>
            </a:r>
            <a:r>
              <a:rPr lang="pt-BR" sz="1000" b="1" strike="noStrike" spc="-1">
                <a:solidFill>
                  <a:srgbClr val="21409A"/>
                </a:solidFill>
                <a:latin typeface="Spranq eco sans"/>
                <a:ea typeface="DejaVu Sans"/>
              </a:rPr>
              <a:t> </a:t>
            </a:r>
            <a:r>
              <a:rPr lang="pt-BR" sz="1200" b="0" strike="noStrike" spc="-1">
                <a:solidFill>
                  <a:srgbClr val="0066B3"/>
                </a:solidFill>
                <a:latin typeface="Spranq eco sans"/>
                <a:ea typeface="DejaVu Sans"/>
              </a:rPr>
              <a:t>:</a:t>
            </a:r>
            <a:endParaRPr lang="pt-BR" sz="12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0066B3"/>
                </a:solidFill>
                <a:latin typeface="Spranq eco sans"/>
                <a:ea typeface="DejaVu Sans"/>
              </a:rPr>
              <a:t>• </a:t>
            </a:r>
            <a:r>
              <a:rPr lang="pt-BR" sz="12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No máximo subimos até a raiz</a:t>
            </a:r>
            <a:endParaRPr lang="pt-BR" sz="12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• Ou seja, O(lg n)</a:t>
            </a:r>
            <a:endParaRPr lang="pt-BR" sz="12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CustomShape 1"/>
          <p:cNvSpPr/>
          <p:nvPr/>
        </p:nvSpPr>
        <p:spPr>
          <a:xfrm>
            <a:off x="131400" y="59040"/>
            <a:ext cx="238860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4">
                <a:solidFill>
                  <a:srgbClr val="990100"/>
                </a:solidFill>
                <a:latin typeface="Trebuchet MS"/>
                <a:ea typeface="DejaVu Sans"/>
              </a:rPr>
              <a:t>Extraindo </a:t>
            </a:r>
            <a:r>
              <a:rPr lang="pt-BR" sz="1400" b="0" strike="noStrike" spc="58">
                <a:solidFill>
                  <a:srgbClr val="990100"/>
                </a:solidFill>
                <a:latin typeface="Trebuchet MS"/>
                <a:ea typeface="DejaVu Sans"/>
              </a:rPr>
              <a:t>o</a:t>
            </a:r>
            <a:r>
              <a:rPr lang="pt-BR" sz="1400" b="0" strike="noStrike" spc="-111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52">
                <a:solidFill>
                  <a:srgbClr val="990100"/>
                </a:solidFill>
                <a:latin typeface="Trebuchet MS"/>
                <a:ea typeface="DejaVu Sans"/>
              </a:rPr>
              <a:t>Máximo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673" name="CustomShape 2"/>
          <p:cNvSpPr/>
          <p:nvPr/>
        </p:nvSpPr>
        <p:spPr>
          <a:xfrm>
            <a:off x="2277000" y="49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4" name="CustomShape 3"/>
          <p:cNvSpPr/>
          <p:nvPr/>
        </p:nvSpPr>
        <p:spPr>
          <a:xfrm>
            <a:off x="2277000" y="49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5" name="CustomShape 4"/>
          <p:cNvSpPr/>
          <p:nvPr/>
        </p:nvSpPr>
        <p:spPr>
          <a:xfrm>
            <a:off x="2372400" y="57384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76" name="CustomShape 5"/>
          <p:cNvSpPr/>
          <p:nvPr/>
        </p:nvSpPr>
        <p:spPr>
          <a:xfrm>
            <a:off x="119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7" name="CustomShape 6"/>
          <p:cNvSpPr/>
          <p:nvPr/>
        </p:nvSpPr>
        <p:spPr>
          <a:xfrm>
            <a:off x="119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8" name="CustomShape 7"/>
          <p:cNvSpPr/>
          <p:nvPr/>
        </p:nvSpPr>
        <p:spPr>
          <a:xfrm>
            <a:off x="1292400" y="111348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10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79" name="CustomShape 8"/>
          <p:cNvSpPr/>
          <p:nvPr/>
        </p:nvSpPr>
        <p:spPr>
          <a:xfrm>
            <a:off x="1515960" y="7347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0" name="CustomShape 9"/>
          <p:cNvSpPr/>
          <p:nvPr/>
        </p:nvSpPr>
        <p:spPr>
          <a:xfrm>
            <a:off x="65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1" name="CustomShape 10"/>
          <p:cNvSpPr/>
          <p:nvPr/>
        </p:nvSpPr>
        <p:spPr>
          <a:xfrm>
            <a:off x="65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2" name="CustomShape 11"/>
          <p:cNvSpPr/>
          <p:nvPr/>
        </p:nvSpPr>
        <p:spPr>
          <a:xfrm>
            <a:off x="779400" y="165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7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83" name="CustomShape 12"/>
          <p:cNvSpPr/>
          <p:nvPr/>
        </p:nvSpPr>
        <p:spPr>
          <a:xfrm>
            <a:off x="94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4" name="CustomShape 13"/>
          <p:cNvSpPr/>
          <p:nvPr/>
        </p:nvSpPr>
        <p:spPr>
          <a:xfrm>
            <a:off x="38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5" name="CustomShape 14"/>
          <p:cNvSpPr/>
          <p:nvPr/>
        </p:nvSpPr>
        <p:spPr>
          <a:xfrm>
            <a:off x="38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6" name="CustomShape 15"/>
          <p:cNvSpPr/>
          <p:nvPr/>
        </p:nvSpPr>
        <p:spPr>
          <a:xfrm>
            <a:off x="509400" y="219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87" name="CustomShape 16"/>
          <p:cNvSpPr/>
          <p:nvPr/>
        </p:nvSpPr>
        <p:spPr>
          <a:xfrm>
            <a:off x="62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8" name="CustomShape 17"/>
          <p:cNvSpPr/>
          <p:nvPr/>
        </p:nvSpPr>
        <p:spPr>
          <a:xfrm>
            <a:off x="92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9" name="CustomShape 18"/>
          <p:cNvSpPr/>
          <p:nvPr/>
        </p:nvSpPr>
        <p:spPr>
          <a:xfrm>
            <a:off x="92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0" name="CustomShape 19"/>
          <p:cNvSpPr/>
          <p:nvPr/>
        </p:nvSpPr>
        <p:spPr>
          <a:xfrm>
            <a:off x="1049400" y="219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91" name="CustomShape 20"/>
          <p:cNvSpPr/>
          <p:nvPr/>
        </p:nvSpPr>
        <p:spPr>
          <a:xfrm>
            <a:off x="89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2" name="CustomShape 21"/>
          <p:cNvSpPr/>
          <p:nvPr/>
        </p:nvSpPr>
        <p:spPr>
          <a:xfrm>
            <a:off x="173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3" name="CustomShape 22"/>
          <p:cNvSpPr/>
          <p:nvPr/>
        </p:nvSpPr>
        <p:spPr>
          <a:xfrm>
            <a:off x="173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4" name="CustomShape 23"/>
          <p:cNvSpPr/>
          <p:nvPr/>
        </p:nvSpPr>
        <p:spPr>
          <a:xfrm>
            <a:off x="1859400" y="165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9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95" name="CustomShape 24"/>
          <p:cNvSpPr/>
          <p:nvPr/>
        </p:nvSpPr>
        <p:spPr>
          <a:xfrm>
            <a:off x="148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6" name="CustomShape 25"/>
          <p:cNvSpPr/>
          <p:nvPr/>
        </p:nvSpPr>
        <p:spPr>
          <a:xfrm>
            <a:off x="146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7" name="CustomShape 26"/>
          <p:cNvSpPr/>
          <p:nvPr/>
        </p:nvSpPr>
        <p:spPr>
          <a:xfrm>
            <a:off x="146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8" name="CustomShape 27"/>
          <p:cNvSpPr/>
          <p:nvPr/>
        </p:nvSpPr>
        <p:spPr>
          <a:xfrm>
            <a:off x="1589400" y="219276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699" name="CustomShape 28"/>
          <p:cNvSpPr/>
          <p:nvPr/>
        </p:nvSpPr>
        <p:spPr>
          <a:xfrm>
            <a:off x="170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0" name="CustomShape 29"/>
          <p:cNvSpPr/>
          <p:nvPr/>
        </p:nvSpPr>
        <p:spPr>
          <a:xfrm>
            <a:off x="200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1" name="CustomShape 30"/>
          <p:cNvSpPr/>
          <p:nvPr/>
        </p:nvSpPr>
        <p:spPr>
          <a:xfrm>
            <a:off x="200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2" name="CustomShape 31"/>
          <p:cNvSpPr/>
          <p:nvPr/>
        </p:nvSpPr>
        <p:spPr>
          <a:xfrm>
            <a:off x="2129400" y="219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8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03" name="CustomShape 32"/>
          <p:cNvSpPr/>
          <p:nvPr/>
        </p:nvSpPr>
        <p:spPr>
          <a:xfrm>
            <a:off x="197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0" y="0"/>
                </a:moveTo>
                <a:lnTo>
                  <a:pt x="113184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4" name="CustomShape 33"/>
          <p:cNvSpPr/>
          <p:nvPr/>
        </p:nvSpPr>
        <p:spPr>
          <a:xfrm>
            <a:off x="335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5" name="CustomShape 34"/>
          <p:cNvSpPr/>
          <p:nvPr/>
        </p:nvSpPr>
        <p:spPr>
          <a:xfrm>
            <a:off x="335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6" name="CustomShape 35"/>
          <p:cNvSpPr/>
          <p:nvPr/>
        </p:nvSpPr>
        <p:spPr>
          <a:xfrm>
            <a:off x="3479400" y="111420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4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07" name="CustomShape 36"/>
          <p:cNvSpPr/>
          <p:nvPr/>
        </p:nvSpPr>
        <p:spPr>
          <a:xfrm>
            <a:off x="2595600" y="7347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8" name="CustomShape 37"/>
          <p:cNvSpPr/>
          <p:nvPr/>
        </p:nvSpPr>
        <p:spPr>
          <a:xfrm>
            <a:off x="281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9" name="CustomShape 38"/>
          <p:cNvSpPr/>
          <p:nvPr/>
        </p:nvSpPr>
        <p:spPr>
          <a:xfrm>
            <a:off x="281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0" name="CustomShape 39"/>
          <p:cNvSpPr/>
          <p:nvPr/>
        </p:nvSpPr>
        <p:spPr>
          <a:xfrm>
            <a:off x="2939400" y="165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3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11" name="CustomShape 40"/>
          <p:cNvSpPr/>
          <p:nvPr/>
        </p:nvSpPr>
        <p:spPr>
          <a:xfrm>
            <a:off x="310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2" name="CustomShape 41"/>
          <p:cNvSpPr/>
          <p:nvPr/>
        </p:nvSpPr>
        <p:spPr>
          <a:xfrm>
            <a:off x="389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3" name="CustomShape 42"/>
          <p:cNvSpPr/>
          <p:nvPr/>
        </p:nvSpPr>
        <p:spPr>
          <a:xfrm>
            <a:off x="389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4" name="CustomShape 43"/>
          <p:cNvSpPr/>
          <p:nvPr/>
        </p:nvSpPr>
        <p:spPr>
          <a:xfrm>
            <a:off x="4019400" y="165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2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15" name="CustomShape 44"/>
          <p:cNvSpPr/>
          <p:nvPr/>
        </p:nvSpPr>
        <p:spPr>
          <a:xfrm>
            <a:off x="364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716" name="Group 45"/>
          <p:cNvGrpSpPr/>
          <p:nvPr/>
        </p:nvGrpSpPr>
        <p:grpSpPr>
          <a:xfrm>
            <a:off x="144000" y="2577600"/>
            <a:ext cx="4752000" cy="799200"/>
            <a:chOff x="144000" y="2577600"/>
            <a:chExt cx="4752000" cy="799200"/>
          </a:xfrm>
        </p:grpSpPr>
        <p:sp>
          <p:nvSpPr>
            <p:cNvPr id="717" name="CustomShape 46"/>
            <p:cNvSpPr/>
            <p:nvPr/>
          </p:nvSpPr>
          <p:spPr>
            <a:xfrm>
              <a:off x="144000" y="2577600"/>
              <a:ext cx="3810960" cy="1778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10800" rIns="0" bIns="0"/>
            <a:lstStyle/>
            <a:p>
              <a:pPr marL="12600">
                <a:lnSpc>
                  <a:spcPct val="100000"/>
                </a:lnSpc>
                <a:spcBef>
                  <a:spcPts val="85"/>
                </a:spcBef>
              </a:pPr>
              <a:r>
                <a:rPr lang="pt-BR" sz="1100" b="0" strike="noStrike" spc="-97">
                  <a:solidFill>
                    <a:srgbClr val="333333"/>
                  </a:solidFill>
                  <a:latin typeface="DejaVu Serif"/>
                  <a:ea typeface="DejaVu Sans"/>
                </a:rPr>
                <a:t>• </a:t>
              </a:r>
              <a:r>
                <a:rPr lang="pt-BR" sz="1050" b="0" strike="noStrike" spc="18">
                  <a:solidFill>
                    <a:srgbClr val="333333"/>
                  </a:solidFill>
                  <a:latin typeface="Trebuchet MS"/>
                  <a:ea typeface="DejaVu Sans"/>
                </a:rPr>
                <a:t>Trocamos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a </a:t>
              </a:r>
              <a:r>
                <a:rPr lang="pt-BR" sz="105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raiz </a:t>
              </a:r>
              <a:r>
                <a:rPr lang="pt-BR" sz="1050" b="0" strike="noStrike" spc="46">
                  <a:solidFill>
                    <a:srgbClr val="333333"/>
                  </a:solidFill>
                  <a:latin typeface="Trebuchet MS"/>
                  <a:ea typeface="DejaVu Sans"/>
                </a:rPr>
                <a:t>com </a:t>
              </a:r>
              <a:r>
                <a:rPr lang="pt-BR" sz="1050" b="0" strike="noStrike" spc="52">
                  <a:solidFill>
                    <a:srgbClr val="333333"/>
                  </a:solidFill>
                  <a:latin typeface="Trebuchet MS"/>
                  <a:ea typeface="DejaVu Sans"/>
                </a:rPr>
                <a:t>o </a:t>
              </a:r>
              <a:r>
                <a:rPr lang="pt-BR" sz="1050" b="0" strike="noStrike" spc="-4">
                  <a:solidFill>
                    <a:srgbClr val="333333"/>
                  </a:solidFill>
                  <a:latin typeface="Trebuchet MS"/>
                  <a:ea typeface="DejaVu Sans"/>
                </a:rPr>
                <a:t>último </a:t>
              </a:r>
              <a:r>
                <a:rPr lang="pt-BR" sz="105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elemento </a:t>
              </a:r>
              <a:r>
                <a:rPr lang="pt-BR" sz="1050" b="0" strike="noStrike" spc="46">
                  <a:solidFill>
                    <a:srgbClr val="333333"/>
                  </a:solidFill>
                  <a:latin typeface="Trebuchet MS"/>
                  <a:ea typeface="DejaVu Sans"/>
                </a:rPr>
                <a:t>do</a:t>
              </a:r>
              <a:r>
                <a:rPr lang="pt-BR" sz="1050" b="0" strike="noStrike" spc="-16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heap</a:t>
              </a:r>
              <a:endParaRPr lang="pt-BR" sz="1050" b="0" strike="noStrike" spc="-1">
                <a:latin typeface="Spranq eco sans"/>
              </a:endParaRPr>
            </a:p>
          </p:txBody>
        </p:sp>
        <p:sp>
          <p:nvSpPr>
            <p:cNvPr id="718" name="CustomShape 47"/>
            <p:cNvSpPr/>
            <p:nvPr/>
          </p:nvSpPr>
          <p:spPr>
            <a:xfrm>
              <a:off x="144000" y="2763720"/>
              <a:ext cx="2516400" cy="1778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10800" rIns="0" bIns="0"/>
            <a:lstStyle/>
            <a:p>
              <a:pPr marL="12600">
                <a:lnSpc>
                  <a:spcPct val="100000"/>
                </a:lnSpc>
                <a:spcBef>
                  <a:spcPts val="85"/>
                </a:spcBef>
              </a:pPr>
              <a:r>
                <a:rPr lang="pt-BR" sz="1100" b="0" strike="noStrike" spc="-97">
                  <a:solidFill>
                    <a:srgbClr val="333333"/>
                  </a:solidFill>
                  <a:latin typeface="DejaVu Serif"/>
                  <a:ea typeface="DejaVu Sans"/>
                </a:rPr>
                <a:t>• </a:t>
              </a:r>
              <a:r>
                <a:rPr lang="pt-BR" sz="1050" b="0" strike="noStrike" spc="58">
                  <a:solidFill>
                    <a:srgbClr val="333333"/>
                  </a:solidFill>
                  <a:latin typeface="Trebuchet MS"/>
                  <a:ea typeface="DejaVu Sans"/>
                </a:rPr>
                <a:t>Descemos </a:t>
              </a:r>
              <a:r>
                <a:rPr lang="pt-BR" sz="1050" b="0" strike="noStrike" spc="38">
                  <a:solidFill>
                    <a:srgbClr val="333333"/>
                  </a:solidFill>
                  <a:latin typeface="Trebuchet MS"/>
                  <a:ea typeface="DejaVu Sans"/>
                </a:rPr>
                <a:t>no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heap</a:t>
              </a:r>
              <a:r>
                <a:rPr lang="pt-BR" sz="1050" b="0" strike="noStrike" spc="-10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50" b="0" strike="noStrike" spc="12">
                  <a:solidFill>
                    <a:srgbClr val="333333"/>
                  </a:solidFill>
                  <a:latin typeface="Trebuchet MS"/>
                  <a:ea typeface="DejaVu Sans"/>
                </a:rPr>
                <a:t>arrumando</a:t>
              </a:r>
              <a:endParaRPr lang="pt-BR" sz="1050" b="0" strike="noStrike" spc="-1">
                <a:latin typeface="Spranq eco sans"/>
              </a:endParaRPr>
            </a:p>
          </p:txBody>
        </p:sp>
        <p:sp>
          <p:nvSpPr>
            <p:cNvPr id="719" name="CustomShape 48"/>
            <p:cNvSpPr/>
            <p:nvPr/>
          </p:nvSpPr>
          <p:spPr>
            <a:xfrm>
              <a:off x="340200" y="2985840"/>
              <a:ext cx="4555800" cy="3909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5760" rIns="0" bIns="0"/>
            <a:lstStyle/>
            <a:p>
              <a:pPr marL="12600">
                <a:lnSpc>
                  <a:spcPct val="100000"/>
                </a:lnSpc>
                <a:spcBef>
                  <a:spcPts val="45"/>
                </a:spcBef>
              </a:pPr>
              <a:r>
                <a:rPr lang="pt-BR" sz="1000" b="0" strike="noStrike" spc="117">
                  <a:solidFill>
                    <a:srgbClr val="333333"/>
                  </a:solidFill>
                  <a:latin typeface="Trebuchet MS"/>
                  <a:ea typeface="DejaVu Sans"/>
                </a:rPr>
                <a:t>–</a:t>
              </a:r>
              <a:r>
                <a:rPr lang="pt-BR" sz="1000" b="0" strike="noStrike" spc="233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Trocamos</a:t>
              </a:r>
              <a:r>
                <a:rPr lang="pt-BR" sz="1000" b="0" strike="noStrike" spc="-3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o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4">
                  <a:solidFill>
                    <a:srgbClr val="333333"/>
                  </a:solidFill>
                  <a:latin typeface="Trebuchet MS"/>
                  <a:ea typeface="DejaVu Sans"/>
                </a:rPr>
                <a:t>pai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18">
                  <a:solidFill>
                    <a:srgbClr val="333333"/>
                  </a:solidFill>
                  <a:latin typeface="Trebuchet MS"/>
                  <a:ea typeface="DejaVu Sans"/>
                </a:rPr>
                <a:t>com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o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maior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43">
                  <a:solidFill>
                    <a:srgbClr val="333333"/>
                  </a:solidFill>
                  <a:latin typeface="Trebuchet MS"/>
                  <a:ea typeface="DejaVu Sans"/>
                </a:rPr>
                <a:t>dos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12">
                  <a:solidFill>
                    <a:srgbClr val="333333"/>
                  </a:solidFill>
                  <a:latin typeface="Trebuchet MS"/>
                  <a:ea typeface="DejaVu Sans"/>
                </a:rPr>
                <a:t>dois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ﬁlhos</a:t>
              </a:r>
              <a:r>
                <a:rPr lang="pt-BR" sz="1000" b="0" strike="noStrike" spc="-3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(se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necessário)</a:t>
              </a:r>
              <a:endParaRPr lang="pt-BR" sz="1000" b="0" strike="noStrike" spc="-1">
                <a:latin typeface="Spranq eco sans"/>
              </a:endParaRPr>
            </a:p>
            <a:p>
              <a:pPr marL="12600" algn="ctr">
                <a:lnSpc>
                  <a:spcPct val="100000"/>
                </a:lnSpc>
                <a:spcBef>
                  <a:spcPts val="879"/>
                </a:spcBef>
              </a:pPr>
              <a:r>
                <a:rPr lang="pt-BR" sz="800" b="0" strike="noStrike" spc="-1">
                  <a:solidFill>
                    <a:srgbClr val="666666"/>
                  </a:solidFill>
                  <a:latin typeface="Trebuchet MS"/>
                  <a:ea typeface="DejaVu Sans"/>
                </a:rPr>
                <a:t>14</a:t>
              </a:r>
              <a:endParaRPr lang="pt-BR" sz="800" b="0" strike="noStrike" spc="-1">
                <a:latin typeface="Spranq eco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CustomShape 1"/>
          <p:cNvSpPr/>
          <p:nvPr/>
        </p:nvSpPr>
        <p:spPr>
          <a:xfrm>
            <a:off x="131400" y="59040"/>
            <a:ext cx="246060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4">
                <a:solidFill>
                  <a:srgbClr val="990100"/>
                </a:solidFill>
                <a:latin typeface="Trebuchet MS"/>
                <a:ea typeface="DejaVu Sans"/>
              </a:rPr>
              <a:t>Extraindo </a:t>
            </a:r>
            <a:r>
              <a:rPr lang="pt-BR" sz="1400" b="0" strike="noStrike" spc="58">
                <a:solidFill>
                  <a:srgbClr val="990100"/>
                </a:solidFill>
                <a:latin typeface="Trebuchet MS"/>
                <a:ea typeface="DejaVu Sans"/>
              </a:rPr>
              <a:t>o</a:t>
            </a:r>
            <a:r>
              <a:rPr lang="pt-BR" sz="1400" b="0" strike="noStrike" spc="-111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52">
                <a:solidFill>
                  <a:srgbClr val="990100"/>
                </a:solidFill>
                <a:latin typeface="Trebuchet MS"/>
                <a:ea typeface="DejaVu Sans"/>
              </a:rPr>
              <a:t>Máximo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721" name="CustomShape 2"/>
          <p:cNvSpPr/>
          <p:nvPr/>
        </p:nvSpPr>
        <p:spPr>
          <a:xfrm>
            <a:off x="2277000" y="49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2" name="CustomShape 3"/>
          <p:cNvSpPr/>
          <p:nvPr/>
        </p:nvSpPr>
        <p:spPr>
          <a:xfrm>
            <a:off x="2277000" y="49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3" name="CustomShape 4"/>
          <p:cNvSpPr/>
          <p:nvPr/>
        </p:nvSpPr>
        <p:spPr>
          <a:xfrm>
            <a:off x="2399400" y="57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8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24" name="CustomShape 5"/>
          <p:cNvSpPr/>
          <p:nvPr/>
        </p:nvSpPr>
        <p:spPr>
          <a:xfrm>
            <a:off x="119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5" name="CustomShape 6"/>
          <p:cNvSpPr/>
          <p:nvPr/>
        </p:nvSpPr>
        <p:spPr>
          <a:xfrm>
            <a:off x="119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6" name="CustomShape 7"/>
          <p:cNvSpPr/>
          <p:nvPr/>
        </p:nvSpPr>
        <p:spPr>
          <a:xfrm>
            <a:off x="1292400" y="111348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10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27" name="CustomShape 8"/>
          <p:cNvSpPr/>
          <p:nvPr/>
        </p:nvSpPr>
        <p:spPr>
          <a:xfrm>
            <a:off x="1515960" y="7347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8" name="CustomShape 9"/>
          <p:cNvSpPr/>
          <p:nvPr/>
        </p:nvSpPr>
        <p:spPr>
          <a:xfrm>
            <a:off x="65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9" name="CustomShape 10"/>
          <p:cNvSpPr/>
          <p:nvPr/>
        </p:nvSpPr>
        <p:spPr>
          <a:xfrm>
            <a:off x="65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0" name="CustomShape 11"/>
          <p:cNvSpPr/>
          <p:nvPr/>
        </p:nvSpPr>
        <p:spPr>
          <a:xfrm>
            <a:off x="779400" y="165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7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31" name="CustomShape 12"/>
          <p:cNvSpPr/>
          <p:nvPr/>
        </p:nvSpPr>
        <p:spPr>
          <a:xfrm>
            <a:off x="94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2" name="CustomShape 13"/>
          <p:cNvSpPr/>
          <p:nvPr/>
        </p:nvSpPr>
        <p:spPr>
          <a:xfrm>
            <a:off x="38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3" name="CustomShape 14"/>
          <p:cNvSpPr/>
          <p:nvPr/>
        </p:nvSpPr>
        <p:spPr>
          <a:xfrm>
            <a:off x="38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4" name="CustomShape 15"/>
          <p:cNvSpPr/>
          <p:nvPr/>
        </p:nvSpPr>
        <p:spPr>
          <a:xfrm>
            <a:off x="509400" y="219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35" name="CustomShape 16"/>
          <p:cNvSpPr/>
          <p:nvPr/>
        </p:nvSpPr>
        <p:spPr>
          <a:xfrm>
            <a:off x="62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6" name="CustomShape 17"/>
          <p:cNvSpPr/>
          <p:nvPr/>
        </p:nvSpPr>
        <p:spPr>
          <a:xfrm>
            <a:off x="92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7" name="CustomShape 18"/>
          <p:cNvSpPr/>
          <p:nvPr/>
        </p:nvSpPr>
        <p:spPr>
          <a:xfrm>
            <a:off x="92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8" name="CustomShape 19"/>
          <p:cNvSpPr/>
          <p:nvPr/>
        </p:nvSpPr>
        <p:spPr>
          <a:xfrm>
            <a:off x="1049400" y="219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39" name="CustomShape 20"/>
          <p:cNvSpPr/>
          <p:nvPr/>
        </p:nvSpPr>
        <p:spPr>
          <a:xfrm>
            <a:off x="89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0" name="CustomShape 21"/>
          <p:cNvSpPr/>
          <p:nvPr/>
        </p:nvSpPr>
        <p:spPr>
          <a:xfrm>
            <a:off x="173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1" name="CustomShape 22"/>
          <p:cNvSpPr/>
          <p:nvPr/>
        </p:nvSpPr>
        <p:spPr>
          <a:xfrm>
            <a:off x="173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2" name="CustomShape 23"/>
          <p:cNvSpPr/>
          <p:nvPr/>
        </p:nvSpPr>
        <p:spPr>
          <a:xfrm>
            <a:off x="1859400" y="165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9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43" name="CustomShape 24"/>
          <p:cNvSpPr/>
          <p:nvPr/>
        </p:nvSpPr>
        <p:spPr>
          <a:xfrm>
            <a:off x="148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4" name="CustomShape 25"/>
          <p:cNvSpPr/>
          <p:nvPr/>
        </p:nvSpPr>
        <p:spPr>
          <a:xfrm>
            <a:off x="146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5" name="CustomShape 26"/>
          <p:cNvSpPr/>
          <p:nvPr/>
        </p:nvSpPr>
        <p:spPr>
          <a:xfrm>
            <a:off x="146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6" name="CustomShape 27"/>
          <p:cNvSpPr/>
          <p:nvPr/>
        </p:nvSpPr>
        <p:spPr>
          <a:xfrm>
            <a:off x="1589400" y="219276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47" name="CustomShape 28"/>
          <p:cNvSpPr/>
          <p:nvPr/>
        </p:nvSpPr>
        <p:spPr>
          <a:xfrm>
            <a:off x="170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8" name="CustomShape 29"/>
          <p:cNvSpPr/>
          <p:nvPr/>
        </p:nvSpPr>
        <p:spPr>
          <a:xfrm>
            <a:off x="335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9" name="CustomShape 30"/>
          <p:cNvSpPr/>
          <p:nvPr/>
        </p:nvSpPr>
        <p:spPr>
          <a:xfrm>
            <a:off x="335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50" name="CustomShape 31"/>
          <p:cNvSpPr/>
          <p:nvPr/>
        </p:nvSpPr>
        <p:spPr>
          <a:xfrm>
            <a:off x="3479400" y="111420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4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51" name="CustomShape 32"/>
          <p:cNvSpPr/>
          <p:nvPr/>
        </p:nvSpPr>
        <p:spPr>
          <a:xfrm>
            <a:off x="2595600" y="7347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52" name="CustomShape 33"/>
          <p:cNvSpPr/>
          <p:nvPr/>
        </p:nvSpPr>
        <p:spPr>
          <a:xfrm>
            <a:off x="281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53" name="CustomShape 34"/>
          <p:cNvSpPr/>
          <p:nvPr/>
        </p:nvSpPr>
        <p:spPr>
          <a:xfrm>
            <a:off x="281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54" name="CustomShape 35"/>
          <p:cNvSpPr/>
          <p:nvPr/>
        </p:nvSpPr>
        <p:spPr>
          <a:xfrm>
            <a:off x="2939400" y="165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3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55" name="CustomShape 36"/>
          <p:cNvSpPr/>
          <p:nvPr/>
        </p:nvSpPr>
        <p:spPr>
          <a:xfrm>
            <a:off x="310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56" name="CustomShape 37"/>
          <p:cNvSpPr/>
          <p:nvPr/>
        </p:nvSpPr>
        <p:spPr>
          <a:xfrm>
            <a:off x="389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57" name="CustomShape 38"/>
          <p:cNvSpPr/>
          <p:nvPr/>
        </p:nvSpPr>
        <p:spPr>
          <a:xfrm>
            <a:off x="389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58" name="CustomShape 39"/>
          <p:cNvSpPr/>
          <p:nvPr/>
        </p:nvSpPr>
        <p:spPr>
          <a:xfrm>
            <a:off x="4019400" y="165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2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59" name="CustomShape 40"/>
          <p:cNvSpPr/>
          <p:nvPr/>
        </p:nvSpPr>
        <p:spPr>
          <a:xfrm>
            <a:off x="364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760" name="Group 41"/>
          <p:cNvGrpSpPr/>
          <p:nvPr/>
        </p:nvGrpSpPr>
        <p:grpSpPr>
          <a:xfrm>
            <a:off x="144000" y="2577600"/>
            <a:ext cx="4392000" cy="799200"/>
            <a:chOff x="144000" y="2577600"/>
            <a:chExt cx="4392000" cy="799200"/>
          </a:xfrm>
        </p:grpSpPr>
        <p:sp>
          <p:nvSpPr>
            <p:cNvPr id="761" name="CustomShape 42"/>
            <p:cNvSpPr/>
            <p:nvPr/>
          </p:nvSpPr>
          <p:spPr>
            <a:xfrm>
              <a:off x="144000" y="2577600"/>
              <a:ext cx="3522240" cy="1778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10800" rIns="0" bIns="0"/>
            <a:lstStyle/>
            <a:p>
              <a:pPr marL="12600">
                <a:lnSpc>
                  <a:spcPct val="100000"/>
                </a:lnSpc>
                <a:spcBef>
                  <a:spcPts val="85"/>
                </a:spcBef>
              </a:pPr>
              <a:r>
                <a:rPr lang="pt-BR" sz="1100" b="0" strike="noStrike" spc="-97">
                  <a:solidFill>
                    <a:srgbClr val="333333"/>
                  </a:solidFill>
                  <a:latin typeface="DejaVu Serif"/>
                  <a:ea typeface="DejaVu Sans"/>
                </a:rPr>
                <a:t>• </a:t>
              </a:r>
              <a:r>
                <a:rPr lang="pt-BR" sz="1050" b="0" strike="noStrike" spc="18">
                  <a:solidFill>
                    <a:srgbClr val="333333"/>
                  </a:solidFill>
                  <a:latin typeface="Trebuchet MS"/>
                  <a:ea typeface="DejaVu Sans"/>
                </a:rPr>
                <a:t>Trocamos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a </a:t>
              </a:r>
              <a:r>
                <a:rPr lang="pt-BR" sz="105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raiz </a:t>
              </a:r>
              <a:r>
                <a:rPr lang="pt-BR" sz="1050" b="0" strike="noStrike" spc="46">
                  <a:solidFill>
                    <a:srgbClr val="333333"/>
                  </a:solidFill>
                  <a:latin typeface="Trebuchet MS"/>
                  <a:ea typeface="DejaVu Sans"/>
                </a:rPr>
                <a:t>com </a:t>
              </a:r>
              <a:r>
                <a:rPr lang="pt-BR" sz="1050" b="0" strike="noStrike" spc="52">
                  <a:solidFill>
                    <a:srgbClr val="333333"/>
                  </a:solidFill>
                  <a:latin typeface="Trebuchet MS"/>
                  <a:ea typeface="DejaVu Sans"/>
                </a:rPr>
                <a:t>o </a:t>
              </a:r>
              <a:r>
                <a:rPr lang="pt-BR" sz="1050" b="0" strike="noStrike" spc="-4">
                  <a:solidFill>
                    <a:srgbClr val="333333"/>
                  </a:solidFill>
                  <a:latin typeface="Trebuchet MS"/>
                  <a:ea typeface="DejaVu Sans"/>
                </a:rPr>
                <a:t>último </a:t>
              </a:r>
              <a:r>
                <a:rPr lang="pt-BR" sz="105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elemento </a:t>
              </a:r>
              <a:r>
                <a:rPr lang="pt-BR" sz="1050" b="0" strike="noStrike" spc="46">
                  <a:solidFill>
                    <a:srgbClr val="333333"/>
                  </a:solidFill>
                  <a:latin typeface="Trebuchet MS"/>
                  <a:ea typeface="DejaVu Sans"/>
                </a:rPr>
                <a:t>do</a:t>
              </a:r>
              <a:r>
                <a:rPr lang="pt-BR" sz="1050" b="0" strike="noStrike" spc="-16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heap</a:t>
              </a:r>
              <a:endParaRPr lang="pt-BR" sz="1050" b="0" strike="noStrike" spc="-1">
                <a:latin typeface="Spranq eco sans"/>
              </a:endParaRPr>
            </a:p>
          </p:txBody>
        </p:sp>
        <p:sp>
          <p:nvSpPr>
            <p:cNvPr id="762" name="CustomShape 43"/>
            <p:cNvSpPr/>
            <p:nvPr/>
          </p:nvSpPr>
          <p:spPr>
            <a:xfrm>
              <a:off x="144000" y="2763720"/>
              <a:ext cx="2325600" cy="1778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10800" rIns="0" bIns="0"/>
            <a:lstStyle/>
            <a:p>
              <a:pPr marL="12600">
                <a:lnSpc>
                  <a:spcPct val="100000"/>
                </a:lnSpc>
                <a:spcBef>
                  <a:spcPts val="85"/>
                </a:spcBef>
              </a:pPr>
              <a:r>
                <a:rPr lang="pt-BR" sz="1100" b="0" strike="noStrike" spc="-97">
                  <a:solidFill>
                    <a:srgbClr val="333333"/>
                  </a:solidFill>
                  <a:latin typeface="DejaVu Serif"/>
                  <a:ea typeface="DejaVu Sans"/>
                </a:rPr>
                <a:t>• </a:t>
              </a:r>
              <a:r>
                <a:rPr lang="pt-BR" sz="1050" b="0" strike="noStrike" spc="58">
                  <a:solidFill>
                    <a:srgbClr val="333333"/>
                  </a:solidFill>
                  <a:latin typeface="Trebuchet MS"/>
                  <a:ea typeface="DejaVu Sans"/>
                </a:rPr>
                <a:t>Descemos </a:t>
              </a:r>
              <a:r>
                <a:rPr lang="pt-BR" sz="1050" b="0" strike="noStrike" spc="38">
                  <a:solidFill>
                    <a:srgbClr val="333333"/>
                  </a:solidFill>
                  <a:latin typeface="Trebuchet MS"/>
                  <a:ea typeface="DejaVu Sans"/>
                </a:rPr>
                <a:t>no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heap</a:t>
              </a:r>
              <a:r>
                <a:rPr lang="pt-BR" sz="1050" b="0" strike="noStrike" spc="-10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50" b="0" strike="noStrike" spc="12">
                  <a:solidFill>
                    <a:srgbClr val="333333"/>
                  </a:solidFill>
                  <a:latin typeface="Trebuchet MS"/>
                  <a:ea typeface="DejaVu Sans"/>
                </a:rPr>
                <a:t>arrumando</a:t>
              </a:r>
              <a:endParaRPr lang="pt-BR" sz="1050" b="0" strike="noStrike" spc="-1">
                <a:latin typeface="Spranq eco sans"/>
              </a:endParaRPr>
            </a:p>
          </p:txBody>
        </p:sp>
        <p:sp>
          <p:nvSpPr>
            <p:cNvPr id="763" name="CustomShape 44"/>
            <p:cNvSpPr/>
            <p:nvPr/>
          </p:nvSpPr>
          <p:spPr>
            <a:xfrm>
              <a:off x="325440" y="2985840"/>
              <a:ext cx="4210560" cy="3909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5760" rIns="0" bIns="0"/>
            <a:lstStyle/>
            <a:p>
              <a:pPr marL="12600">
                <a:lnSpc>
                  <a:spcPct val="100000"/>
                </a:lnSpc>
                <a:spcBef>
                  <a:spcPts val="45"/>
                </a:spcBef>
              </a:pPr>
              <a:r>
                <a:rPr lang="pt-BR" sz="1000" b="0" strike="noStrike" spc="117">
                  <a:solidFill>
                    <a:srgbClr val="333333"/>
                  </a:solidFill>
                  <a:latin typeface="Trebuchet MS"/>
                  <a:ea typeface="DejaVu Sans"/>
                </a:rPr>
                <a:t>–</a:t>
              </a:r>
              <a:r>
                <a:rPr lang="pt-BR" sz="1000" b="0" strike="noStrike" spc="233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Trocamos</a:t>
              </a:r>
              <a:r>
                <a:rPr lang="pt-BR" sz="1000" b="0" strike="noStrike" spc="-3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o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4">
                  <a:solidFill>
                    <a:srgbClr val="333333"/>
                  </a:solidFill>
                  <a:latin typeface="Trebuchet MS"/>
                  <a:ea typeface="DejaVu Sans"/>
                </a:rPr>
                <a:t>pai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18">
                  <a:solidFill>
                    <a:srgbClr val="333333"/>
                  </a:solidFill>
                  <a:latin typeface="Trebuchet MS"/>
                  <a:ea typeface="DejaVu Sans"/>
                </a:rPr>
                <a:t>com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o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maior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43">
                  <a:solidFill>
                    <a:srgbClr val="333333"/>
                  </a:solidFill>
                  <a:latin typeface="Trebuchet MS"/>
                  <a:ea typeface="DejaVu Sans"/>
                </a:rPr>
                <a:t>dos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12">
                  <a:solidFill>
                    <a:srgbClr val="333333"/>
                  </a:solidFill>
                  <a:latin typeface="Trebuchet MS"/>
                  <a:ea typeface="DejaVu Sans"/>
                </a:rPr>
                <a:t>dois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ﬁlhos</a:t>
              </a:r>
              <a:r>
                <a:rPr lang="pt-BR" sz="1000" b="0" strike="noStrike" spc="-3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(se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necessário)</a:t>
              </a:r>
              <a:endParaRPr lang="pt-BR" sz="1000" b="0" strike="noStrike" spc="-1">
                <a:latin typeface="Spranq eco sans"/>
              </a:endParaRPr>
            </a:p>
            <a:p>
              <a:pPr marL="12600" algn="ctr">
                <a:lnSpc>
                  <a:spcPct val="100000"/>
                </a:lnSpc>
                <a:spcBef>
                  <a:spcPts val="879"/>
                </a:spcBef>
              </a:pPr>
              <a:r>
                <a:rPr lang="pt-BR" sz="800" b="0" strike="noStrike" spc="-1">
                  <a:solidFill>
                    <a:srgbClr val="666666"/>
                  </a:solidFill>
                  <a:latin typeface="Trebuchet MS"/>
                  <a:ea typeface="DejaVu Sans"/>
                </a:rPr>
                <a:t>14</a:t>
              </a:r>
              <a:endParaRPr lang="pt-BR" sz="800" b="0" strike="noStrike" spc="-1">
                <a:latin typeface="Spranq eco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CustomShape 1"/>
          <p:cNvSpPr/>
          <p:nvPr/>
        </p:nvSpPr>
        <p:spPr>
          <a:xfrm>
            <a:off x="95400" y="59040"/>
            <a:ext cx="235260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4">
                <a:solidFill>
                  <a:srgbClr val="990100"/>
                </a:solidFill>
                <a:latin typeface="Trebuchet MS"/>
                <a:ea typeface="DejaVu Sans"/>
              </a:rPr>
              <a:t> Extraindo </a:t>
            </a:r>
            <a:r>
              <a:rPr lang="pt-BR" sz="1400" b="0" strike="noStrike" spc="58">
                <a:solidFill>
                  <a:srgbClr val="990100"/>
                </a:solidFill>
                <a:latin typeface="Trebuchet MS"/>
                <a:ea typeface="DejaVu Sans"/>
              </a:rPr>
              <a:t>o</a:t>
            </a:r>
            <a:r>
              <a:rPr lang="pt-BR" sz="1400" b="0" strike="noStrike" spc="-111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52">
                <a:solidFill>
                  <a:srgbClr val="990100"/>
                </a:solidFill>
                <a:latin typeface="Trebuchet MS"/>
                <a:ea typeface="DejaVu Sans"/>
              </a:rPr>
              <a:t>Máximo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765" name="CustomShape 2"/>
          <p:cNvSpPr/>
          <p:nvPr/>
        </p:nvSpPr>
        <p:spPr>
          <a:xfrm>
            <a:off x="2277000" y="49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66" name="CustomShape 3"/>
          <p:cNvSpPr/>
          <p:nvPr/>
        </p:nvSpPr>
        <p:spPr>
          <a:xfrm>
            <a:off x="2277000" y="49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67" name="CustomShape 4"/>
          <p:cNvSpPr/>
          <p:nvPr/>
        </p:nvSpPr>
        <p:spPr>
          <a:xfrm>
            <a:off x="2399400" y="57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8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68" name="CustomShape 5"/>
          <p:cNvSpPr/>
          <p:nvPr/>
        </p:nvSpPr>
        <p:spPr>
          <a:xfrm>
            <a:off x="119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99FF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69" name="CustomShape 6"/>
          <p:cNvSpPr/>
          <p:nvPr/>
        </p:nvSpPr>
        <p:spPr>
          <a:xfrm>
            <a:off x="119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0" name="CustomShape 7"/>
          <p:cNvSpPr/>
          <p:nvPr/>
        </p:nvSpPr>
        <p:spPr>
          <a:xfrm>
            <a:off x="1292400" y="111348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10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71" name="CustomShape 8"/>
          <p:cNvSpPr/>
          <p:nvPr/>
        </p:nvSpPr>
        <p:spPr>
          <a:xfrm>
            <a:off x="1515960" y="7347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2" name="CustomShape 9"/>
          <p:cNvSpPr/>
          <p:nvPr/>
        </p:nvSpPr>
        <p:spPr>
          <a:xfrm>
            <a:off x="65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3" name="CustomShape 10"/>
          <p:cNvSpPr/>
          <p:nvPr/>
        </p:nvSpPr>
        <p:spPr>
          <a:xfrm>
            <a:off x="65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4" name="CustomShape 11"/>
          <p:cNvSpPr/>
          <p:nvPr/>
        </p:nvSpPr>
        <p:spPr>
          <a:xfrm>
            <a:off x="779400" y="165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7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75" name="CustomShape 12"/>
          <p:cNvSpPr/>
          <p:nvPr/>
        </p:nvSpPr>
        <p:spPr>
          <a:xfrm>
            <a:off x="94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6" name="CustomShape 13"/>
          <p:cNvSpPr/>
          <p:nvPr/>
        </p:nvSpPr>
        <p:spPr>
          <a:xfrm>
            <a:off x="38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7" name="CustomShape 14"/>
          <p:cNvSpPr/>
          <p:nvPr/>
        </p:nvSpPr>
        <p:spPr>
          <a:xfrm>
            <a:off x="38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8" name="CustomShape 15"/>
          <p:cNvSpPr/>
          <p:nvPr/>
        </p:nvSpPr>
        <p:spPr>
          <a:xfrm>
            <a:off x="509400" y="219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79" name="CustomShape 16"/>
          <p:cNvSpPr/>
          <p:nvPr/>
        </p:nvSpPr>
        <p:spPr>
          <a:xfrm>
            <a:off x="62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0" name="CustomShape 17"/>
          <p:cNvSpPr/>
          <p:nvPr/>
        </p:nvSpPr>
        <p:spPr>
          <a:xfrm>
            <a:off x="92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1" name="CustomShape 18"/>
          <p:cNvSpPr/>
          <p:nvPr/>
        </p:nvSpPr>
        <p:spPr>
          <a:xfrm>
            <a:off x="92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2" name="CustomShape 19"/>
          <p:cNvSpPr/>
          <p:nvPr/>
        </p:nvSpPr>
        <p:spPr>
          <a:xfrm>
            <a:off x="1049400" y="219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83" name="CustomShape 20"/>
          <p:cNvSpPr/>
          <p:nvPr/>
        </p:nvSpPr>
        <p:spPr>
          <a:xfrm>
            <a:off x="89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4" name="CustomShape 21"/>
          <p:cNvSpPr/>
          <p:nvPr/>
        </p:nvSpPr>
        <p:spPr>
          <a:xfrm>
            <a:off x="173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5" name="CustomShape 22"/>
          <p:cNvSpPr/>
          <p:nvPr/>
        </p:nvSpPr>
        <p:spPr>
          <a:xfrm>
            <a:off x="173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6" name="CustomShape 23"/>
          <p:cNvSpPr/>
          <p:nvPr/>
        </p:nvSpPr>
        <p:spPr>
          <a:xfrm>
            <a:off x="1859400" y="165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9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87" name="CustomShape 24"/>
          <p:cNvSpPr/>
          <p:nvPr/>
        </p:nvSpPr>
        <p:spPr>
          <a:xfrm>
            <a:off x="148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8" name="CustomShape 25"/>
          <p:cNvSpPr/>
          <p:nvPr/>
        </p:nvSpPr>
        <p:spPr>
          <a:xfrm>
            <a:off x="146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9" name="CustomShape 26"/>
          <p:cNvSpPr/>
          <p:nvPr/>
        </p:nvSpPr>
        <p:spPr>
          <a:xfrm>
            <a:off x="146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0" name="CustomShape 27"/>
          <p:cNvSpPr/>
          <p:nvPr/>
        </p:nvSpPr>
        <p:spPr>
          <a:xfrm>
            <a:off x="1589400" y="219276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91" name="CustomShape 28"/>
          <p:cNvSpPr/>
          <p:nvPr/>
        </p:nvSpPr>
        <p:spPr>
          <a:xfrm>
            <a:off x="170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2" name="CustomShape 29"/>
          <p:cNvSpPr/>
          <p:nvPr/>
        </p:nvSpPr>
        <p:spPr>
          <a:xfrm>
            <a:off x="335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99FF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3" name="CustomShape 30"/>
          <p:cNvSpPr/>
          <p:nvPr/>
        </p:nvSpPr>
        <p:spPr>
          <a:xfrm>
            <a:off x="335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4" name="CustomShape 31"/>
          <p:cNvSpPr/>
          <p:nvPr/>
        </p:nvSpPr>
        <p:spPr>
          <a:xfrm>
            <a:off x="3479400" y="111420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4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95" name="CustomShape 32"/>
          <p:cNvSpPr/>
          <p:nvPr/>
        </p:nvSpPr>
        <p:spPr>
          <a:xfrm>
            <a:off x="2595600" y="7347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6" name="CustomShape 33"/>
          <p:cNvSpPr/>
          <p:nvPr/>
        </p:nvSpPr>
        <p:spPr>
          <a:xfrm>
            <a:off x="281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7" name="CustomShape 34"/>
          <p:cNvSpPr/>
          <p:nvPr/>
        </p:nvSpPr>
        <p:spPr>
          <a:xfrm>
            <a:off x="281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8" name="CustomShape 35"/>
          <p:cNvSpPr/>
          <p:nvPr/>
        </p:nvSpPr>
        <p:spPr>
          <a:xfrm>
            <a:off x="2939400" y="165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3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799" name="CustomShape 36"/>
          <p:cNvSpPr/>
          <p:nvPr/>
        </p:nvSpPr>
        <p:spPr>
          <a:xfrm>
            <a:off x="310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0" name="CustomShape 37"/>
          <p:cNvSpPr/>
          <p:nvPr/>
        </p:nvSpPr>
        <p:spPr>
          <a:xfrm>
            <a:off x="389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1" name="CustomShape 38"/>
          <p:cNvSpPr/>
          <p:nvPr/>
        </p:nvSpPr>
        <p:spPr>
          <a:xfrm>
            <a:off x="389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2" name="CustomShape 39"/>
          <p:cNvSpPr/>
          <p:nvPr/>
        </p:nvSpPr>
        <p:spPr>
          <a:xfrm>
            <a:off x="4019400" y="165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2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03" name="CustomShape 40"/>
          <p:cNvSpPr/>
          <p:nvPr/>
        </p:nvSpPr>
        <p:spPr>
          <a:xfrm>
            <a:off x="364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804" name="Group 41"/>
          <p:cNvGrpSpPr/>
          <p:nvPr/>
        </p:nvGrpSpPr>
        <p:grpSpPr>
          <a:xfrm>
            <a:off x="216000" y="2577600"/>
            <a:ext cx="4394160" cy="799200"/>
            <a:chOff x="216000" y="2577600"/>
            <a:chExt cx="4394160" cy="799200"/>
          </a:xfrm>
        </p:grpSpPr>
        <p:sp>
          <p:nvSpPr>
            <p:cNvPr id="805" name="CustomShape 42"/>
            <p:cNvSpPr/>
            <p:nvPr/>
          </p:nvSpPr>
          <p:spPr>
            <a:xfrm>
              <a:off x="216000" y="2577600"/>
              <a:ext cx="3524040" cy="1778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10800" rIns="0" bIns="0"/>
            <a:lstStyle/>
            <a:p>
              <a:pPr marL="12600">
                <a:lnSpc>
                  <a:spcPct val="100000"/>
                </a:lnSpc>
                <a:spcBef>
                  <a:spcPts val="85"/>
                </a:spcBef>
              </a:pPr>
              <a:r>
                <a:rPr lang="pt-BR" sz="1100" b="0" strike="noStrike" spc="-97">
                  <a:solidFill>
                    <a:srgbClr val="333333"/>
                  </a:solidFill>
                  <a:latin typeface="DejaVu Serif"/>
                  <a:ea typeface="DejaVu Sans"/>
                </a:rPr>
                <a:t>• </a:t>
              </a:r>
              <a:r>
                <a:rPr lang="pt-BR" sz="1050" b="0" strike="noStrike" spc="18">
                  <a:solidFill>
                    <a:srgbClr val="333333"/>
                  </a:solidFill>
                  <a:latin typeface="Trebuchet MS"/>
                  <a:ea typeface="DejaVu Sans"/>
                </a:rPr>
                <a:t>Trocamos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a </a:t>
              </a:r>
              <a:r>
                <a:rPr lang="pt-BR" sz="105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raiz </a:t>
              </a:r>
              <a:r>
                <a:rPr lang="pt-BR" sz="1050" b="0" strike="noStrike" spc="46">
                  <a:solidFill>
                    <a:srgbClr val="333333"/>
                  </a:solidFill>
                  <a:latin typeface="Trebuchet MS"/>
                  <a:ea typeface="DejaVu Sans"/>
                </a:rPr>
                <a:t>com </a:t>
              </a:r>
              <a:r>
                <a:rPr lang="pt-BR" sz="1050" b="0" strike="noStrike" spc="52">
                  <a:solidFill>
                    <a:srgbClr val="333333"/>
                  </a:solidFill>
                  <a:latin typeface="Trebuchet MS"/>
                  <a:ea typeface="DejaVu Sans"/>
                </a:rPr>
                <a:t>o </a:t>
              </a:r>
              <a:r>
                <a:rPr lang="pt-BR" sz="1050" b="0" strike="noStrike" spc="-4">
                  <a:solidFill>
                    <a:srgbClr val="333333"/>
                  </a:solidFill>
                  <a:latin typeface="Trebuchet MS"/>
                  <a:ea typeface="DejaVu Sans"/>
                </a:rPr>
                <a:t>último </a:t>
              </a:r>
              <a:r>
                <a:rPr lang="pt-BR" sz="105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elemento </a:t>
              </a:r>
              <a:r>
                <a:rPr lang="pt-BR" sz="1050" b="0" strike="noStrike" spc="46">
                  <a:solidFill>
                    <a:srgbClr val="333333"/>
                  </a:solidFill>
                  <a:latin typeface="Trebuchet MS"/>
                  <a:ea typeface="DejaVu Sans"/>
                </a:rPr>
                <a:t>do</a:t>
              </a:r>
              <a:r>
                <a:rPr lang="pt-BR" sz="1050" b="0" strike="noStrike" spc="-16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heap</a:t>
              </a:r>
              <a:endParaRPr lang="pt-BR" sz="1050" b="0" strike="noStrike" spc="-1">
                <a:latin typeface="Spranq eco sans"/>
              </a:endParaRPr>
            </a:p>
          </p:txBody>
        </p:sp>
        <p:sp>
          <p:nvSpPr>
            <p:cNvPr id="806" name="CustomShape 43"/>
            <p:cNvSpPr/>
            <p:nvPr/>
          </p:nvSpPr>
          <p:spPr>
            <a:xfrm>
              <a:off x="216000" y="2763720"/>
              <a:ext cx="2326680" cy="1778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10800" rIns="0" bIns="0"/>
            <a:lstStyle/>
            <a:p>
              <a:pPr marL="12600">
                <a:lnSpc>
                  <a:spcPct val="100000"/>
                </a:lnSpc>
                <a:spcBef>
                  <a:spcPts val="85"/>
                </a:spcBef>
              </a:pPr>
              <a:r>
                <a:rPr lang="pt-BR" sz="1100" b="0" strike="noStrike" spc="-97">
                  <a:solidFill>
                    <a:srgbClr val="333333"/>
                  </a:solidFill>
                  <a:latin typeface="DejaVu Serif"/>
                  <a:ea typeface="DejaVu Sans"/>
                </a:rPr>
                <a:t>• </a:t>
              </a:r>
              <a:r>
                <a:rPr lang="pt-BR" sz="1050" b="0" strike="noStrike" spc="58">
                  <a:solidFill>
                    <a:srgbClr val="333333"/>
                  </a:solidFill>
                  <a:latin typeface="Trebuchet MS"/>
                  <a:ea typeface="DejaVu Sans"/>
                </a:rPr>
                <a:t>Descemos </a:t>
              </a:r>
              <a:r>
                <a:rPr lang="pt-BR" sz="1050" b="0" strike="noStrike" spc="38">
                  <a:solidFill>
                    <a:srgbClr val="333333"/>
                  </a:solidFill>
                  <a:latin typeface="Trebuchet MS"/>
                  <a:ea typeface="DejaVu Sans"/>
                </a:rPr>
                <a:t>no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heap</a:t>
              </a:r>
              <a:r>
                <a:rPr lang="pt-BR" sz="1050" b="0" strike="noStrike" spc="-10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50" b="0" strike="noStrike" spc="12">
                  <a:solidFill>
                    <a:srgbClr val="333333"/>
                  </a:solidFill>
                  <a:latin typeface="Trebuchet MS"/>
                  <a:ea typeface="DejaVu Sans"/>
                </a:rPr>
                <a:t>arrumando</a:t>
              </a:r>
              <a:endParaRPr lang="pt-BR" sz="1050" b="0" strike="noStrike" spc="-1">
                <a:latin typeface="Spranq eco sans"/>
              </a:endParaRPr>
            </a:p>
          </p:txBody>
        </p:sp>
        <p:sp>
          <p:nvSpPr>
            <p:cNvPr id="807" name="CustomShape 44"/>
            <p:cNvSpPr/>
            <p:nvPr/>
          </p:nvSpPr>
          <p:spPr>
            <a:xfrm>
              <a:off x="397800" y="2985840"/>
              <a:ext cx="4212360" cy="3909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5760" rIns="0" bIns="0"/>
            <a:lstStyle/>
            <a:p>
              <a:pPr marL="12600">
                <a:lnSpc>
                  <a:spcPct val="100000"/>
                </a:lnSpc>
                <a:spcBef>
                  <a:spcPts val="45"/>
                </a:spcBef>
              </a:pPr>
              <a:r>
                <a:rPr lang="pt-BR" sz="1000" b="0" strike="noStrike" spc="117">
                  <a:solidFill>
                    <a:srgbClr val="333333"/>
                  </a:solidFill>
                  <a:latin typeface="Trebuchet MS"/>
                  <a:ea typeface="DejaVu Sans"/>
                </a:rPr>
                <a:t>–</a:t>
              </a:r>
              <a:r>
                <a:rPr lang="pt-BR" sz="1000" b="0" strike="noStrike" spc="233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Trocamos</a:t>
              </a:r>
              <a:r>
                <a:rPr lang="pt-BR" sz="1000" b="0" strike="noStrike" spc="-3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o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4">
                  <a:solidFill>
                    <a:srgbClr val="333333"/>
                  </a:solidFill>
                  <a:latin typeface="Trebuchet MS"/>
                  <a:ea typeface="DejaVu Sans"/>
                </a:rPr>
                <a:t>pai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18">
                  <a:solidFill>
                    <a:srgbClr val="333333"/>
                  </a:solidFill>
                  <a:latin typeface="Trebuchet MS"/>
                  <a:ea typeface="DejaVu Sans"/>
                </a:rPr>
                <a:t>com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o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maior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43">
                  <a:solidFill>
                    <a:srgbClr val="333333"/>
                  </a:solidFill>
                  <a:latin typeface="Trebuchet MS"/>
                  <a:ea typeface="DejaVu Sans"/>
                </a:rPr>
                <a:t>dos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12">
                  <a:solidFill>
                    <a:srgbClr val="333333"/>
                  </a:solidFill>
                  <a:latin typeface="Trebuchet MS"/>
                  <a:ea typeface="DejaVu Sans"/>
                </a:rPr>
                <a:t>dois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ﬁlhos</a:t>
              </a:r>
              <a:r>
                <a:rPr lang="pt-BR" sz="1000" b="0" strike="noStrike" spc="-3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(se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necessário)</a:t>
              </a:r>
              <a:endParaRPr lang="pt-BR" sz="1000" b="0" strike="noStrike" spc="-1">
                <a:latin typeface="Spranq eco sans"/>
              </a:endParaRPr>
            </a:p>
            <a:p>
              <a:pPr marL="12600" algn="ctr">
                <a:lnSpc>
                  <a:spcPct val="100000"/>
                </a:lnSpc>
                <a:spcBef>
                  <a:spcPts val="879"/>
                </a:spcBef>
              </a:pPr>
              <a:r>
                <a:rPr lang="pt-BR" sz="800" b="0" strike="noStrike" spc="-1">
                  <a:solidFill>
                    <a:srgbClr val="666666"/>
                  </a:solidFill>
                  <a:latin typeface="Trebuchet MS"/>
                  <a:ea typeface="DejaVu Sans"/>
                </a:rPr>
                <a:t>14</a:t>
              </a:r>
              <a:endParaRPr lang="pt-BR" sz="800" b="0" strike="noStrike" spc="-1">
                <a:latin typeface="Spranq eco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CustomShape 1"/>
          <p:cNvSpPr/>
          <p:nvPr/>
        </p:nvSpPr>
        <p:spPr>
          <a:xfrm>
            <a:off x="131400" y="59040"/>
            <a:ext cx="246060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4">
                <a:solidFill>
                  <a:srgbClr val="990100"/>
                </a:solidFill>
                <a:latin typeface="Trebuchet MS"/>
                <a:ea typeface="DejaVu Sans"/>
              </a:rPr>
              <a:t>Extraindo </a:t>
            </a:r>
            <a:r>
              <a:rPr lang="pt-BR" sz="1400" b="0" strike="noStrike" spc="58">
                <a:solidFill>
                  <a:srgbClr val="990100"/>
                </a:solidFill>
                <a:latin typeface="Trebuchet MS"/>
                <a:ea typeface="DejaVu Sans"/>
              </a:rPr>
              <a:t>o</a:t>
            </a:r>
            <a:r>
              <a:rPr lang="pt-BR" sz="1400" b="0" strike="noStrike" spc="-111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52">
                <a:solidFill>
                  <a:srgbClr val="990100"/>
                </a:solidFill>
                <a:latin typeface="Trebuchet MS"/>
                <a:ea typeface="DejaVu Sans"/>
              </a:rPr>
              <a:t>Máximo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809" name="CustomShape 2"/>
          <p:cNvSpPr/>
          <p:nvPr/>
        </p:nvSpPr>
        <p:spPr>
          <a:xfrm>
            <a:off x="2277000" y="49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0" name="CustomShape 3"/>
          <p:cNvSpPr/>
          <p:nvPr/>
        </p:nvSpPr>
        <p:spPr>
          <a:xfrm>
            <a:off x="2277000" y="49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1" name="CustomShape 4"/>
          <p:cNvSpPr/>
          <p:nvPr/>
        </p:nvSpPr>
        <p:spPr>
          <a:xfrm>
            <a:off x="2372400" y="57348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10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12" name="CustomShape 5"/>
          <p:cNvSpPr/>
          <p:nvPr/>
        </p:nvSpPr>
        <p:spPr>
          <a:xfrm>
            <a:off x="119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3" name="CustomShape 6"/>
          <p:cNvSpPr/>
          <p:nvPr/>
        </p:nvSpPr>
        <p:spPr>
          <a:xfrm>
            <a:off x="119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4" name="CustomShape 7"/>
          <p:cNvSpPr/>
          <p:nvPr/>
        </p:nvSpPr>
        <p:spPr>
          <a:xfrm>
            <a:off x="1319400" y="111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8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15" name="CustomShape 8"/>
          <p:cNvSpPr/>
          <p:nvPr/>
        </p:nvSpPr>
        <p:spPr>
          <a:xfrm>
            <a:off x="1515960" y="7347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6" name="CustomShape 9"/>
          <p:cNvSpPr/>
          <p:nvPr/>
        </p:nvSpPr>
        <p:spPr>
          <a:xfrm>
            <a:off x="65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99FF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7" name="CustomShape 10"/>
          <p:cNvSpPr/>
          <p:nvPr/>
        </p:nvSpPr>
        <p:spPr>
          <a:xfrm>
            <a:off x="65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8" name="CustomShape 11"/>
          <p:cNvSpPr/>
          <p:nvPr/>
        </p:nvSpPr>
        <p:spPr>
          <a:xfrm>
            <a:off x="779400" y="165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7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19" name="CustomShape 12"/>
          <p:cNvSpPr/>
          <p:nvPr/>
        </p:nvSpPr>
        <p:spPr>
          <a:xfrm>
            <a:off x="94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0" name="CustomShape 13"/>
          <p:cNvSpPr/>
          <p:nvPr/>
        </p:nvSpPr>
        <p:spPr>
          <a:xfrm>
            <a:off x="38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1" name="CustomShape 14"/>
          <p:cNvSpPr/>
          <p:nvPr/>
        </p:nvSpPr>
        <p:spPr>
          <a:xfrm>
            <a:off x="38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2" name="CustomShape 15"/>
          <p:cNvSpPr/>
          <p:nvPr/>
        </p:nvSpPr>
        <p:spPr>
          <a:xfrm>
            <a:off x="509400" y="219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23" name="CustomShape 16"/>
          <p:cNvSpPr/>
          <p:nvPr/>
        </p:nvSpPr>
        <p:spPr>
          <a:xfrm>
            <a:off x="62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4" name="CustomShape 17"/>
          <p:cNvSpPr/>
          <p:nvPr/>
        </p:nvSpPr>
        <p:spPr>
          <a:xfrm>
            <a:off x="92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5" name="CustomShape 18"/>
          <p:cNvSpPr/>
          <p:nvPr/>
        </p:nvSpPr>
        <p:spPr>
          <a:xfrm>
            <a:off x="92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6" name="CustomShape 19"/>
          <p:cNvSpPr/>
          <p:nvPr/>
        </p:nvSpPr>
        <p:spPr>
          <a:xfrm>
            <a:off x="1049400" y="219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27" name="CustomShape 20"/>
          <p:cNvSpPr/>
          <p:nvPr/>
        </p:nvSpPr>
        <p:spPr>
          <a:xfrm>
            <a:off x="89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8" name="CustomShape 21"/>
          <p:cNvSpPr/>
          <p:nvPr/>
        </p:nvSpPr>
        <p:spPr>
          <a:xfrm>
            <a:off x="173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99FF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9" name="CustomShape 22"/>
          <p:cNvSpPr/>
          <p:nvPr/>
        </p:nvSpPr>
        <p:spPr>
          <a:xfrm>
            <a:off x="173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0" name="CustomShape 23"/>
          <p:cNvSpPr/>
          <p:nvPr/>
        </p:nvSpPr>
        <p:spPr>
          <a:xfrm>
            <a:off x="1859400" y="165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9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31" name="CustomShape 24"/>
          <p:cNvSpPr/>
          <p:nvPr/>
        </p:nvSpPr>
        <p:spPr>
          <a:xfrm>
            <a:off x="148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2" name="CustomShape 25"/>
          <p:cNvSpPr/>
          <p:nvPr/>
        </p:nvSpPr>
        <p:spPr>
          <a:xfrm>
            <a:off x="146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3" name="CustomShape 26"/>
          <p:cNvSpPr/>
          <p:nvPr/>
        </p:nvSpPr>
        <p:spPr>
          <a:xfrm>
            <a:off x="146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4" name="CustomShape 27"/>
          <p:cNvSpPr/>
          <p:nvPr/>
        </p:nvSpPr>
        <p:spPr>
          <a:xfrm>
            <a:off x="1589400" y="219276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35" name="CustomShape 28"/>
          <p:cNvSpPr/>
          <p:nvPr/>
        </p:nvSpPr>
        <p:spPr>
          <a:xfrm>
            <a:off x="170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6" name="CustomShape 29"/>
          <p:cNvSpPr/>
          <p:nvPr/>
        </p:nvSpPr>
        <p:spPr>
          <a:xfrm>
            <a:off x="335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7" name="CustomShape 30"/>
          <p:cNvSpPr/>
          <p:nvPr/>
        </p:nvSpPr>
        <p:spPr>
          <a:xfrm>
            <a:off x="335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8" name="CustomShape 31"/>
          <p:cNvSpPr/>
          <p:nvPr/>
        </p:nvSpPr>
        <p:spPr>
          <a:xfrm>
            <a:off x="3479400" y="111420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4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39" name="CustomShape 32"/>
          <p:cNvSpPr/>
          <p:nvPr/>
        </p:nvSpPr>
        <p:spPr>
          <a:xfrm>
            <a:off x="2595600" y="7347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40" name="CustomShape 33"/>
          <p:cNvSpPr/>
          <p:nvPr/>
        </p:nvSpPr>
        <p:spPr>
          <a:xfrm>
            <a:off x="281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41" name="CustomShape 34"/>
          <p:cNvSpPr/>
          <p:nvPr/>
        </p:nvSpPr>
        <p:spPr>
          <a:xfrm>
            <a:off x="281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42" name="CustomShape 35"/>
          <p:cNvSpPr/>
          <p:nvPr/>
        </p:nvSpPr>
        <p:spPr>
          <a:xfrm>
            <a:off x="2939400" y="165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3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43" name="CustomShape 36"/>
          <p:cNvSpPr/>
          <p:nvPr/>
        </p:nvSpPr>
        <p:spPr>
          <a:xfrm>
            <a:off x="310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44" name="CustomShape 37"/>
          <p:cNvSpPr/>
          <p:nvPr/>
        </p:nvSpPr>
        <p:spPr>
          <a:xfrm>
            <a:off x="389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45" name="CustomShape 38"/>
          <p:cNvSpPr/>
          <p:nvPr/>
        </p:nvSpPr>
        <p:spPr>
          <a:xfrm>
            <a:off x="389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46" name="CustomShape 39"/>
          <p:cNvSpPr/>
          <p:nvPr/>
        </p:nvSpPr>
        <p:spPr>
          <a:xfrm>
            <a:off x="4019400" y="165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2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47" name="CustomShape 40"/>
          <p:cNvSpPr/>
          <p:nvPr/>
        </p:nvSpPr>
        <p:spPr>
          <a:xfrm>
            <a:off x="364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848" name="Group 41"/>
          <p:cNvGrpSpPr/>
          <p:nvPr/>
        </p:nvGrpSpPr>
        <p:grpSpPr>
          <a:xfrm>
            <a:off x="108000" y="2577600"/>
            <a:ext cx="4331880" cy="799200"/>
            <a:chOff x="108000" y="2577600"/>
            <a:chExt cx="4331880" cy="799200"/>
          </a:xfrm>
        </p:grpSpPr>
        <p:sp>
          <p:nvSpPr>
            <p:cNvPr id="849" name="CustomShape 42"/>
            <p:cNvSpPr/>
            <p:nvPr/>
          </p:nvSpPr>
          <p:spPr>
            <a:xfrm>
              <a:off x="108000" y="2577600"/>
              <a:ext cx="3474000" cy="1778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10800" rIns="0" bIns="0"/>
            <a:lstStyle/>
            <a:p>
              <a:pPr marL="12600">
                <a:lnSpc>
                  <a:spcPct val="100000"/>
                </a:lnSpc>
                <a:spcBef>
                  <a:spcPts val="85"/>
                </a:spcBef>
              </a:pPr>
              <a:r>
                <a:rPr lang="pt-BR" sz="1100" b="0" strike="noStrike" spc="-97">
                  <a:solidFill>
                    <a:srgbClr val="333333"/>
                  </a:solidFill>
                  <a:latin typeface="DejaVu Serif"/>
                  <a:ea typeface="DejaVu Sans"/>
                </a:rPr>
                <a:t>• </a:t>
              </a:r>
              <a:r>
                <a:rPr lang="pt-BR" sz="1050" b="0" strike="noStrike" spc="18">
                  <a:solidFill>
                    <a:srgbClr val="333333"/>
                  </a:solidFill>
                  <a:latin typeface="Trebuchet MS"/>
                  <a:ea typeface="DejaVu Sans"/>
                </a:rPr>
                <a:t>Trocamos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a </a:t>
              </a:r>
              <a:r>
                <a:rPr lang="pt-BR" sz="105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raiz </a:t>
              </a:r>
              <a:r>
                <a:rPr lang="pt-BR" sz="1050" b="0" strike="noStrike" spc="46">
                  <a:solidFill>
                    <a:srgbClr val="333333"/>
                  </a:solidFill>
                  <a:latin typeface="Trebuchet MS"/>
                  <a:ea typeface="DejaVu Sans"/>
                </a:rPr>
                <a:t>com </a:t>
              </a:r>
              <a:r>
                <a:rPr lang="pt-BR" sz="1050" b="0" strike="noStrike" spc="52">
                  <a:solidFill>
                    <a:srgbClr val="333333"/>
                  </a:solidFill>
                  <a:latin typeface="Trebuchet MS"/>
                  <a:ea typeface="DejaVu Sans"/>
                </a:rPr>
                <a:t>o </a:t>
              </a:r>
              <a:r>
                <a:rPr lang="pt-BR" sz="1050" b="0" strike="noStrike" spc="-4">
                  <a:solidFill>
                    <a:srgbClr val="333333"/>
                  </a:solidFill>
                  <a:latin typeface="Trebuchet MS"/>
                  <a:ea typeface="DejaVu Sans"/>
                </a:rPr>
                <a:t>último </a:t>
              </a:r>
              <a:r>
                <a:rPr lang="pt-BR" sz="105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elemento </a:t>
              </a:r>
              <a:r>
                <a:rPr lang="pt-BR" sz="1050" b="0" strike="noStrike" spc="46">
                  <a:solidFill>
                    <a:srgbClr val="333333"/>
                  </a:solidFill>
                  <a:latin typeface="Trebuchet MS"/>
                  <a:ea typeface="DejaVu Sans"/>
                </a:rPr>
                <a:t>do</a:t>
              </a:r>
              <a:r>
                <a:rPr lang="pt-BR" sz="1050" b="0" strike="noStrike" spc="-16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heap</a:t>
              </a:r>
              <a:endParaRPr lang="pt-BR" sz="1050" b="0" strike="noStrike" spc="-1">
                <a:latin typeface="Spranq eco sans"/>
              </a:endParaRPr>
            </a:p>
          </p:txBody>
        </p:sp>
        <p:sp>
          <p:nvSpPr>
            <p:cNvPr id="850" name="CustomShape 43"/>
            <p:cNvSpPr/>
            <p:nvPr/>
          </p:nvSpPr>
          <p:spPr>
            <a:xfrm>
              <a:off x="108000" y="2763720"/>
              <a:ext cx="2293920" cy="1778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10800" rIns="0" bIns="0"/>
            <a:lstStyle/>
            <a:p>
              <a:pPr marL="12600">
                <a:lnSpc>
                  <a:spcPct val="100000"/>
                </a:lnSpc>
                <a:spcBef>
                  <a:spcPts val="85"/>
                </a:spcBef>
              </a:pPr>
              <a:r>
                <a:rPr lang="pt-BR" sz="1100" b="0" strike="noStrike" spc="-97">
                  <a:solidFill>
                    <a:srgbClr val="333333"/>
                  </a:solidFill>
                  <a:latin typeface="DejaVu Serif"/>
                  <a:ea typeface="DejaVu Sans"/>
                </a:rPr>
                <a:t>• </a:t>
              </a:r>
              <a:r>
                <a:rPr lang="pt-BR" sz="1050" b="0" strike="noStrike" spc="58">
                  <a:solidFill>
                    <a:srgbClr val="333333"/>
                  </a:solidFill>
                  <a:latin typeface="Trebuchet MS"/>
                  <a:ea typeface="DejaVu Sans"/>
                </a:rPr>
                <a:t>Descemos </a:t>
              </a:r>
              <a:r>
                <a:rPr lang="pt-BR" sz="1050" b="0" strike="noStrike" spc="38">
                  <a:solidFill>
                    <a:srgbClr val="333333"/>
                  </a:solidFill>
                  <a:latin typeface="Trebuchet MS"/>
                  <a:ea typeface="DejaVu Sans"/>
                </a:rPr>
                <a:t>no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heap</a:t>
              </a:r>
              <a:r>
                <a:rPr lang="pt-BR" sz="1050" b="0" strike="noStrike" spc="-10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50" b="0" strike="noStrike" spc="12">
                  <a:solidFill>
                    <a:srgbClr val="333333"/>
                  </a:solidFill>
                  <a:latin typeface="Trebuchet MS"/>
                  <a:ea typeface="DejaVu Sans"/>
                </a:rPr>
                <a:t>arrumando</a:t>
              </a:r>
              <a:endParaRPr lang="pt-BR" sz="1050" b="0" strike="noStrike" spc="-1">
                <a:latin typeface="Spranq eco sans"/>
              </a:endParaRPr>
            </a:p>
          </p:txBody>
        </p:sp>
        <p:sp>
          <p:nvSpPr>
            <p:cNvPr id="851" name="CustomShape 44"/>
            <p:cNvSpPr/>
            <p:nvPr/>
          </p:nvSpPr>
          <p:spPr>
            <a:xfrm>
              <a:off x="287280" y="2985840"/>
              <a:ext cx="4152600" cy="3909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5760" rIns="0" bIns="0"/>
            <a:lstStyle/>
            <a:p>
              <a:pPr marL="12600">
                <a:lnSpc>
                  <a:spcPct val="100000"/>
                </a:lnSpc>
                <a:spcBef>
                  <a:spcPts val="45"/>
                </a:spcBef>
              </a:pPr>
              <a:r>
                <a:rPr lang="pt-BR" sz="1000" b="0" strike="noStrike" spc="117">
                  <a:solidFill>
                    <a:srgbClr val="333333"/>
                  </a:solidFill>
                  <a:latin typeface="Trebuchet MS"/>
                  <a:ea typeface="DejaVu Sans"/>
                </a:rPr>
                <a:t>–</a:t>
              </a:r>
              <a:r>
                <a:rPr lang="pt-BR" sz="1000" b="0" strike="noStrike" spc="233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Trocamos</a:t>
              </a:r>
              <a:r>
                <a:rPr lang="pt-BR" sz="1000" b="0" strike="noStrike" spc="-3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o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4">
                  <a:solidFill>
                    <a:srgbClr val="333333"/>
                  </a:solidFill>
                  <a:latin typeface="Trebuchet MS"/>
                  <a:ea typeface="DejaVu Sans"/>
                </a:rPr>
                <a:t>pai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18">
                  <a:solidFill>
                    <a:srgbClr val="333333"/>
                  </a:solidFill>
                  <a:latin typeface="Trebuchet MS"/>
                  <a:ea typeface="DejaVu Sans"/>
                </a:rPr>
                <a:t>com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o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maior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43">
                  <a:solidFill>
                    <a:srgbClr val="333333"/>
                  </a:solidFill>
                  <a:latin typeface="Trebuchet MS"/>
                  <a:ea typeface="DejaVu Sans"/>
                </a:rPr>
                <a:t>dos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12">
                  <a:solidFill>
                    <a:srgbClr val="333333"/>
                  </a:solidFill>
                  <a:latin typeface="Trebuchet MS"/>
                  <a:ea typeface="DejaVu Sans"/>
                </a:rPr>
                <a:t>dois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ﬁlhos</a:t>
              </a:r>
              <a:r>
                <a:rPr lang="pt-BR" sz="1000" b="0" strike="noStrike" spc="-3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(se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necessário)</a:t>
              </a:r>
              <a:endParaRPr lang="pt-BR" sz="1000" b="0" strike="noStrike" spc="-1">
                <a:latin typeface="Spranq eco sans"/>
              </a:endParaRPr>
            </a:p>
            <a:p>
              <a:pPr marL="12600" algn="ctr">
                <a:lnSpc>
                  <a:spcPct val="100000"/>
                </a:lnSpc>
                <a:spcBef>
                  <a:spcPts val="879"/>
                </a:spcBef>
              </a:pPr>
              <a:r>
                <a:rPr lang="pt-BR" sz="800" b="0" strike="noStrike" spc="-1">
                  <a:solidFill>
                    <a:srgbClr val="666666"/>
                  </a:solidFill>
                  <a:latin typeface="Trebuchet MS"/>
                  <a:ea typeface="DejaVu Sans"/>
                </a:rPr>
                <a:t>14</a:t>
              </a:r>
              <a:endParaRPr lang="pt-BR" sz="800" b="0" strike="noStrike" spc="-1">
                <a:latin typeface="Spranq eco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CustomShape 1"/>
          <p:cNvSpPr/>
          <p:nvPr/>
        </p:nvSpPr>
        <p:spPr>
          <a:xfrm>
            <a:off x="131400" y="59040"/>
            <a:ext cx="210060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4">
                <a:solidFill>
                  <a:srgbClr val="990100"/>
                </a:solidFill>
                <a:latin typeface="Trebuchet MS"/>
                <a:ea typeface="DejaVu Sans"/>
              </a:rPr>
              <a:t>Extraindo </a:t>
            </a:r>
            <a:r>
              <a:rPr lang="pt-BR" sz="1400" b="0" strike="noStrike" spc="58">
                <a:solidFill>
                  <a:srgbClr val="990100"/>
                </a:solidFill>
                <a:latin typeface="Trebuchet MS"/>
                <a:ea typeface="DejaVu Sans"/>
              </a:rPr>
              <a:t>o</a:t>
            </a:r>
            <a:r>
              <a:rPr lang="pt-BR" sz="1400" b="0" strike="noStrike" spc="-111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52">
                <a:solidFill>
                  <a:srgbClr val="990100"/>
                </a:solidFill>
                <a:latin typeface="Trebuchet MS"/>
                <a:ea typeface="DejaVu Sans"/>
              </a:rPr>
              <a:t>Máximo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853" name="CustomShape 2"/>
          <p:cNvSpPr/>
          <p:nvPr/>
        </p:nvSpPr>
        <p:spPr>
          <a:xfrm>
            <a:off x="2277000" y="49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4" name="CustomShape 3"/>
          <p:cNvSpPr/>
          <p:nvPr/>
        </p:nvSpPr>
        <p:spPr>
          <a:xfrm>
            <a:off x="2277000" y="49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5" name="CustomShape 4"/>
          <p:cNvSpPr/>
          <p:nvPr/>
        </p:nvSpPr>
        <p:spPr>
          <a:xfrm>
            <a:off x="2372400" y="57348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10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56" name="CustomShape 5"/>
          <p:cNvSpPr/>
          <p:nvPr/>
        </p:nvSpPr>
        <p:spPr>
          <a:xfrm>
            <a:off x="119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7" name="CustomShape 6"/>
          <p:cNvSpPr/>
          <p:nvPr/>
        </p:nvSpPr>
        <p:spPr>
          <a:xfrm>
            <a:off x="119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8" name="CustomShape 7"/>
          <p:cNvSpPr/>
          <p:nvPr/>
        </p:nvSpPr>
        <p:spPr>
          <a:xfrm>
            <a:off x="1319400" y="111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9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59" name="CustomShape 8"/>
          <p:cNvSpPr/>
          <p:nvPr/>
        </p:nvSpPr>
        <p:spPr>
          <a:xfrm>
            <a:off x="1515960" y="7347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0" name="CustomShape 9"/>
          <p:cNvSpPr/>
          <p:nvPr/>
        </p:nvSpPr>
        <p:spPr>
          <a:xfrm>
            <a:off x="65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1" name="CustomShape 10"/>
          <p:cNvSpPr/>
          <p:nvPr/>
        </p:nvSpPr>
        <p:spPr>
          <a:xfrm>
            <a:off x="65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2" name="CustomShape 11"/>
          <p:cNvSpPr/>
          <p:nvPr/>
        </p:nvSpPr>
        <p:spPr>
          <a:xfrm>
            <a:off x="779400" y="165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7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63" name="CustomShape 12"/>
          <p:cNvSpPr/>
          <p:nvPr/>
        </p:nvSpPr>
        <p:spPr>
          <a:xfrm>
            <a:off x="94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4" name="CustomShape 13"/>
          <p:cNvSpPr/>
          <p:nvPr/>
        </p:nvSpPr>
        <p:spPr>
          <a:xfrm>
            <a:off x="38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5" name="CustomShape 14"/>
          <p:cNvSpPr/>
          <p:nvPr/>
        </p:nvSpPr>
        <p:spPr>
          <a:xfrm>
            <a:off x="38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6" name="CustomShape 15"/>
          <p:cNvSpPr/>
          <p:nvPr/>
        </p:nvSpPr>
        <p:spPr>
          <a:xfrm>
            <a:off x="509400" y="219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67" name="CustomShape 16"/>
          <p:cNvSpPr/>
          <p:nvPr/>
        </p:nvSpPr>
        <p:spPr>
          <a:xfrm>
            <a:off x="62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8" name="CustomShape 17"/>
          <p:cNvSpPr/>
          <p:nvPr/>
        </p:nvSpPr>
        <p:spPr>
          <a:xfrm>
            <a:off x="92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9" name="CustomShape 18"/>
          <p:cNvSpPr/>
          <p:nvPr/>
        </p:nvSpPr>
        <p:spPr>
          <a:xfrm>
            <a:off x="92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0" name="CustomShape 19"/>
          <p:cNvSpPr/>
          <p:nvPr/>
        </p:nvSpPr>
        <p:spPr>
          <a:xfrm>
            <a:off x="1049400" y="219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71" name="CustomShape 20"/>
          <p:cNvSpPr/>
          <p:nvPr/>
        </p:nvSpPr>
        <p:spPr>
          <a:xfrm>
            <a:off x="89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2" name="CustomShape 21"/>
          <p:cNvSpPr/>
          <p:nvPr/>
        </p:nvSpPr>
        <p:spPr>
          <a:xfrm>
            <a:off x="173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3" name="CustomShape 22"/>
          <p:cNvSpPr/>
          <p:nvPr/>
        </p:nvSpPr>
        <p:spPr>
          <a:xfrm>
            <a:off x="173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4" name="CustomShape 23"/>
          <p:cNvSpPr/>
          <p:nvPr/>
        </p:nvSpPr>
        <p:spPr>
          <a:xfrm>
            <a:off x="1859400" y="165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8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75" name="CustomShape 24"/>
          <p:cNvSpPr/>
          <p:nvPr/>
        </p:nvSpPr>
        <p:spPr>
          <a:xfrm>
            <a:off x="148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6" name="CustomShape 25"/>
          <p:cNvSpPr/>
          <p:nvPr/>
        </p:nvSpPr>
        <p:spPr>
          <a:xfrm>
            <a:off x="146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99FF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7" name="CustomShape 26"/>
          <p:cNvSpPr/>
          <p:nvPr/>
        </p:nvSpPr>
        <p:spPr>
          <a:xfrm>
            <a:off x="146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8" name="CustomShape 27"/>
          <p:cNvSpPr/>
          <p:nvPr/>
        </p:nvSpPr>
        <p:spPr>
          <a:xfrm>
            <a:off x="1589400" y="219276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79" name="CustomShape 28"/>
          <p:cNvSpPr/>
          <p:nvPr/>
        </p:nvSpPr>
        <p:spPr>
          <a:xfrm>
            <a:off x="170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0" name="CustomShape 29"/>
          <p:cNvSpPr/>
          <p:nvPr/>
        </p:nvSpPr>
        <p:spPr>
          <a:xfrm>
            <a:off x="335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1" name="CustomShape 30"/>
          <p:cNvSpPr/>
          <p:nvPr/>
        </p:nvSpPr>
        <p:spPr>
          <a:xfrm>
            <a:off x="335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2" name="CustomShape 31"/>
          <p:cNvSpPr/>
          <p:nvPr/>
        </p:nvSpPr>
        <p:spPr>
          <a:xfrm>
            <a:off x="3479400" y="111420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4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83" name="CustomShape 32"/>
          <p:cNvSpPr/>
          <p:nvPr/>
        </p:nvSpPr>
        <p:spPr>
          <a:xfrm>
            <a:off x="2595600" y="7347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4" name="CustomShape 33"/>
          <p:cNvSpPr/>
          <p:nvPr/>
        </p:nvSpPr>
        <p:spPr>
          <a:xfrm>
            <a:off x="281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5" name="CustomShape 34"/>
          <p:cNvSpPr/>
          <p:nvPr/>
        </p:nvSpPr>
        <p:spPr>
          <a:xfrm>
            <a:off x="281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6" name="CustomShape 35"/>
          <p:cNvSpPr/>
          <p:nvPr/>
        </p:nvSpPr>
        <p:spPr>
          <a:xfrm>
            <a:off x="2939400" y="165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3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87" name="CustomShape 36"/>
          <p:cNvSpPr/>
          <p:nvPr/>
        </p:nvSpPr>
        <p:spPr>
          <a:xfrm>
            <a:off x="310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8" name="CustomShape 37"/>
          <p:cNvSpPr/>
          <p:nvPr/>
        </p:nvSpPr>
        <p:spPr>
          <a:xfrm>
            <a:off x="389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9" name="CustomShape 38"/>
          <p:cNvSpPr/>
          <p:nvPr/>
        </p:nvSpPr>
        <p:spPr>
          <a:xfrm>
            <a:off x="389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0" name="CustomShape 39"/>
          <p:cNvSpPr/>
          <p:nvPr/>
        </p:nvSpPr>
        <p:spPr>
          <a:xfrm>
            <a:off x="4019400" y="165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2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891" name="CustomShape 40"/>
          <p:cNvSpPr/>
          <p:nvPr/>
        </p:nvSpPr>
        <p:spPr>
          <a:xfrm>
            <a:off x="364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892" name="Group 41"/>
          <p:cNvGrpSpPr/>
          <p:nvPr/>
        </p:nvGrpSpPr>
        <p:grpSpPr>
          <a:xfrm>
            <a:off x="108000" y="2577600"/>
            <a:ext cx="4331880" cy="799200"/>
            <a:chOff x="108000" y="2577600"/>
            <a:chExt cx="4331880" cy="799200"/>
          </a:xfrm>
        </p:grpSpPr>
        <p:sp>
          <p:nvSpPr>
            <p:cNvPr id="893" name="CustomShape 42"/>
            <p:cNvSpPr/>
            <p:nvPr/>
          </p:nvSpPr>
          <p:spPr>
            <a:xfrm>
              <a:off x="108000" y="2577600"/>
              <a:ext cx="3474000" cy="1778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10800" rIns="0" bIns="0"/>
            <a:lstStyle/>
            <a:p>
              <a:pPr marL="12600">
                <a:lnSpc>
                  <a:spcPct val="100000"/>
                </a:lnSpc>
                <a:spcBef>
                  <a:spcPts val="85"/>
                </a:spcBef>
              </a:pPr>
              <a:r>
                <a:rPr lang="pt-BR" sz="1100" b="0" strike="noStrike" spc="-97">
                  <a:solidFill>
                    <a:srgbClr val="333333"/>
                  </a:solidFill>
                  <a:latin typeface="DejaVu Serif"/>
                  <a:ea typeface="DejaVu Sans"/>
                </a:rPr>
                <a:t>• </a:t>
              </a:r>
              <a:r>
                <a:rPr lang="pt-BR" sz="1050" b="0" strike="noStrike" spc="18">
                  <a:solidFill>
                    <a:srgbClr val="333333"/>
                  </a:solidFill>
                  <a:latin typeface="Trebuchet MS"/>
                  <a:ea typeface="DejaVu Sans"/>
                </a:rPr>
                <a:t>Trocamos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a </a:t>
              </a:r>
              <a:r>
                <a:rPr lang="pt-BR" sz="105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raiz </a:t>
              </a:r>
              <a:r>
                <a:rPr lang="pt-BR" sz="1050" b="0" strike="noStrike" spc="46">
                  <a:solidFill>
                    <a:srgbClr val="333333"/>
                  </a:solidFill>
                  <a:latin typeface="Trebuchet MS"/>
                  <a:ea typeface="DejaVu Sans"/>
                </a:rPr>
                <a:t>com </a:t>
              </a:r>
              <a:r>
                <a:rPr lang="pt-BR" sz="1050" b="0" strike="noStrike" spc="52">
                  <a:solidFill>
                    <a:srgbClr val="333333"/>
                  </a:solidFill>
                  <a:latin typeface="Trebuchet MS"/>
                  <a:ea typeface="DejaVu Sans"/>
                </a:rPr>
                <a:t>o </a:t>
              </a:r>
              <a:r>
                <a:rPr lang="pt-BR" sz="1050" b="0" strike="noStrike" spc="-4">
                  <a:solidFill>
                    <a:srgbClr val="333333"/>
                  </a:solidFill>
                  <a:latin typeface="Trebuchet MS"/>
                  <a:ea typeface="DejaVu Sans"/>
                </a:rPr>
                <a:t>último </a:t>
              </a:r>
              <a:r>
                <a:rPr lang="pt-BR" sz="105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elemento </a:t>
              </a:r>
              <a:r>
                <a:rPr lang="pt-BR" sz="1050" b="0" strike="noStrike" spc="46">
                  <a:solidFill>
                    <a:srgbClr val="333333"/>
                  </a:solidFill>
                  <a:latin typeface="Trebuchet MS"/>
                  <a:ea typeface="DejaVu Sans"/>
                </a:rPr>
                <a:t>do</a:t>
              </a:r>
              <a:r>
                <a:rPr lang="pt-BR" sz="1050" b="0" strike="noStrike" spc="-16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heap</a:t>
              </a:r>
              <a:endParaRPr lang="pt-BR" sz="1050" b="0" strike="noStrike" spc="-1">
                <a:latin typeface="Spranq eco sans"/>
              </a:endParaRPr>
            </a:p>
          </p:txBody>
        </p:sp>
        <p:sp>
          <p:nvSpPr>
            <p:cNvPr id="894" name="CustomShape 43"/>
            <p:cNvSpPr/>
            <p:nvPr/>
          </p:nvSpPr>
          <p:spPr>
            <a:xfrm>
              <a:off x="108000" y="2763720"/>
              <a:ext cx="2293920" cy="1778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10800" rIns="0" bIns="0"/>
            <a:lstStyle/>
            <a:p>
              <a:pPr marL="12600">
                <a:lnSpc>
                  <a:spcPct val="100000"/>
                </a:lnSpc>
                <a:spcBef>
                  <a:spcPts val="85"/>
                </a:spcBef>
              </a:pPr>
              <a:r>
                <a:rPr lang="pt-BR" sz="1100" b="0" strike="noStrike" spc="-97">
                  <a:solidFill>
                    <a:srgbClr val="333333"/>
                  </a:solidFill>
                  <a:latin typeface="DejaVu Serif"/>
                  <a:ea typeface="DejaVu Sans"/>
                </a:rPr>
                <a:t>• </a:t>
              </a:r>
              <a:r>
                <a:rPr lang="pt-BR" sz="1050" b="0" strike="noStrike" spc="58">
                  <a:solidFill>
                    <a:srgbClr val="333333"/>
                  </a:solidFill>
                  <a:latin typeface="Trebuchet MS"/>
                  <a:ea typeface="DejaVu Sans"/>
                </a:rPr>
                <a:t>Descemos </a:t>
              </a:r>
              <a:r>
                <a:rPr lang="pt-BR" sz="1050" b="0" strike="noStrike" spc="38">
                  <a:solidFill>
                    <a:srgbClr val="333333"/>
                  </a:solidFill>
                  <a:latin typeface="Trebuchet MS"/>
                  <a:ea typeface="DejaVu Sans"/>
                </a:rPr>
                <a:t>no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heap</a:t>
              </a:r>
              <a:r>
                <a:rPr lang="pt-BR" sz="1050" b="0" strike="noStrike" spc="-10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50" b="0" strike="noStrike" spc="12">
                  <a:solidFill>
                    <a:srgbClr val="333333"/>
                  </a:solidFill>
                  <a:latin typeface="Trebuchet MS"/>
                  <a:ea typeface="DejaVu Sans"/>
                </a:rPr>
                <a:t>arrumando</a:t>
              </a:r>
              <a:endParaRPr lang="pt-BR" sz="1050" b="0" strike="noStrike" spc="-1">
                <a:latin typeface="Spranq eco sans"/>
              </a:endParaRPr>
            </a:p>
          </p:txBody>
        </p:sp>
        <p:sp>
          <p:nvSpPr>
            <p:cNvPr id="895" name="CustomShape 44"/>
            <p:cNvSpPr/>
            <p:nvPr/>
          </p:nvSpPr>
          <p:spPr>
            <a:xfrm>
              <a:off x="287280" y="2985840"/>
              <a:ext cx="4152600" cy="3909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5760" rIns="0" bIns="0"/>
            <a:lstStyle/>
            <a:p>
              <a:pPr marL="12600">
                <a:lnSpc>
                  <a:spcPct val="100000"/>
                </a:lnSpc>
                <a:spcBef>
                  <a:spcPts val="45"/>
                </a:spcBef>
              </a:pPr>
              <a:r>
                <a:rPr lang="pt-BR" sz="1000" b="0" strike="noStrike" spc="117">
                  <a:solidFill>
                    <a:srgbClr val="333333"/>
                  </a:solidFill>
                  <a:latin typeface="Trebuchet MS"/>
                  <a:ea typeface="DejaVu Sans"/>
                </a:rPr>
                <a:t>–</a:t>
              </a:r>
              <a:r>
                <a:rPr lang="pt-BR" sz="1000" b="0" strike="noStrike" spc="233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Trocamos</a:t>
              </a:r>
              <a:r>
                <a:rPr lang="pt-BR" sz="1000" b="0" strike="noStrike" spc="-3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o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4">
                  <a:solidFill>
                    <a:srgbClr val="333333"/>
                  </a:solidFill>
                  <a:latin typeface="Trebuchet MS"/>
                  <a:ea typeface="DejaVu Sans"/>
                </a:rPr>
                <a:t>pai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18">
                  <a:solidFill>
                    <a:srgbClr val="333333"/>
                  </a:solidFill>
                  <a:latin typeface="Trebuchet MS"/>
                  <a:ea typeface="DejaVu Sans"/>
                </a:rPr>
                <a:t>com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o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maior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43">
                  <a:solidFill>
                    <a:srgbClr val="333333"/>
                  </a:solidFill>
                  <a:latin typeface="Trebuchet MS"/>
                  <a:ea typeface="DejaVu Sans"/>
                </a:rPr>
                <a:t>dos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12">
                  <a:solidFill>
                    <a:srgbClr val="333333"/>
                  </a:solidFill>
                  <a:latin typeface="Trebuchet MS"/>
                  <a:ea typeface="DejaVu Sans"/>
                </a:rPr>
                <a:t>dois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ﬁlhos</a:t>
              </a:r>
              <a:r>
                <a:rPr lang="pt-BR" sz="1000" b="0" strike="noStrike" spc="-3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(se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necessário)</a:t>
              </a:r>
              <a:endParaRPr lang="pt-BR" sz="1000" b="0" strike="noStrike" spc="-1">
                <a:latin typeface="Spranq eco sans"/>
              </a:endParaRPr>
            </a:p>
            <a:p>
              <a:pPr marL="12600" algn="ctr">
                <a:lnSpc>
                  <a:spcPct val="100000"/>
                </a:lnSpc>
                <a:spcBef>
                  <a:spcPts val="879"/>
                </a:spcBef>
              </a:pPr>
              <a:r>
                <a:rPr lang="pt-BR" sz="800" b="0" strike="noStrike" spc="-1">
                  <a:solidFill>
                    <a:srgbClr val="666666"/>
                  </a:solidFill>
                  <a:latin typeface="Trebuchet MS"/>
                  <a:ea typeface="DejaVu Sans"/>
                </a:rPr>
                <a:t>14</a:t>
              </a:r>
              <a:endParaRPr lang="pt-BR" sz="800" b="0" strike="noStrike" spc="-1">
                <a:latin typeface="Spranq eco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CustomShape 1"/>
          <p:cNvSpPr/>
          <p:nvPr/>
        </p:nvSpPr>
        <p:spPr>
          <a:xfrm>
            <a:off x="131400" y="59040"/>
            <a:ext cx="224460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4">
                <a:solidFill>
                  <a:srgbClr val="990100"/>
                </a:solidFill>
                <a:latin typeface="Trebuchet MS"/>
                <a:ea typeface="DejaVu Sans"/>
              </a:rPr>
              <a:t>Extraindo </a:t>
            </a:r>
            <a:r>
              <a:rPr lang="pt-BR" sz="1400" b="0" strike="noStrike" spc="58">
                <a:solidFill>
                  <a:srgbClr val="990100"/>
                </a:solidFill>
                <a:latin typeface="Trebuchet MS"/>
                <a:ea typeface="DejaVu Sans"/>
              </a:rPr>
              <a:t>o</a:t>
            </a:r>
            <a:r>
              <a:rPr lang="pt-BR" sz="1400" b="0" strike="noStrike" spc="-111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52">
                <a:solidFill>
                  <a:srgbClr val="990100"/>
                </a:solidFill>
                <a:latin typeface="Trebuchet MS"/>
                <a:ea typeface="DejaVu Sans"/>
              </a:rPr>
              <a:t>Máximo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897" name="CustomShape 2"/>
          <p:cNvSpPr/>
          <p:nvPr/>
        </p:nvSpPr>
        <p:spPr>
          <a:xfrm>
            <a:off x="2277000" y="49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8" name="CustomShape 3"/>
          <p:cNvSpPr/>
          <p:nvPr/>
        </p:nvSpPr>
        <p:spPr>
          <a:xfrm>
            <a:off x="2277000" y="49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9" name="CustomShape 4"/>
          <p:cNvSpPr/>
          <p:nvPr/>
        </p:nvSpPr>
        <p:spPr>
          <a:xfrm>
            <a:off x="2372400" y="573480"/>
            <a:ext cx="132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10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00" name="CustomShape 5"/>
          <p:cNvSpPr/>
          <p:nvPr/>
        </p:nvSpPr>
        <p:spPr>
          <a:xfrm>
            <a:off x="119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1" name="CustomShape 6"/>
          <p:cNvSpPr/>
          <p:nvPr/>
        </p:nvSpPr>
        <p:spPr>
          <a:xfrm>
            <a:off x="119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2" name="CustomShape 7"/>
          <p:cNvSpPr/>
          <p:nvPr/>
        </p:nvSpPr>
        <p:spPr>
          <a:xfrm>
            <a:off x="1319400" y="111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9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03" name="CustomShape 8"/>
          <p:cNvSpPr/>
          <p:nvPr/>
        </p:nvSpPr>
        <p:spPr>
          <a:xfrm>
            <a:off x="1515960" y="7347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4" h="383540">
                <a:moveTo>
                  <a:pt x="766431" y="0"/>
                </a:moveTo>
                <a:lnTo>
                  <a:pt x="0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4" name="CustomShape 9"/>
          <p:cNvSpPr/>
          <p:nvPr/>
        </p:nvSpPr>
        <p:spPr>
          <a:xfrm>
            <a:off x="65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5" name="CustomShape 10"/>
          <p:cNvSpPr/>
          <p:nvPr/>
        </p:nvSpPr>
        <p:spPr>
          <a:xfrm>
            <a:off x="65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6" name="CustomShape 11"/>
          <p:cNvSpPr/>
          <p:nvPr/>
        </p:nvSpPr>
        <p:spPr>
          <a:xfrm>
            <a:off x="779400" y="165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7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07" name="CustomShape 12"/>
          <p:cNvSpPr/>
          <p:nvPr/>
        </p:nvSpPr>
        <p:spPr>
          <a:xfrm>
            <a:off x="94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293037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8" name="CustomShape 13"/>
          <p:cNvSpPr/>
          <p:nvPr/>
        </p:nvSpPr>
        <p:spPr>
          <a:xfrm>
            <a:off x="38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9" name="CustomShape 14"/>
          <p:cNvSpPr/>
          <p:nvPr/>
        </p:nvSpPr>
        <p:spPr>
          <a:xfrm>
            <a:off x="38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0" name="CustomShape 15"/>
          <p:cNvSpPr/>
          <p:nvPr/>
        </p:nvSpPr>
        <p:spPr>
          <a:xfrm>
            <a:off x="509400" y="219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11" name="CustomShape 16"/>
          <p:cNvSpPr/>
          <p:nvPr/>
        </p:nvSpPr>
        <p:spPr>
          <a:xfrm>
            <a:off x="62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113182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2" name="CustomShape 17"/>
          <p:cNvSpPr/>
          <p:nvPr/>
        </p:nvSpPr>
        <p:spPr>
          <a:xfrm>
            <a:off x="92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3" name="CustomShape 18"/>
          <p:cNvSpPr/>
          <p:nvPr/>
        </p:nvSpPr>
        <p:spPr>
          <a:xfrm>
            <a:off x="92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323996" y="162001"/>
                </a:moveTo>
                <a:lnTo>
                  <a:pt x="318209" y="118934"/>
                </a:lnTo>
                <a:lnTo>
                  <a:pt x="301878" y="80235"/>
                </a:lnTo>
                <a:lnTo>
                  <a:pt x="276548" y="47448"/>
                </a:lnTo>
                <a:lnTo>
                  <a:pt x="243762" y="22117"/>
                </a:lnTo>
                <a:lnTo>
                  <a:pt x="205065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5" y="318215"/>
                </a:lnTo>
                <a:lnTo>
                  <a:pt x="243762" y="301884"/>
                </a:lnTo>
                <a:lnTo>
                  <a:pt x="276548" y="276553"/>
                </a:lnTo>
                <a:lnTo>
                  <a:pt x="301878" y="243766"/>
                </a:lnTo>
                <a:lnTo>
                  <a:pt x="318209" y="205067"/>
                </a:lnTo>
                <a:lnTo>
                  <a:pt x="323996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4" name="CustomShape 19"/>
          <p:cNvSpPr/>
          <p:nvPr/>
        </p:nvSpPr>
        <p:spPr>
          <a:xfrm>
            <a:off x="1049400" y="219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1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15" name="CustomShape 20"/>
          <p:cNvSpPr/>
          <p:nvPr/>
        </p:nvSpPr>
        <p:spPr>
          <a:xfrm>
            <a:off x="89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5" h="226694">
                <a:moveTo>
                  <a:pt x="0" y="0"/>
                </a:moveTo>
                <a:lnTo>
                  <a:pt x="113182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6" name="CustomShape 21"/>
          <p:cNvSpPr/>
          <p:nvPr/>
        </p:nvSpPr>
        <p:spPr>
          <a:xfrm>
            <a:off x="173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1999" y="0"/>
                </a:move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7" name="CustomShape 22"/>
          <p:cNvSpPr/>
          <p:nvPr/>
        </p:nvSpPr>
        <p:spPr>
          <a:xfrm>
            <a:off x="173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5" y="22117"/>
                </a:lnTo>
                <a:lnTo>
                  <a:pt x="205066" y="5786"/>
                </a:lnTo>
                <a:lnTo>
                  <a:pt x="161999" y="0"/>
                </a:lnTo>
                <a:lnTo>
                  <a:pt x="118933" y="5786"/>
                </a:lnTo>
                <a:lnTo>
                  <a:pt x="80234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4" y="301884"/>
                </a:lnTo>
                <a:lnTo>
                  <a:pt x="118933" y="318215"/>
                </a:lnTo>
                <a:lnTo>
                  <a:pt x="161999" y="324002"/>
                </a:lnTo>
                <a:lnTo>
                  <a:pt x="205066" y="318215"/>
                </a:lnTo>
                <a:lnTo>
                  <a:pt x="243765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8" name="CustomShape 23"/>
          <p:cNvSpPr/>
          <p:nvPr/>
        </p:nvSpPr>
        <p:spPr>
          <a:xfrm>
            <a:off x="1859400" y="165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8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19" name="CustomShape 24"/>
          <p:cNvSpPr/>
          <p:nvPr/>
        </p:nvSpPr>
        <p:spPr>
          <a:xfrm>
            <a:off x="148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69" h="293369">
                <a:moveTo>
                  <a:pt x="0" y="0"/>
                </a:moveTo>
                <a:lnTo>
                  <a:pt x="293046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0" name="CustomShape 25"/>
          <p:cNvSpPr/>
          <p:nvPr/>
        </p:nvSpPr>
        <p:spPr>
          <a:xfrm>
            <a:off x="146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1" name="CustomShape 26"/>
          <p:cNvSpPr/>
          <p:nvPr/>
        </p:nvSpPr>
        <p:spPr>
          <a:xfrm>
            <a:off x="1467000" y="211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1" y="162001"/>
                </a:moveTo>
                <a:lnTo>
                  <a:pt x="318214" y="118934"/>
                </a:lnTo>
                <a:lnTo>
                  <a:pt x="301883" y="80235"/>
                </a:lnTo>
                <a:lnTo>
                  <a:pt x="276552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2" y="276553"/>
                </a:lnTo>
                <a:lnTo>
                  <a:pt x="301883" y="243766"/>
                </a:lnTo>
                <a:lnTo>
                  <a:pt x="318214" y="205067"/>
                </a:lnTo>
                <a:lnTo>
                  <a:pt x="324001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2" name="CustomShape 27"/>
          <p:cNvSpPr/>
          <p:nvPr/>
        </p:nvSpPr>
        <p:spPr>
          <a:xfrm>
            <a:off x="1589400" y="219276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23" name="CustomShape 28"/>
          <p:cNvSpPr/>
          <p:nvPr/>
        </p:nvSpPr>
        <p:spPr>
          <a:xfrm>
            <a:off x="1707480" y="1893240"/>
            <a:ext cx="112680" cy="225720"/>
          </a:xfrm>
          <a:custGeom>
            <a:avLst/>
            <a:gdLst/>
            <a:ahLst/>
            <a:cxnLst/>
            <a:rect l="l" t="t" r="r" b="b"/>
            <a:pathLst>
              <a:path w="113664" h="226694">
                <a:moveTo>
                  <a:pt x="113183" y="0"/>
                </a:moveTo>
                <a:lnTo>
                  <a:pt x="0" y="226362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4" name="CustomShape 29"/>
          <p:cNvSpPr/>
          <p:nvPr/>
        </p:nvSpPr>
        <p:spPr>
          <a:xfrm>
            <a:off x="335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5" name="CustomShape 30"/>
          <p:cNvSpPr/>
          <p:nvPr/>
        </p:nvSpPr>
        <p:spPr>
          <a:xfrm>
            <a:off x="3357000" y="103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6" name="CustomShape 31"/>
          <p:cNvSpPr/>
          <p:nvPr/>
        </p:nvSpPr>
        <p:spPr>
          <a:xfrm>
            <a:off x="3479400" y="111420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4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27" name="CustomShape 32"/>
          <p:cNvSpPr/>
          <p:nvPr/>
        </p:nvSpPr>
        <p:spPr>
          <a:xfrm>
            <a:off x="2595600" y="734760"/>
            <a:ext cx="765360" cy="382320"/>
          </a:xfrm>
          <a:custGeom>
            <a:avLst/>
            <a:gdLst/>
            <a:ahLst/>
            <a:cxnLst/>
            <a:rect l="l" t="t" r="r" b="b"/>
            <a:pathLst>
              <a:path w="766445" h="383540">
                <a:moveTo>
                  <a:pt x="0" y="0"/>
                </a:moveTo>
                <a:lnTo>
                  <a:pt x="766431" y="383215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8" name="CustomShape 33"/>
          <p:cNvSpPr/>
          <p:nvPr/>
        </p:nvSpPr>
        <p:spPr>
          <a:xfrm>
            <a:off x="281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9" name="CustomShape 34"/>
          <p:cNvSpPr/>
          <p:nvPr/>
        </p:nvSpPr>
        <p:spPr>
          <a:xfrm>
            <a:off x="281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0" name="CustomShape 35"/>
          <p:cNvSpPr/>
          <p:nvPr/>
        </p:nvSpPr>
        <p:spPr>
          <a:xfrm>
            <a:off x="2939400" y="165348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3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31" name="CustomShape 36"/>
          <p:cNvSpPr/>
          <p:nvPr/>
        </p:nvSpPr>
        <p:spPr>
          <a:xfrm>
            <a:off x="310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293039" y="0"/>
                </a:moveTo>
                <a:lnTo>
                  <a:pt x="0" y="293044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2" name="CustomShape 37"/>
          <p:cNvSpPr/>
          <p:nvPr/>
        </p:nvSpPr>
        <p:spPr>
          <a:xfrm>
            <a:off x="389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162001" y="0"/>
                </a:move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close/>
              </a:path>
            </a:pathLst>
          </a:custGeom>
          <a:solidFill>
            <a:srgbClr val="FFF68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3" name="CustomShape 38"/>
          <p:cNvSpPr/>
          <p:nvPr/>
        </p:nvSpPr>
        <p:spPr>
          <a:xfrm>
            <a:off x="3897000" y="1574280"/>
            <a:ext cx="323280" cy="323280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324002" y="162001"/>
                </a:moveTo>
                <a:lnTo>
                  <a:pt x="318215" y="118934"/>
                </a:lnTo>
                <a:lnTo>
                  <a:pt x="301884" y="80235"/>
                </a:lnTo>
                <a:lnTo>
                  <a:pt x="276553" y="47448"/>
                </a:lnTo>
                <a:lnTo>
                  <a:pt x="243766" y="22117"/>
                </a:lnTo>
                <a:lnTo>
                  <a:pt x="205067" y="5786"/>
                </a:lnTo>
                <a:lnTo>
                  <a:pt x="162001" y="0"/>
                </a:lnTo>
                <a:lnTo>
                  <a:pt x="118934" y="5786"/>
                </a:lnTo>
                <a:lnTo>
                  <a:pt x="80235" y="22117"/>
                </a:lnTo>
                <a:lnTo>
                  <a:pt x="47448" y="47448"/>
                </a:lnTo>
                <a:lnTo>
                  <a:pt x="22117" y="80235"/>
                </a:lnTo>
                <a:lnTo>
                  <a:pt x="5786" y="118934"/>
                </a:lnTo>
                <a:lnTo>
                  <a:pt x="0" y="162001"/>
                </a:lnTo>
                <a:lnTo>
                  <a:pt x="5786" y="205067"/>
                </a:lnTo>
                <a:lnTo>
                  <a:pt x="22117" y="243766"/>
                </a:lnTo>
                <a:lnTo>
                  <a:pt x="47448" y="276553"/>
                </a:lnTo>
                <a:lnTo>
                  <a:pt x="80235" y="301884"/>
                </a:lnTo>
                <a:lnTo>
                  <a:pt x="118934" y="318215"/>
                </a:lnTo>
                <a:lnTo>
                  <a:pt x="162001" y="324002"/>
                </a:lnTo>
                <a:lnTo>
                  <a:pt x="205067" y="318215"/>
                </a:lnTo>
                <a:lnTo>
                  <a:pt x="243766" y="301884"/>
                </a:lnTo>
                <a:lnTo>
                  <a:pt x="276553" y="276553"/>
                </a:lnTo>
                <a:lnTo>
                  <a:pt x="301884" y="243766"/>
                </a:lnTo>
                <a:lnTo>
                  <a:pt x="318215" y="205067"/>
                </a:lnTo>
                <a:lnTo>
                  <a:pt x="324002" y="162001"/>
                </a:lnTo>
                <a:close/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4" name="CustomShape 39"/>
          <p:cNvSpPr/>
          <p:nvPr/>
        </p:nvSpPr>
        <p:spPr>
          <a:xfrm>
            <a:off x="4019400" y="1653840"/>
            <a:ext cx="78120" cy="1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pt-BR" sz="800" b="0" strike="noStrike" spc="-52">
                <a:solidFill>
                  <a:srgbClr val="333333"/>
                </a:solidFill>
                <a:latin typeface="Courier New"/>
                <a:ea typeface="DejaVu Sans"/>
              </a:rPr>
              <a:t>2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35" name="CustomShape 40"/>
          <p:cNvSpPr/>
          <p:nvPr/>
        </p:nvSpPr>
        <p:spPr>
          <a:xfrm>
            <a:off x="3642480" y="1319760"/>
            <a:ext cx="292320" cy="292320"/>
          </a:xfrm>
          <a:custGeom>
            <a:avLst/>
            <a:gdLst/>
            <a:ahLst/>
            <a:cxnLst/>
            <a:rect l="l" t="t" r="r" b="b"/>
            <a:pathLst>
              <a:path w="293370" h="293369">
                <a:moveTo>
                  <a:pt x="0" y="0"/>
                </a:moveTo>
                <a:lnTo>
                  <a:pt x="293042" y="293039"/>
                </a:lnTo>
              </a:path>
            </a:pathLst>
          </a:custGeom>
          <a:noFill/>
          <a:ln w="504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936" name="Group 41"/>
          <p:cNvGrpSpPr/>
          <p:nvPr/>
        </p:nvGrpSpPr>
        <p:grpSpPr>
          <a:xfrm>
            <a:off x="144000" y="2577600"/>
            <a:ext cx="4320000" cy="799200"/>
            <a:chOff x="144000" y="2577600"/>
            <a:chExt cx="4320000" cy="799200"/>
          </a:xfrm>
        </p:grpSpPr>
        <p:sp>
          <p:nvSpPr>
            <p:cNvPr id="937" name="CustomShape 42"/>
            <p:cNvSpPr/>
            <p:nvPr/>
          </p:nvSpPr>
          <p:spPr>
            <a:xfrm>
              <a:off x="144000" y="2577600"/>
              <a:ext cx="3464640" cy="1778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10800" rIns="0" bIns="0"/>
            <a:lstStyle/>
            <a:p>
              <a:pPr marL="12600">
                <a:lnSpc>
                  <a:spcPct val="100000"/>
                </a:lnSpc>
                <a:spcBef>
                  <a:spcPts val="85"/>
                </a:spcBef>
              </a:pPr>
              <a:r>
                <a:rPr lang="pt-BR" sz="1100" b="0" strike="noStrike" spc="-97">
                  <a:solidFill>
                    <a:srgbClr val="333333"/>
                  </a:solidFill>
                  <a:latin typeface="DejaVu Serif"/>
                  <a:ea typeface="DejaVu Sans"/>
                </a:rPr>
                <a:t>• </a:t>
              </a:r>
              <a:r>
                <a:rPr lang="pt-BR" sz="1050" b="0" strike="noStrike" spc="18">
                  <a:solidFill>
                    <a:srgbClr val="333333"/>
                  </a:solidFill>
                  <a:latin typeface="Trebuchet MS"/>
                  <a:ea typeface="DejaVu Sans"/>
                </a:rPr>
                <a:t>Trocamos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a </a:t>
              </a:r>
              <a:r>
                <a:rPr lang="pt-BR" sz="105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raiz </a:t>
              </a:r>
              <a:r>
                <a:rPr lang="pt-BR" sz="1050" b="0" strike="noStrike" spc="46">
                  <a:solidFill>
                    <a:srgbClr val="333333"/>
                  </a:solidFill>
                  <a:latin typeface="Trebuchet MS"/>
                  <a:ea typeface="DejaVu Sans"/>
                </a:rPr>
                <a:t>com </a:t>
              </a:r>
              <a:r>
                <a:rPr lang="pt-BR" sz="1050" b="0" strike="noStrike" spc="52">
                  <a:solidFill>
                    <a:srgbClr val="333333"/>
                  </a:solidFill>
                  <a:latin typeface="Trebuchet MS"/>
                  <a:ea typeface="DejaVu Sans"/>
                </a:rPr>
                <a:t>o </a:t>
              </a:r>
              <a:r>
                <a:rPr lang="pt-BR" sz="1050" b="0" strike="noStrike" spc="-4">
                  <a:solidFill>
                    <a:srgbClr val="333333"/>
                  </a:solidFill>
                  <a:latin typeface="Trebuchet MS"/>
                  <a:ea typeface="DejaVu Sans"/>
                </a:rPr>
                <a:t>último </a:t>
              </a:r>
              <a:r>
                <a:rPr lang="pt-BR" sz="105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elemento </a:t>
              </a:r>
              <a:r>
                <a:rPr lang="pt-BR" sz="1050" b="0" strike="noStrike" spc="46">
                  <a:solidFill>
                    <a:srgbClr val="333333"/>
                  </a:solidFill>
                  <a:latin typeface="Trebuchet MS"/>
                  <a:ea typeface="DejaVu Sans"/>
                </a:rPr>
                <a:t>do</a:t>
              </a:r>
              <a:r>
                <a:rPr lang="pt-BR" sz="1050" b="0" strike="noStrike" spc="-16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heap</a:t>
              </a:r>
              <a:endParaRPr lang="pt-BR" sz="1050" b="0" strike="noStrike" spc="-1">
                <a:latin typeface="Spranq eco sans"/>
              </a:endParaRPr>
            </a:p>
          </p:txBody>
        </p:sp>
        <p:sp>
          <p:nvSpPr>
            <p:cNvPr id="938" name="CustomShape 43"/>
            <p:cNvSpPr/>
            <p:nvPr/>
          </p:nvSpPr>
          <p:spPr>
            <a:xfrm>
              <a:off x="144000" y="2763720"/>
              <a:ext cx="2287440" cy="1778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10800" rIns="0" bIns="0"/>
            <a:lstStyle/>
            <a:p>
              <a:pPr marL="12600">
                <a:lnSpc>
                  <a:spcPct val="100000"/>
                </a:lnSpc>
                <a:spcBef>
                  <a:spcPts val="85"/>
                </a:spcBef>
              </a:pPr>
              <a:r>
                <a:rPr lang="pt-BR" sz="1100" b="0" strike="noStrike" spc="-97">
                  <a:solidFill>
                    <a:srgbClr val="333333"/>
                  </a:solidFill>
                  <a:latin typeface="DejaVu Serif"/>
                  <a:ea typeface="DejaVu Sans"/>
                </a:rPr>
                <a:t>• </a:t>
              </a:r>
              <a:r>
                <a:rPr lang="pt-BR" sz="1050" b="0" strike="noStrike" spc="58">
                  <a:solidFill>
                    <a:srgbClr val="333333"/>
                  </a:solidFill>
                  <a:latin typeface="Trebuchet MS"/>
                  <a:ea typeface="DejaVu Sans"/>
                </a:rPr>
                <a:t>Descemos </a:t>
              </a:r>
              <a:r>
                <a:rPr lang="pt-BR" sz="1050" b="0" strike="noStrike" spc="38">
                  <a:solidFill>
                    <a:srgbClr val="333333"/>
                  </a:solidFill>
                  <a:latin typeface="Trebuchet MS"/>
                  <a:ea typeface="DejaVu Sans"/>
                </a:rPr>
                <a:t>no </a:t>
              </a:r>
              <a:r>
                <a:rPr lang="pt-BR" sz="105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heap</a:t>
              </a:r>
              <a:r>
                <a:rPr lang="pt-BR" sz="1050" b="0" strike="noStrike" spc="-10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50" b="0" strike="noStrike" spc="12">
                  <a:solidFill>
                    <a:srgbClr val="333333"/>
                  </a:solidFill>
                  <a:latin typeface="Trebuchet MS"/>
                  <a:ea typeface="DejaVu Sans"/>
                </a:rPr>
                <a:t>arrumando</a:t>
              </a:r>
              <a:endParaRPr lang="pt-BR" sz="1050" b="0" strike="noStrike" spc="-1">
                <a:latin typeface="Spranq eco sans"/>
              </a:endParaRPr>
            </a:p>
          </p:txBody>
        </p:sp>
        <p:sp>
          <p:nvSpPr>
            <p:cNvPr id="939" name="CustomShape 44"/>
            <p:cNvSpPr/>
            <p:nvPr/>
          </p:nvSpPr>
          <p:spPr>
            <a:xfrm>
              <a:off x="322560" y="2985840"/>
              <a:ext cx="4141440" cy="3909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5760" rIns="0" bIns="0"/>
            <a:lstStyle/>
            <a:p>
              <a:pPr marL="12600">
                <a:lnSpc>
                  <a:spcPct val="100000"/>
                </a:lnSpc>
                <a:spcBef>
                  <a:spcPts val="45"/>
                </a:spcBef>
              </a:pPr>
              <a:r>
                <a:rPr lang="pt-BR" sz="1000" b="0" strike="noStrike" spc="117">
                  <a:solidFill>
                    <a:srgbClr val="333333"/>
                  </a:solidFill>
                  <a:latin typeface="Trebuchet MS"/>
                  <a:ea typeface="DejaVu Sans"/>
                </a:rPr>
                <a:t>–</a:t>
              </a:r>
              <a:r>
                <a:rPr lang="pt-BR" sz="1000" b="0" strike="noStrike" spc="233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Trocamos</a:t>
              </a:r>
              <a:r>
                <a:rPr lang="pt-BR" sz="1000" b="0" strike="noStrike" spc="-3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o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4">
                  <a:solidFill>
                    <a:srgbClr val="333333"/>
                  </a:solidFill>
                  <a:latin typeface="Trebuchet MS"/>
                  <a:ea typeface="DejaVu Sans"/>
                </a:rPr>
                <a:t>pai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18">
                  <a:solidFill>
                    <a:srgbClr val="333333"/>
                  </a:solidFill>
                  <a:latin typeface="Trebuchet MS"/>
                  <a:ea typeface="DejaVu Sans"/>
                </a:rPr>
                <a:t>com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24">
                  <a:solidFill>
                    <a:srgbClr val="333333"/>
                  </a:solidFill>
                  <a:latin typeface="Trebuchet MS"/>
                  <a:ea typeface="DejaVu Sans"/>
                </a:rPr>
                <a:t>o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maior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43">
                  <a:solidFill>
                    <a:srgbClr val="333333"/>
                  </a:solidFill>
                  <a:latin typeface="Trebuchet MS"/>
                  <a:ea typeface="DejaVu Sans"/>
                </a:rPr>
                <a:t>dos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12">
                  <a:solidFill>
                    <a:srgbClr val="333333"/>
                  </a:solidFill>
                  <a:latin typeface="Trebuchet MS"/>
                  <a:ea typeface="DejaVu Sans"/>
                </a:rPr>
                <a:t>dois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ﬁlhos</a:t>
              </a:r>
              <a:r>
                <a:rPr lang="pt-BR" sz="1000" b="0" strike="noStrike" spc="-32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7">
                  <a:solidFill>
                    <a:srgbClr val="333333"/>
                  </a:solidFill>
                  <a:latin typeface="Trebuchet MS"/>
                  <a:ea typeface="DejaVu Sans"/>
                </a:rPr>
                <a:t>(se</a:t>
              </a:r>
              <a:r>
                <a:rPr lang="pt-BR" sz="1000" b="0" strike="noStrike" spc="-26">
                  <a:solidFill>
                    <a:srgbClr val="333333"/>
                  </a:solidFill>
                  <a:latin typeface="Trebuchet MS"/>
                  <a:ea typeface="DejaVu Sans"/>
                </a:rPr>
                <a:t> </a:t>
              </a:r>
              <a:r>
                <a:rPr lang="pt-BR" sz="1000" b="0" strike="noStrike" spc="-1">
                  <a:solidFill>
                    <a:srgbClr val="333333"/>
                  </a:solidFill>
                  <a:latin typeface="Trebuchet MS"/>
                  <a:ea typeface="DejaVu Sans"/>
                </a:rPr>
                <a:t>necessário)</a:t>
              </a:r>
              <a:endParaRPr lang="pt-BR" sz="1000" b="0" strike="noStrike" spc="-1">
                <a:latin typeface="Spranq eco sans"/>
              </a:endParaRPr>
            </a:p>
            <a:p>
              <a:pPr marL="12600" algn="ctr">
                <a:lnSpc>
                  <a:spcPct val="100000"/>
                </a:lnSpc>
                <a:spcBef>
                  <a:spcPts val="879"/>
                </a:spcBef>
              </a:pPr>
              <a:r>
                <a:rPr lang="pt-BR" sz="800" b="0" strike="noStrike" spc="-1">
                  <a:solidFill>
                    <a:srgbClr val="666666"/>
                  </a:solidFill>
                  <a:latin typeface="Trebuchet MS"/>
                  <a:ea typeface="DejaVu Sans"/>
                </a:rPr>
                <a:t>14</a:t>
              </a:r>
              <a:endParaRPr lang="pt-BR" sz="800" b="0" strike="noStrike" spc="-1">
                <a:latin typeface="Spranq eco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CustomShape 1"/>
          <p:cNvSpPr/>
          <p:nvPr/>
        </p:nvSpPr>
        <p:spPr>
          <a:xfrm>
            <a:off x="95400" y="59040"/>
            <a:ext cx="235260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4">
                <a:solidFill>
                  <a:srgbClr val="990100"/>
                </a:solidFill>
                <a:latin typeface="Trebuchet MS"/>
                <a:ea typeface="DejaVu Sans"/>
              </a:rPr>
              <a:t> Extraindo </a:t>
            </a:r>
            <a:r>
              <a:rPr lang="pt-BR" sz="1400" b="0" strike="noStrike" spc="58">
                <a:solidFill>
                  <a:srgbClr val="990100"/>
                </a:solidFill>
                <a:latin typeface="Trebuchet MS"/>
                <a:ea typeface="DejaVu Sans"/>
              </a:rPr>
              <a:t>o</a:t>
            </a:r>
            <a:r>
              <a:rPr lang="pt-BR" sz="1400" b="0" strike="noStrike" spc="-111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52">
                <a:solidFill>
                  <a:srgbClr val="990100"/>
                </a:solidFill>
                <a:latin typeface="Trebuchet MS"/>
                <a:ea typeface="DejaVu Sans"/>
              </a:rPr>
              <a:t>Máximo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941" name="CustomShape 2"/>
          <p:cNvSpPr/>
          <p:nvPr/>
        </p:nvSpPr>
        <p:spPr>
          <a:xfrm>
            <a:off x="2275560" y="3300120"/>
            <a:ext cx="15768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2556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15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42" name="CustomShape 3"/>
          <p:cNvSpPr/>
          <p:nvPr/>
        </p:nvSpPr>
        <p:spPr>
          <a:xfrm>
            <a:off x="252000" y="704160"/>
            <a:ext cx="4247280" cy="1518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Item </a:t>
            </a:r>
            <a:r>
              <a:rPr lang="pt-BR" sz="1200" b="1" strike="noStrike" spc="-1">
                <a:solidFill>
                  <a:srgbClr val="21409A"/>
                </a:solidFill>
                <a:latin typeface="Spranq eco sans"/>
                <a:ea typeface="DejaVu Sans"/>
              </a:rPr>
              <a:t>extrai_maximo</a:t>
            </a:r>
            <a:r>
              <a:rPr lang="pt-BR" sz="12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(pFP fprio) {</a:t>
            </a:r>
            <a:endParaRPr lang="pt-BR" sz="12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Item item = fprio-&gt;v[0];</a:t>
            </a:r>
            <a:endParaRPr lang="pt-BR" sz="12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</a:t>
            </a:r>
            <a:r>
              <a:rPr lang="pt-BR" sz="120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troca</a:t>
            </a:r>
            <a:r>
              <a:rPr lang="pt-BR" sz="12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(&amp;fprio-&gt;v[0], &amp;fprio-&gt;v[fprio-&gt;n - 1]);</a:t>
            </a:r>
            <a:endParaRPr lang="pt-BR" sz="12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fprio-&gt;n--;</a:t>
            </a:r>
            <a:endParaRPr lang="pt-BR" sz="12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</a:t>
            </a:r>
            <a:r>
              <a:rPr lang="pt-BR" sz="120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desce_no_heap</a:t>
            </a:r>
            <a:r>
              <a:rPr lang="pt-BR" sz="12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(fprio , 0);</a:t>
            </a:r>
            <a:endParaRPr lang="pt-BR" sz="12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return item;</a:t>
            </a:r>
            <a:endParaRPr lang="pt-BR" sz="12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}</a:t>
            </a:r>
            <a:endParaRPr lang="pt-BR" sz="1200" b="0" strike="noStrike" spc="-1">
              <a:latin typeface="Spranq eco sans"/>
            </a:endParaRPr>
          </a:p>
        </p:txBody>
      </p:sp>
      <p:sp>
        <p:nvSpPr>
          <p:cNvPr id="943" name="CustomShape 4"/>
          <p:cNvSpPr/>
          <p:nvPr/>
        </p:nvSpPr>
        <p:spPr>
          <a:xfrm>
            <a:off x="204840" y="2314800"/>
            <a:ext cx="4006440" cy="67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200" b="0" strike="noStrike" spc="4">
                <a:solidFill>
                  <a:srgbClr val="990100"/>
                </a:solidFill>
                <a:latin typeface="Trebuchet MS"/>
                <a:ea typeface="DejaVu Sans"/>
              </a:rPr>
              <a:t>#define</a:t>
            </a:r>
            <a:r>
              <a:rPr lang="pt-BR" sz="12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F_ESQ(i) (2*i+1) </a:t>
            </a:r>
            <a:r>
              <a:rPr lang="pt-BR" sz="1200" b="0" i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/* Filho esquerdo de i*/</a:t>
            </a:r>
            <a:endParaRPr lang="pt-BR" sz="12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200" b="0" strike="noStrike" spc="4">
                <a:solidFill>
                  <a:srgbClr val="990100"/>
                </a:solidFill>
                <a:latin typeface="Trebuchet MS"/>
                <a:ea typeface="DejaVu Sans"/>
              </a:rPr>
              <a:t>#define</a:t>
            </a:r>
            <a:r>
              <a:rPr lang="pt-BR" sz="120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F_DIR(i) (2*i+2) </a:t>
            </a:r>
            <a:r>
              <a:rPr lang="pt-BR" sz="1200" b="0" i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/* Filho direito de i*/</a:t>
            </a:r>
            <a:endParaRPr lang="pt-BR" sz="1200" b="0" strike="noStrike" spc="-1">
              <a:latin typeface="Spranq eco sans"/>
            </a:endParaRPr>
          </a:p>
        </p:txBody>
      </p:sp>
      <p:sp>
        <p:nvSpPr>
          <p:cNvPr id="944" name="CustomShape 5"/>
          <p:cNvSpPr/>
          <p:nvPr/>
        </p:nvSpPr>
        <p:spPr>
          <a:xfrm>
            <a:off x="248400" y="2844360"/>
            <a:ext cx="4070880" cy="355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200" b="1" strike="noStrike" spc="-1">
                <a:solidFill>
                  <a:srgbClr val="ED1C24"/>
                </a:solidFill>
                <a:latin typeface="Spranq eco sans"/>
                <a:ea typeface="DejaVu Sans"/>
              </a:rPr>
              <a:t>Tempo de extrai_maximo : O(lg n)</a:t>
            </a:r>
            <a:endParaRPr lang="pt-BR" sz="12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CustomShape 1"/>
          <p:cNvSpPr/>
          <p:nvPr/>
        </p:nvSpPr>
        <p:spPr>
          <a:xfrm>
            <a:off x="95400" y="59040"/>
            <a:ext cx="256860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4">
                <a:solidFill>
                  <a:srgbClr val="990100"/>
                </a:solidFill>
                <a:latin typeface="Trebuchet MS"/>
                <a:ea typeface="DejaVu Sans"/>
              </a:rPr>
              <a:t> Extraindo </a:t>
            </a:r>
            <a:r>
              <a:rPr lang="pt-BR" sz="1400" b="0" strike="noStrike" spc="58">
                <a:solidFill>
                  <a:srgbClr val="990100"/>
                </a:solidFill>
                <a:latin typeface="Trebuchet MS"/>
                <a:ea typeface="DejaVu Sans"/>
              </a:rPr>
              <a:t>o</a:t>
            </a:r>
            <a:r>
              <a:rPr lang="pt-BR" sz="1400" b="0" strike="noStrike" spc="-111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52">
                <a:solidFill>
                  <a:srgbClr val="990100"/>
                </a:solidFill>
                <a:latin typeface="Trebuchet MS"/>
                <a:ea typeface="DejaVu Sans"/>
              </a:rPr>
              <a:t>Máximo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946" name="CustomShape 2"/>
          <p:cNvSpPr/>
          <p:nvPr/>
        </p:nvSpPr>
        <p:spPr>
          <a:xfrm>
            <a:off x="2275560" y="3300120"/>
            <a:ext cx="15768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2556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15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47" name="CustomShape 3"/>
          <p:cNvSpPr/>
          <p:nvPr/>
        </p:nvSpPr>
        <p:spPr>
          <a:xfrm>
            <a:off x="108000" y="830880"/>
            <a:ext cx="4499280" cy="2577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void </a:t>
            </a:r>
            <a:r>
              <a:rPr lang="pt-BR" sz="950" b="1" strike="noStrike" spc="-1">
                <a:solidFill>
                  <a:srgbClr val="21409A"/>
                </a:solidFill>
                <a:latin typeface="Spranq eco sans"/>
                <a:ea typeface="DejaVu Sans"/>
              </a:rPr>
              <a:t>desce_no_heap</a:t>
            </a: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(pFP fprio , int k) {</a:t>
            </a:r>
            <a:endParaRPr lang="pt-BR" sz="9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  int maior_filho;</a:t>
            </a:r>
            <a:endParaRPr lang="pt-BR" sz="9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  if (F_ESQ(k) &lt; fprio-&gt;n) {</a:t>
            </a:r>
            <a:endParaRPr lang="pt-BR" sz="9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       maior_filho = F_ESQ(k);</a:t>
            </a:r>
            <a:endParaRPr lang="pt-BR" sz="9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       if (F_DIR(k) &lt; fprio-&gt;n </a:t>
            </a:r>
            <a:r>
              <a:rPr lang="pt-BR" sz="95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&amp;&amp;</a:t>
            </a: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</a:t>
            </a:r>
            <a:endParaRPr lang="pt-BR" sz="9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	fprio-&gt;v[F_ESQ(k)]. chave &lt; fprio-&gt;v[F_DIR(k)]. chave)</a:t>
            </a:r>
            <a:endParaRPr lang="pt-BR" sz="9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maior_filho = F_DIR(k);</a:t>
            </a:r>
            <a:endParaRPr lang="pt-BR" sz="9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endParaRPr lang="pt-BR" sz="9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       if (fprio -&gt;v[k]. chave &lt; fprio -&gt;v[maior_filho ]. chave) {</a:t>
            </a:r>
            <a:endParaRPr lang="pt-BR" sz="9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</a:t>
            </a:r>
            <a:r>
              <a:rPr lang="pt-BR" sz="95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troca</a:t>
            </a: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(&amp;fprio -&gt;v[k],&amp;fprio -&gt;v[maior_filho ]);</a:t>
            </a:r>
            <a:endParaRPr lang="pt-BR" sz="9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	</a:t>
            </a:r>
            <a:r>
              <a:rPr lang="pt-BR" sz="950" b="1" strike="noStrike" spc="-1">
                <a:solidFill>
                  <a:srgbClr val="000000"/>
                </a:solidFill>
                <a:latin typeface="Spranq eco sans"/>
                <a:ea typeface="DejaVu Sans"/>
              </a:rPr>
              <a:t>desce_no_heap</a:t>
            </a: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(fprio , maior_filho);</a:t>
            </a:r>
            <a:endParaRPr lang="pt-BR" sz="9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       }</a:t>
            </a:r>
            <a:endParaRPr lang="pt-BR" sz="9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    }</a:t>
            </a:r>
            <a:endParaRPr lang="pt-BR" sz="95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950" b="0" strike="noStrike" spc="-1">
                <a:solidFill>
                  <a:srgbClr val="000000"/>
                </a:solidFill>
                <a:latin typeface="Spranq eco sans"/>
                <a:ea typeface="DejaVu Sans"/>
              </a:rPr>
              <a:t>}</a:t>
            </a:r>
            <a:endParaRPr lang="pt-BR" sz="95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CustomShape 1"/>
          <p:cNvSpPr/>
          <p:nvPr/>
        </p:nvSpPr>
        <p:spPr>
          <a:xfrm>
            <a:off x="95400" y="59040"/>
            <a:ext cx="379188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66">
                <a:solidFill>
                  <a:srgbClr val="990100"/>
                </a:solidFill>
                <a:latin typeface="Trebuchet MS"/>
                <a:ea typeface="DejaVu Sans"/>
              </a:rPr>
              <a:t> Mudando </a:t>
            </a:r>
            <a:r>
              <a:rPr lang="pt-BR" sz="1400" b="0" strike="noStrike" spc="24">
                <a:solidFill>
                  <a:srgbClr val="990100"/>
                </a:solidFill>
                <a:latin typeface="Trebuchet MS"/>
                <a:ea typeface="DejaVu Sans"/>
              </a:rPr>
              <a:t>a </a:t>
            </a:r>
            <a:r>
              <a:rPr lang="pt-BR" sz="1400" b="0" strike="noStrike" spc="-1">
                <a:solidFill>
                  <a:srgbClr val="990100"/>
                </a:solidFill>
                <a:latin typeface="Trebuchet MS"/>
                <a:ea typeface="DejaVu Sans"/>
              </a:rPr>
              <a:t>prioridade </a:t>
            </a:r>
            <a:r>
              <a:rPr lang="pt-BR" sz="1400" b="0" strike="noStrike" spc="26">
                <a:solidFill>
                  <a:srgbClr val="990100"/>
                </a:solidFill>
                <a:latin typeface="Trebuchet MS"/>
                <a:ea typeface="DejaVu Sans"/>
              </a:rPr>
              <a:t>de </a:t>
            </a:r>
            <a:r>
              <a:rPr lang="pt-BR" sz="1400" b="0" strike="noStrike" spc="32">
                <a:solidFill>
                  <a:srgbClr val="990100"/>
                </a:solidFill>
                <a:latin typeface="Trebuchet MS"/>
                <a:ea typeface="DejaVu Sans"/>
              </a:rPr>
              <a:t>um</a:t>
            </a:r>
            <a:r>
              <a:rPr lang="pt-BR" sz="1400" b="0" strike="noStrike" spc="-293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-26">
                <a:solidFill>
                  <a:srgbClr val="990100"/>
                </a:solidFill>
                <a:latin typeface="Trebuchet MS"/>
                <a:ea typeface="DejaVu Sans"/>
              </a:rPr>
              <a:t>item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949" name="CustomShape 2"/>
          <p:cNvSpPr/>
          <p:nvPr/>
        </p:nvSpPr>
        <p:spPr>
          <a:xfrm>
            <a:off x="2288160" y="3300120"/>
            <a:ext cx="132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16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50" name="CustomShape 3"/>
          <p:cNvSpPr/>
          <p:nvPr/>
        </p:nvSpPr>
        <p:spPr>
          <a:xfrm>
            <a:off x="241920" y="365400"/>
            <a:ext cx="4221360" cy="2745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0840" rIns="0" bIns="0"/>
          <a:lstStyle/>
          <a:p>
            <a:pPr marL="118080">
              <a:lnSpc>
                <a:spcPct val="100000"/>
              </a:lnSpc>
              <a:spcBef>
                <a:spcPts val="479"/>
              </a:spcBef>
            </a:pPr>
            <a:r>
              <a:rPr lang="pt-BR" sz="1050" b="0" strike="noStrike" spc="83" dirty="0">
                <a:solidFill>
                  <a:srgbClr val="333333"/>
                </a:solidFill>
                <a:latin typeface="Trebuchet MS"/>
                <a:ea typeface="DejaVu Sans"/>
              </a:rPr>
              <a:t>Com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 dirty="0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 dirty="0">
                <a:solidFill>
                  <a:srgbClr val="333333"/>
                </a:solidFill>
                <a:latin typeface="Trebuchet MS"/>
                <a:ea typeface="DejaVu Sans"/>
              </a:rPr>
              <a:t>que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 dirty="0">
                <a:solidFill>
                  <a:srgbClr val="333333"/>
                </a:solidFill>
                <a:latin typeface="Trebuchet MS"/>
                <a:ea typeface="DejaVu Sans"/>
              </a:rPr>
              <a:t>vimos,</a:t>
            </a:r>
            <a:r>
              <a:rPr lang="pt-BR" sz="1050" b="0" strike="noStrike" spc="-12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" dirty="0">
                <a:solidFill>
                  <a:srgbClr val="333333"/>
                </a:solidFill>
                <a:latin typeface="Trebuchet MS"/>
                <a:ea typeface="DejaVu Sans"/>
              </a:rPr>
              <a:t>é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2" dirty="0">
                <a:solidFill>
                  <a:srgbClr val="333333"/>
                </a:solidFill>
                <a:latin typeface="Trebuchet MS"/>
                <a:ea typeface="DejaVu Sans"/>
              </a:rPr>
              <a:t>fácil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8" dirty="0">
                <a:solidFill>
                  <a:srgbClr val="333333"/>
                </a:solidFill>
                <a:latin typeface="Trebuchet MS"/>
                <a:ea typeface="DejaVu Sans"/>
              </a:rPr>
              <a:t>mudar</a:t>
            </a:r>
            <a:r>
              <a:rPr lang="pt-BR" sz="1050" b="0" strike="noStrike" spc="-12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 dirty="0">
                <a:solidFill>
                  <a:srgbClr val="333333"/>
                </a:solidFill>
                <a:latin typeface="Trebuchet MS"/>
                <a:ea typeface="DejaVu Sans"/>
              </a:rPr>
              <a:t>a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 dirty="0">
                <a:solidFill>
                  <a:srgbClr val="333333"/>
                </a:solidFill>
                <a:latin typeface="Trebuchet MS"/>
                <a:ea typeface="DejaVu Sans"/>
              </a:rPr>
              <a:t>prioridade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6" dirty="0">
                <a:solidFill>
                  <a:srgbClr val="333333"/>
                </a:solidFill>
                <a:latin typeface="Trebuchet MS"/>
                <a:ea typeface="DejaVu Sans"/>
              </a:rPr>
              <a:t>de</a:t>
            </a:r>
            <a:r>
              <a:rPr lang="pt-BR" sz="1050" b="0" strike="noStrike" spc="-12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2" dirty="0">
                <a:solidFill>
                  <a:srgbClr val="333333"/>
                </a:solidFill>
                <a:latin typeface="Trebuchet MS"/>
                <a:ea typeface="DejaVu Sans"/>
              </a:rPr>
              <a:t>um</a:t>
            </a:r>
            <a:r>
              <a:rPr lang="pt-BR" sz="1050" b="0" strike="noStrike" spc="-4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2" dirty="0">
                <a:solidFill>
                  <a:srgbClr val="333333"/>
                </a:solidFill>
                <a:latin typeface="Trebuchet MS"/>
                <a:ea typeface="DejaVu Sans"/>
              </a:rPr>
              <a:t>item</a:t>
            </a:r>
            <a:endParaRPr lang="pt-BR" sz="1050" b="0" strike="noStrike" spc="-1" dirty="0">
              <a:latin typeface="Spranq eco sans"/>
            </a:endParaRPr>
          </a:p>
          <a:p>
            <a:pPr marL="394920" indent="-137520">
              <a:lnSpc>
                <a:spcPct val="100000"/>
              </a:lnSpc>
              <a:spcBef>
                <a:spcPts val="394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50" b="0" strike="noStrike" spc="97" dirty="0">
                <a:solidFill>
                  <a:srgbClr val="333333"/>
                </a:solidFill>
                <a:latin typeface="Trebuchet MS"/>
                <a:ea typeface="DejaVu Sans"/>
              </a:rPr>
              <a:t>Se </a:t>
            </a:r>
            <a:r>
              <a:rPr lang="pt-BR" sz="1050" b="0" strike="noStrike" spc="24" dirty="0">
                <a:solidFill>
                  <a:srgbClr val="333333"/>
                </a:solidFill>
                <a:latin typeface="Trebuchet MS"/>
                <a:ea typeface="DejaVu Sans"/>
              </a:rPr>
              <a:t>a </a:t>
            </a:r>
            <a:r>
              <a:rPr lang="pt-BR" sz="1050" b="0" strike="noStrike" spc="-1" dirty="0">
                <a:solidFill>
                  <a:srgbClr val="333333"/>
                </a:solidFill>
                <a:latin typeface="Trebuchet MS"/>
                <a:ea typeface="DejaVu Sans"/>
              </a:rPr>
              <a:t>prioridade 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aumentar, </a:t>
            </a:r>
            <a:r>
              <a:rPr lang="pt-BR" sz="1050" b="0" strike="noStrike" spc="26" dirty="0">
                <a:solidFill>
                  <a:srgbClr val="333333"/>
                </a:solidFill>
                <a:latin typeface="Trebuchet MS"/>
                <a:ea typeface="DejaVu Sans"/>
              </a:rPr>
              <a:t>precisamos</a:t>
            </a:r>
            <a:r>
              <a:rPr lang="pt-BR" sz="1050" b="0" strike="noStrike" spc="-202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 dirty="0">
                <a:solidFill>
                  <a:srgbClr val="333333"/>
                </a:solidFill>
                <a:latin typeface="Trebuchet MS"/>
                <a:ea typeface="DejaVu Sans"/>
              </a:rPr>
              <a:t>subir arrumando</a:t>
            </a:r>
            <a:endParaRPr lang="pt-BR" sz="1050" b="0" strike="noStrike" spc="-1" dirty="0">
              <a:latin typeface="Spranq eco sans"/>
            </a:endParaRPr>
          </a:p>
          <a:p>
            <a:pPr marL="394920" indent="-137520">
              <a:lnSpc>
                <a:spcPct val="100000"/>
              </a:lnSpc>
              <a:spcBef>
                <a:spcPts val="391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50" b="0" strike="noStrike" spc="97" dirty="0">
                <a:solidFill>
                  <a:srgbClr val="333333"/>
                </a:solidFill>
                <a:latin typeface="Trebuchet MS"/>
                <a:ea typeface="DejaVu Sans"/>
              </a:rPr>
              <a:t>Se </a:t>
            </a:r>
            <a:r>
              <a:rPr lang="pt-BR" sz="1050" b="0" strike="noStrike" spc="24" dirty="0">
                <a:solidFill>
                  <a:srgbClr val="333333"/>
                </a:solidFill>
                <a:latin typeface="Trebuchet MS"/>
                <a:ea typeface="DejaVu Sans"/>
              </a:rPr>
              <a:t>a </a:t>
            </a:r>
            <a:r>
              <a:rPr lang="pt-BR" sz="1050" b="0" strike="noStrike" spc="-1" dirty="0">
                <a:solidFill>
                  <a:srgbClr val="333333"/>
                </a:solidFill>
                <a:latin typeface="Trebuchet MS"/>
                <a:ea typeface="DejaVu Sans"/>
              </a:rPr>
              <a:t>prioridade </a:t>
            </a:r>
            <a:r>
              <a:rPr lang="pt-BR" sz="1050" b="0" strike="noStrike" spc="-24" dirty="0">
                <a:solidFill>
                  <a:srgbClr val="333333"/>
                </a:solidFill>
                <a:latin typeface="Trebuchet MS"/>
                <a:ea typeface="DejaVu Sans"/>
              </a:rPr>
              <a:t>diminuir, </a:t>
            </a:r>
            <a:r>
              <a:rPr lang="pt-BR" sz="1050" b="0" strike="noStrike" spc="26" dirty="0">
                <a:solidFill>
                  <a:srgbClr val="333333"/>
                </a:solidFill>
                <a:latin typeface="Trebuchet MS"/>
                <a:ea typeface="DejaVu Sans"/>
              </a:rPr>
              <a:t>precisamos descer</a:t>
            </a:r>
            <a:r>
              <a:rPr lang="pt-BR" sz="1050" b="0" strike="noStrike" spc="-182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 dirty="0">
                <a:solidFill>
                  <a:srgbClr val="333333"/>
                </a:solidFill>
                <a:latin typeface="Trebuchet MS"/>
                <a:ea typeface="DejaVu Sans"/>
              </a:rPr>
              <a:t>arrumando</a:t>
            </a:r>
            <a:endParaRPr lang="pt-BR" sz="1050" b="0" strike="noStrike" spc="-1" dirty="0">
              <a:latin typeface="Spranq eco sans"/>
            </a:endParaRPr>
          </a:p>
          <a:p>
            <a:pPr marL="12600">
              <a:lnSpc>
                <a:spcPts val="955"/>
              </a:lnSpc>
              <a:spcBef>
                <a:spcPts val="6"/>
              </a:spcBef>
            </a:pPr>
            <a:endParaRPr lang="pt-BR" sz="1050" b="0" strike="noStrike" spc="-1" dirty="0">
              <a:latin typeface="Spranq eco sans"/>
            </a:endParaRPr>
          </a:p>
          <a:p>
            <a:pPr marL="12600">
              <a:lnSpc>
                <a:spcPts val="955"/>
              </a:lnSpc>
              <a:spcBef>
                <a:spcPts val="6"/>
              </a:spcBef>
            </a:pPr>
            <a:r>
              <a:rPr lang="pt-BR" sz="1000" b="0" strike="noStrike" spc="-24" dirty="0" err="1">
                <a:solidFill>
                  <a:srgbClr val="B90504"/>
                </a:solidFill>
                <a:latin typeface="Courier New"/>
                <a:ea typeface="DejaVu Sans"/>
              </a:rPr>
              <a:t>void</a:t>
            </a:r>
            <a:r>
              <a:rPr lang="pt-BR" sz="1000" b="0" strike="noStrike" spc="83" dirty="0">
                <a:solidFill>
                  <a:srgbClr val="B90504"/>
                </a:solidFill>
                <a:latin typeface="Courier New"/>
                <a:ea typeface="DejaVu Sans"/>
              </a:rPr>
              <a:t> </a:t>
            </a:r>
            <a:r>
              <a:rPr lang="pt-BR" sz="1000" b="1" strike="noStrike" spc="-7" dirty="0" err="1">
                <a:solidFill>
                  <a:srgbClr val="21409A"/>
                </a:solidFill>
                <a:latin typeface="Courier New"/>
                <a:ea typeface="DejaVu Sans"/>
              </a:rPr>
              <a:t>muda_prioridade</a:t>
            </a:r>
            <a:r>
              <a:rPr lang="pt-BR" sz="1000" b="0" strike="noStrike" spc="-52" dirty="0">
                <a:solidFill>
                  <a:srgbClr val="333333"/>
                </a:solidFill>
                <a:latin typeface="Courier New"/>
                <a:ea typeface="DejaVu Sans"/>
              </a:rPr>
              <a:t>(</a:t>
            </a:r>
            <a:r>
              <a:rPr lang="pt-BR" sz="1000" b="0" strike="noStrike" spc="-24" dirty="0" err="1">
                <a:solidFill>
                  <a:srgbClr val="333333"/>
                </a:solidFill>
                <a:latin typeface="Courier New"/>
                <a:ea typeface="DejaVu Sans"/>
              </a:rPr>
              <a:t>pFP</a:t>
            </a:r>
            <a:r>
              <a:rPr lang="pt-BR" sz="1000" b="0" strike="noStrike" spc="77" dirty="0">
                <a:solidFill>
                  <a:srgbClr val="333333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-24" dirty="0" err="1">
                <a:solidFill>
                  <a:srgbClr val="333333"/>
                </a:solidFill>
                <a:latin typeface="Courier New"/>
                <a:ea typeface="DejaVu Sans"/>
              </a:rPr>
              <a:t>fprio</a:t>
            </a:r>
            <a:r>
              <a:rPr lang="pt-BR" sz="1000" b="0" strike="noStrike" spc="-52" dirty="0">
                <a:solidFill>
                  <a:srgbClr val="333333"/>
                </a:solidFill>
                <a:latin typeface="Courier New"/>
                <a:ea typeface="DejaVu Sans"/>
              </a:rPr>
              <a:t>,</a:t>
            </a:r>
            <a:r>
              <a:rPr lang="pt-BR" sz="1000" b="0" strike="noStrike" spc="63" dirty="0">
                <a:solidFill>
                  <a:srgbClr val="333333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-26" dirty="0" err="1">
                <a:solidFill>
                  <a:srgbClr val="B90504"/>
                </a:solidFill>
                <a:latin typeface="Courier New"/>
                <a:ea typeface="DejaVu Sans"/>
              </a:rPr>
              <a:t>int</a:t>
            </a:r>
            <a:r>
              <a:rPr lang="pt-BR" sz="1000" b="0" strike="noStrike" spc="46" dirty="0">
                <a:solidFill>
                  <a:srgbClr val="B90504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-24" dirty="0">
                <a:solidFill>
                  <a:srgbClr val="333333"/>
                </a:solidFill>
                <a:latin typeface="Courier New"/>
                <a:ea typeface="DejaVu Sans"/>
              </a:rPr>
              <a:t>k,</a:t>
            </a:r>
            <a:r>
              <a:rPr lang="pt-BR" sz="1000" b="0" strike="noStrike" spc="63" dirty="0">
                <a:solidFill>
                  <a:srgbClr val="333333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-26" dirty="0" err="1">
                <a:solidFill>
                  <a:srgbClr val="B90504"/>
                </a:solidFill>
                <a:latin typeface="Courier New"/>
                <a:ea typeface="DejaVu Sans"/>
              </a:rPr>
              <a:t>int</a:t>
            </a:r>
            <a:r>
              <a:rPr lang="pt-BR" sz="1000" b="0" strike="noStrike" spc="83" dirty="0">
                <a:solidFill>
                  <a:srgbClr val="B90504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-18" dirty="0">
                <a:solidFill>
                  <a:srgbClr val="333333"/>
                </a:solidFill>
                <a:latin typeface="Courier New"/>
                <a:ea typeface="DejaVu Sans"/>
              </a:rPr>
              <a:t>valor</a:t>
            </a:r>
            <a:r>
              <a:rPr lang="pt-BR" sz="1000" b="0" strike="noStrike" spc="-401" dirty="0">
                <a:solidFill>
                  <a:srgbClr val="333333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-52" dirty="0">
                <a:solidFill>
                  <a:srgbClr val="333333"/>
                </a:solidFill>
                <a:latin typeface="Courier New"/>
                <a:ea typeface="DejaVu Sans"/>
              </a:rPr>
              <a:t>)</a:t>
            </a:r>
            <a:r>
              <a:rPr lang="pt-BR" sz="1000" b="0" strike="noStrike" spc="46" dirty="0">
                <a:solidFill>
                  <a:srgbClr val="333333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-52" dirty="0">
                <a:solidFill>
                  <a:srgbClr val="333333"/>
                </a:solidFill>
                <a:latin typeface="Courier New"/>
                <a:ea typeface="DejaVu Sans"/>
              </a:rPr>
              <a:t>{</a:t>
            </a:r>
            <a:endParaRPr lang="pt-BR" sz="1000" b="0" strike="noStrike" spc="-1" dirty="0">
              <a:latin typeface="Spranq eco sans"/>
            </a:endParaRPr>
          </a:p>
          <a:p>
            <a:pPr marL="12600">
              <a:lnSpc>
                <a:spcPts val="944"/>
              </a:lnSpc>
            </a:pPr>
            <a:r>
              <a:rPr lang="pt-BR" sz="1800" b="0" strike="noStrike" spc="7" dirty="0">
                <a:solidFill>
                  <a:srgbClr val="333333"/>
                </a:solidFill>
                <a:latin typeface="Trebuchet MS"/>
                <a:ea typeface="Noto Sans CJK SC Regular"/>
              </a:rPr>
              <a:t>	</a:t>
            </a:r>
            <a:endParaRPr lang="pt-BR" sz="1800" b="0" strike="noStrike" spc="-32" dirty="0" smtClean="0">
              <a:solidFill>
                <a:srgbClr val="B90504"/>
              </a:solidFill>
              <a:latin typeface="Courier New"/>
              <a:ea typeface="Noto Sans CJK SC Regular"/>
            </a:endParaRPr>
          </a:p>
          <a:p>
            <a:pPr marL="12600">
              <a:lnSpc>
                <a:spcPts val="944"/>
              </a:lnSpc>
            </a:pPr>
            <a:r>
              <a:rPr lang="pt-BR" spc="-32" dirty="0">
                <a:solidFill>
                  <a:srgbClr val="B90504"/>
                </a:solidFill>
                <a:latin typeface="Courier New"/>
                <a:ea typeface="DejaVu Sans"/>
              </a:rPr>
              <a:t>	</a:t>
            </a:r>
            <a:r>
              <a:rPr lang="pt-BR" sz="1000" spc="-26" dirty="0" err="1">
                <a:solidFill>
                  <a:srgbClr val="B90504"/>
                </a:solidFill>
                <a:latin typeface="Courier New"/>
                <a:ea typeface="DejaVu Sans"/>
              </a:rPr>
              <a:t>int</a:t>
            </a:r>
            <a:r>
              <a:rPr lang="pt-BR" sz="1000" spc="-18" dirty="0" smtClean="0">
                <a:solidFill>
                  <a:srgbClr val="333333"/>
                </a:solidFill>
                <a:latin typeface="Courier New"/>
              </a:rPr>
              <a:t> </a:t>
            </a:r>
            <a:r>
              <a:rPr lang="pt-BR" sz="1000" spc="-18" dirty="0" err="1" smtClean="0">
                <a:solidFill>
                  <a:srgbClr val="333333"/>
                </a:solidFill>
                <a:latin typeface="Courier New"/>
              </a:rPr>
              <a:t>valor_old</a:t>
            </a:r>
            <a:r>
              <a:rPr lang="pt-BR" sz="1000" spc="-18" dirty="0" smtClean="0">
                <a:solidFill>
                  <a:srgbClr val="333333"/>
                </a:solidFill>
                <a:latin typeface="Courier New"/>
              </a:rPr>
              <a:t> = </a:t>
            </a:r>
            <a:r>
              <a:rPr lang="pt-BR" sz="1000" spc="-24" dirty="0" err="1" smtClean="0">
                <a:solidFill>
                  <a:srgbClr val="333333"/>
                </a:solidFill>
                <a:latin typeface="Courier New"/>
              </a:rPr>
              <a:t>fprio</a:t>
            </a:r>
            <a:r>
              <a:rPr lang="pt-BR" sz="1000" spc="-7" dirty="0" smtClean="0">
                <a:solidFill>
                  <a:srgbClr val="333333"/>
                </a:solidFill>
                <a:latin typeface="Courier New"/>
              </a:rPr>
              <a:t>-&gt;v[k].</a:t>
            </a:r>
            <a:r>
              <a:rPr lang="pt-BR" sz="1000" spc="-18" dirty="0" smtClean="0">
                <a:solidFill>
                  <a:srgbClr val="333333"/>
                </a:solidFill>
                <a:latin typeface="Courier New"/>
              </a:rPr>
              <a:t>chave;</a:t>
            </a:r>
            <a:endParaRPr lang="pt-BR" sz="1000" spc="-18" dirty="0" smtClean="0">
              <a:solidFill>
                <a:srgbClr val="333333"/>
              </a:solidFill>
              <a:latin typeface="Courier New"/>
            </a:endParaRPr>
          </a:p>
          <a:p>
            <a:pPr marL="12600">
              <a:lnSpc>
                <a:spcPts val="944"/>
              </a:lnSpc>
            </a:pPr>
            <a:r>
              <a:rPr lang="pt-BR" sz="1000" spc="-24" dirty="0" smtClean="0">
                <a:solidFill>
                  <a:srgbClr val="333333"/>
                </a:solidFill>
                <a:latin typeface="Courier New"/>
              </a:rPr>
              <a:t>	</a:t>
            </a:r>
            <a:r>
              <a:rPr lang="pt-BR" sz="1000" spc="-24" dirty="0" err="1" smtClean="0">
                <a:solidFill>
                  <a:srgbClr val="333333"/>
                </a:solidFill>
                <a:latin typeface="Courier New"/>
              </a:rPr>
              <a:t>fprio</a:t>
            </a:r>
            <a:r>
              <a:rPr lang="pt-BR" sz="1000" spc="-7" dirty="0" smtClean="0">
                <a:solidFill>
                  <a:srgbClr val="333333"/>
                </a:solidFill>
                <a:latin typeface="Courier New"/>
              </a:rPr>
              <a:t>-</a:t>
            </a:r>
            <a:r>
              <a:rPr lang="pt-BR" sz="1000" spc="-7" dirty="0">
                <a:solidFill>
                  <a:srgbClr val="333333"/>
                </a:solidFill>
                <a:latin typeface="Courier New"/>
              </a:rPr>
              <a:t>&gt;v[k].</a:t>
            </a:r>
            <a:r>
              <a:rPr lang="pt-BR" sz="1000" spc="-18" dirty="0">
                <a:solidFill>
                  <a:srgbClr val="333333"/>
                </a:solidFill>
                <a:latin typeface="Courier New"/>
              </a:rPr>
              <a:t>chave</a:t>
            </a:r>
            <a:r>
              <a:rPr lang="pt-BR" sz="1000" spc="63" dirty="0">
                <a:solidFill>
                  <a:srgbClr val="333333"/>
                </a:solidFill>
                <a:latin typeface="Courier New"/>
              </a:rPr>
              <a:t> </a:t>
            </a:r>
            <a:r>
              <a:rPr lang="pt-BR" sz="1000" spc="-52" dirty="0">
                <a:solidFill>
                  <a:srgbClr val="333333"/>
                </a:solidFill>
                <a:latin typeface="Courier New"/>
              </a:rPr>
              <a:t>=</a:t>
            </a:r>
            <a:r>
              <a:rPr lang="pt-BR" sz="1000" spc="63" dirty="0">
                <a:solidFill>
                  <a:srgbClr val="333333"/>
                </a:solidFill>
                <a:latin typeface="Courier New"/>
              </a:rPr>
              <a:t> </a:t>
            </a:r>
            <a:r>
              <a:rPr lang="pt-BR" sz="1000" spc="-18" dirty="0">
                <a:solidFill>
                  <a:srgbClr val="333333"/>
                </a:solidFill>
                <a:latin typeface="Courier New"/>
              </a:rPr>
              <a:t>valor</a:t>
            </a:r>
            <a:r>
              <a:rPr lang="pt-BR" sz="1000" spc="-401" dirty="0">
                <a:solidFill>
                  <a:srgbClr val="333333"/>
                </a:solidFill>
                <a:latin typeface="Courier New"/>
              </a:rPr>
              <a:t> </a:t>
            </a:r>
            <a:r>
              <a:rPr lang="pt-BR" sz="1000" spc="-52" dirty="0" smtClean="0">
                <a:solidFill>
                  <a:srgbClr val="333333"/>
                </a:solidFill>
                <a:latin typeface="Courier New"/>
              </a:rPr>
              <a:t>;</a:t>
            </a:r>
            <a:endParaRPr lang="pt-BR" sz="1000" b="0" strike="noStrike" spc="-1" dirty="0">
              <a:latin typeface="Spranq eco sans"/>
            </a:endParaRPr>
          </a:p>
          <a:p>
            <a:pPr marL="12600">
              <a:lnSpc>
                <a:spcPts val="944"/>
              </a:lnSpc>
            </a:pPr>
            <a:r>
              <a:rPr lang="pt-BR" sz="1000" b="0" strike="noStrike" spc="7" dirty="0">
                <a:solidFill>
                  <a:srgbClr val="333333"/>
                </a:solidFill>
                <a:latin typeface="Trebuchet MS"/>
                <a:ea typeface="DejaVu Sans"/>
              </a:rPr>
              <a:t>	</a:t>
            </a:r>
            <a:endParaRPr lang="pt-BR" sz="1000" b="0" strike="noStrike" spc="7" dirty="0" smtClean="0">
              <a:solidFill>
                <a:srgbClr val="333333"/>
              </a:solidFill>
              <a:latin typeface="Trebuchet MS"/>
              <a:ea typeface="DejaVu Sans"/>
            </a:endParaRPr>
          </a:p>
          <a:p>
            <a:pPr marL="12600">
              <a:lnSpc>
                <a:spcPts val="944"/>
              </a:lnSpc>
            </a:pPr>
            <a:r>
              <a:rPr lang="pt-BR" sz="1000" spc="7" dirty="0">
                <a:solidFill>
                  <a:srgbClr val="333333"/>
                </a:solidFill>
                <a:latin typeface="Trebuchet MS"/>
                <a:ea typeface="DejaVu Sans"/>
              </a:rPr>
              <a:t>	</a:t>
            </a:r>
            <a:r>
              <a:rPr lang="pt-BR" sz="1000" b="0" strike="noStrike" spc="-32" dirty="0" err="1" smtClean="0">
                <a:solidFill>
                  <a:srgbClr val="B90504"/>
                </a:solidFill>
                <a:latin typeface="Courier New"/>
                <a:ea typeface="DejaVu Sans"/>
              </a:rPr>
              <a:t>if</a:t>
            </a:r>
            <a:r>
              <a:rPr lang="pt-BR" sz="1000" b="0" strike="noStrike" spc="-18" dirty="0" smtClean="0">
                <a:solidFill>
                  <a:srgbClr val="333333"/>
                </a:solidFill>
                <a:latin typeface="Courier New"/>
                <a:ea typeface="DejaVu Sans"/>
              </a:rPr>
              <a:t>(</a:t>
            </a:r>
            <a:r>
              <a:rPr lang="pt-BR" sz="1000" b="0" strike="noStrike" spc="-18" dirty="0" err="1" smtClean="0">
                <a:solidFill>
                  <a:srgbClr val="333333"/>
                </a:solidFill>
                <a:latin typeface="Courier New"/>
                <a:ea typeface="DejaVu Sans"/>
              </a:rPr>
              <a:t>fprio</a:t>
            </a:r>
            <a:r>
              <a:rPr lang="pt-BR" sz="1000" b="0" strike="noStrike" spc="-7" dirty="0" smtClean="0">
                <a:solidFill>
                  <a:srgbClr val="333333"/>
                </a:solidFill>
                <a:latin typeface="Courier New"/>
                <a:ea typeface="DejaVu Sans"/>
              </a:rPr>
              <a:t>-</a:t>
            </a:r>
            <a:r>
              <a:rPr lang="pt-BR" sz="1000" b="0" strike="noStrike" spc="-7" dirty="0">
                <a:solidFill>
                  <a:srgbClr val="333333"/>
                </a:solidFill>
                <a:latin typeface="Courier New"/>
                <a:ea typeface="DejaVu Sans"/>
              </a:rPr>
              <a:t>&gt;v[k].</a:t>
            </a:r>
            <a:r>
              <a:rPr lang="pt-BR" sz="1000" b="0" strike="noStrike" spc="-18" dirty="0">
                <a:solidFill>
                  <a:srgbClr val="333333"/>
                </a:solidFill>
                <a:latin typeface="Courier New"/>
                <a:ea typeface="DejaVu Sans"/>
              </a:rPr>
              <a:t>chave</a:t>
            </a:r>
            <a:r>
              <a:rPr lang="pt-BR" sz="1000" b="0" strike="noStrike" spc="72" dirty="0">
                <a:solidFill>
                  <a:srgbClr val="333333"/>
                </a:solidFill>
                <a:latin typeface="Courier New"/>
                <a:ea typeface="DejaVu Sans"/>
              </a:rPr>
              <a:t> </a:t>
            </a:r>
            <a:r>
              <a:rPr lang="pt-BR" sz="1000" spc="-52" dirty="0">
                <a:solidFill>
                  <a:srgbClr val="333333"/>
                </a:solidFill>
                <a:latin typeface="Courier New"/>
                <a:ea typeface="DejaVu Sans"/>
              </a:rPr>
              <a:t>&gt;</a:t>
            </a:r>
            <a:r>
              <a:rPr lang="pt-BR" sz="1000" b="0" strike="noStrike" spc="52" dirty="0" smtClean="0">
                <a:solidFill>
                  <a:srgbClr val="333333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-18" dirty="0" err="1" smtClean="0">
                <a:solidFill>
                  <a:srgbClr val="333333"/>
                </a:solidFill>
                <a:latin typeface="Courier New"/>
                <a:ea typeface="DejaVu Sans"/>
              </a:rPr>
              <a:t>valor_old</a:t>
            </a:r>
            <a:r>
              <a:rPr lang="pt-BR" sz="1000" b="0" strike="noStrike" spc="-401" dirty="0" smtClean="0">
                <a:solidFill>
                  <a:srgbClr val="333333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-52" dirty="0">
                <a:solidFill>
                  <a:srgbClr val="333333"/>
                </a:solidFill>
                <a:latin typeface="Courier New"/>
                <a:ea typeface="DejaVu Sans"/>
              </a:rPr>
              <a:t>)</a:t>
            </a:r>
            <a:r>
              <a:rPr lang="pt-BR" sz="1000" b="0" strike="noStrike" spc="43" dirty="0">
                <a:solidFill>
                  <a:srgbClr val="333333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-52" dirty="0">
                <a:solidFill>
                  <a:srgbClr val="333333"/>
                </a:solidFill>
                <a:latin typeface="Courier New"/>
                <a:ea typeface="DejaVu Sans"/>
              </a:rPr>
              <a:t>{</a:t>
            </a:r>
            <a:r>
              <a:rPr lang="pt-BR" sz="1000" b="0" strike="noStrike" spc="7" dirty="0">
                <a:solidFill>
                  <a:srgbClr val="333333"/>
                </a:solidFill>
                <a:latin typeface="Trebuchet MS"/>
                <a:ea typeface="DejaVu Sans"/>
              </a:rPr>
              <a:t>	</a:t>
            </a:r>
            <a:endParaRPr lang="pt-BR" sz="1000" b="0" strike="noStrike" spc="-1" dirty="0">
              <a:latin typeface="Spranq eco sans"/>
            </a:endParaRPr>
          </a:p>
          <a:p>
            <a:pPr marL="12600">
              <a:lnSpc>
                <a:spcPts val="944"/>
              </a:lnSpc>
            </a:pPr>
            <a:r>
              <a:rPr lang="pt-BR" sz="1000" b="0" strike="noStrike" spc="7" dirty="0">
                <a:solidFill>
                  <a:srgbClr val="333333"/>
                </a:solidFill>
                <a:latin typeface="Trebuchet MS"/>
                <a:ea typeface="DejaVu Sans"/>
              </a:rPr>
              <a:t>		</a:t>
            </a:r>
            <a:r>
              <a:rPr lang="pt-BR" sz="1000" b="1" strike="noStrike" spc="-7" dirty="0" err="1">
                <a:solidFill>
                  <a:srgbClr val="333333"/>
                </a:solidFill>
                <a:latin typeface="Courier New"/>
                <a:ea typeface="DejaVu Sans"/>
              </a:rPr>
              <a:t>sobe_no_heap</a:t>
            </a:r>
            <a:r>
              <a:rPr lang="pt-BR" sz="1000" b="0" strike="noStrike" spc="-18" dirty="0">
                <a:solidFill>
                  <a:srgbClr val="333333"/>
                </a:solidFill>
                <a:latin typeface="Courier New"/>
                <a:ea typeface="DejaVu Sans"/>
              </a:rPr>
              <a:t>(</a:t>
            </a:r>
            <a:r>
              <a:rPr lang="pt-BR" sz="1000" b="0" strike="noStrike" spc="-18" dirty="0" err="1">
                <a:solidFill>
                  <a:srgbClr val="333333"/>
                </a:solidFill>
                <a:latin typeface="Courier New"/>
                <a:ea typeface="DejaVu Sans"/>
              </a:rPr>
              <a:t>fprio</a:t>
            </a:r>
            <a:r>
              <a:rPr lang="pt-BR" sz="1000" b="0" strike="noStrike" spc="-52" dirty="0" err="1">
                <a:solidFill>
                  <a:srgbClr val="333333"/>
                </a:solidFill>
                <a:latin typeface="Courier New"/>
                <a:ea typeface="DejaVu Sans"/>
              </a:rPr>
              <a:t>,</a:t>
            </a:r>
            <a:r>
              <a:rPr lang="pt-BR" sz="1000" b="0" strike="noStrike" spc="-18" dirty="0" err="1">
                <a:solidFill>
                  <a:srgbClr val="333333"/>
                </a:solidFill>
                <a:latin typeface="Courier New"/>
                <a:ea typeface="DejaVu Sans"/>
              </a:rPr>
              <a:t>k</a:t>
            </a:r>
            <a:r>
              <a:rPr lang="pt-BR" sz="1000" b="0" strike="noStrike" spc="-18" dirty="0">
                <a:solidFill>
                  <a:srgbClr val="333333"/>
                </a:solidFill>
                <a:latin typeface="Courier New"/>
                <a:ea typeface="DejaVu Sans"/>
              </a:rPr>
              <a:t>);</a:t>
            </a:r>
            <a:endParaRPr lang="pt-BR" sz="1000" b="0" strike="noStrike" spc="-1" dirty="0">
              <a:latin typeface="Spranq eco sans"/>
            </a:endParaRPr>
          </a:p>
          <a:p>
            <a:pPr marL="12600">
              <a:lnSpc>
                <a:spcPts val="944"/>
              </a:lnSpc>
            </a:pPr>
            <a:r>
              <a:rPr lang="pt-BR" sz="1000" b="0" strike="noStrike" spc="7" dirty="0">
                <a:solidFill>
                  <a:srgbClr val="333333"/>
                </a:solidFill>
                <a:latin typeface="Trebuchet MS"/>
                <a:ea typeface="DejaVu Sans"/>
              </a:rPr>
              <a:t>	</a:t>
            </a:r>
            <a:r>
              <a:rPr lang="pt-BR" sz="1000" b="0" strike="noStrike" spc="-52" dirty="0">
                <a:solidFill>
                  <a:srgbClr val="333333"/>
                </a:solidFill>
                <a:latin typeface="Courier New"/>
                <a:ea typeface="DejaVu Sans"/>
              </a:rPr>
              <a:t>} </a:t>
            </a:r>
            <a:r>
              <a:rPr lang="pt-BR" sz="1000" b="0" strike="noStrike" spc="-24" dirty="0" err="1">
                <a:solidFill>
                  <a:srgbClr val="B90504"/>
                </a:solidFill>
                <a:latin typeface="Courier New"/>
                <a:ea typeface="DejaVu Sans"/>
              </a:rPr>
              <a:t>else</a:t>
            </a:r>
            <a:r>
              <a:rPr lang="pt-BR" sz="1000" b="0" strike="noStrike" spc="182" dirty="0">
                <a:solidFill>
                  <a:srgbClr val="B90504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-52" dirty="0">
                <a:solidFill>
                  <a:srgbClr val="333333"/>
                </a:solidFill>
                <a:latin typeface="Courier New"/>
                <a:ea typeface="DejaVu Sans"/>
              </a:rPr>
              <a:t>{</a:t>
            </a:r>
            <a:endParaRPr lang="pt-BR" sz="1000" b="0" strike="noStrike" spc="-1" dirty="0">
              <a:latin typeface="Spranq eco sans"/>
            </a:endParaRPr>
          </a:p>
          <a:p>
            <a:pPr marL="12600">
              <a:lnSpc>
                <a:spcPts val="944"/>
              </a:lnSpc>
            </a:pPr>
            <a:r>
              <a:rPr lang="pt-BR" sz="1000" b="0" strike="noStrike" spc="7" dirty="0">
                <a:solidFill>
                  <a:srgbClr val="333333"/>
                </a:solidFill>
                <a:latin typeface="Trebuchet MS"/>
                <a:ea typeface="DejaVu Sans"/>
              </a:rPr>
              <a:t>		</a:t>
            </a:r>
            <a:r>
              <a:rPr lang="pt-BR" sz="1000" b="1" strike="noStrike" spc="-7" dirty="0" err="1">
                <a:solidFill>
                  <a:srgbClr val="333333"/>
                </a:solidFill>
                <a:latin typeface="Courier New"/>
                <a:ea typeface="DejaVu Sans"/>
              </a:rPr>
              <a:t>desce_no_heap</a:t>
            </a:r>
            <a:r>
              <a:rPr lang="pt-BR" sz="1000" b="0" strike="noStrike" spc="-18" dirty="0">
                <a:solidFill>
                  <a:srgbClr val="333333"/>
                </a:solidFill>
                <a:latin typeface="Courier New"/>
                <a:ea typeface="DejaVu Sans"/>
              </a:rPr>
              <a:t>(</a:t>
            </a:r>
            <a:r>
              <a:rPr lang="pt-BR" sz="1000" b="0" strike="noStrike" spc="-18" dirty="0" err="1">
                <a:solidFill>
                  <a:srgbClr val="333333"/>
                </a:solidFill>
                <a:latin typeface="Courier New"/>
                <a:ea typeface="DejaVu Sans"/>
              </a:rPr>
              <a:t>fprio</a:t>
            </a:r>
            <a:r>
              <a:rPr lang="pt-BR" sz="1000" b="0" strike="noStrike" spc="-52" dirty="0" err="1">
                <a:solidFill>
                  <a:srgbClr val="333333"/>
                </a:solidFill>
                <a:latin typeface="Courier New"/>
                <a:ea typeface="DejaVu Sans"/>
              </a:rPr>
              <a:t>,</a:t>
            </a:r>
            <a:r>
              <a:rPr lang="pt-BR" sz="1000" b="0" strike="noStrike" spc="-18" dirty="0" err="1">
                <a:solidFill>
                  <a:srgbClr val="333333"/>
                </a:solidFill>
                <a:latin typeface="Courier New"/>
                <a:ea typeface="DejaVu Sans"/>
              </a:rPr>
              <a:t>k</a:t>
            </a:r>
            <a:r>
              <a:rPr lang="pt-BR" sz="1000" b="0" strike="noStrike" spc="-18" dirty="0">
                <a:solidFill>
                  <a:srgbClr val="333333"/>
                </a:solidFill>
                <a:latin typeface="Courier New"/>
                <a:ea typeface="DejaVu Sans"/>
              </a:rPr>
              <a:t>);</a:t>
            </a:r>
            <a:endParaRPr lang="pt-BR" sz="1000" b="0" strike="noStrike" spc="-1" dirty="0">
              <a:latin typeface="Spranq eco sans"/>
            </a:endParaRPr>
          </a:p>
          <a:p>
            <a:pPr marL="12600">
              <a:lnSpc>
                <a:spcPts val="944"/>
              </a:lnSpc>
            </a:pPr>
            <a:r>
              <a:rPr lang="pt-BR" sz="1000" b="0" strike="noStrike" spc="7" dirty="0">
                <a:solidFill>
                  <a:srgbClr val="333333"/>
                </a:solidFill>
                <a:latin typeface="Trebuchet MS"/>
                <a:ea typeface="DejaVu Sans"/>
              </a:rPr>
              <a:t>	</a:t>
            </a:r>
            <a:r>
              <a:rPr lang="pt-BR" sz="1000" b="0" strike="noStrike" spc="-52" dirty="0">
                <a:solidFill>
                  <a:srgbClr val="333333"/>
                </a:solidFill>
                <a:latin typeface="Courier New"/>
                <a:ea typeface="DejaVu Sans"/>
              </a:rPr>
              <a:t>}</a:t>
            </a:r>
            <a:endParaRPr lang="pt-BR" sz="1000" b="0" strike="noStrike" spc="-1" dirty="0">
              <a:latin typeface="Spranq eco sans"/>
            </a:endParaRPr>
          </a:p>
          <a:p>
            <a:pPr marL="12600">
              <a:lnSpc>
                <a:spcPts val="955"/>
              </a:lnSpc>
            </a:pPr>
            <a:r>
              <a:rPr lang="pt-BR" sz="1000" b="0" strike="noStrike" spc="-52" dirty="0">
                <a:solidFill>
                  <a:srgbClr val="333333"/>
                </a:solidFill>
                <a:latin typeface="Courier New"/>
                <a:ea typeface="DejaVu Sans"/>
              </a:rPr>
              <a:t>}</a:t>
            </a:r>
            <a:endParaRPr lang="pt-BR" sz="1000" b="0" strike="noStrike" spc="-1" dirty="0">
              <a:latin typeface="Spranq eco sans"/>
            </a:endParaRPr>
          </a:p>
          <a:p>
            <a:pPr marL="12600">
              <a:lnSpc>
                <a:spcPct val="100000"/>
              </a:lnSpc>
            </a:pPr>
            <a:r>
              <a:rPr lang="pt-BR" sz="1050" b="0" strike="noStrike" spc="-1" dirty="0" smtClean="0">
                <a:solidFill>
                  <a:srgbClr val="333333"/>
                </a:solidFill>
                <a:latin typeface="Trebuchet MS"/>
                <a:ea typeface="DejaVu Sans"/>
              </a:rPr>
              <a:t>Tempo</a:t>
            </a:r>
            <a:r>
              <a:rPr lang="pt-BR" sz="1050" b="0" strike="noStrike" spc="-1" dirty="0">
                <a:solidFill>
                  <a:srgbClr val="333333"/>
                </a:solidFill>
                <a:latin typeface="Trebuchet MS"/>
                <a:ea typeface="DejaVu Sans"/>
              </a:rPr>
              <a:t>: </a:t>
            </a:r>
            <a:r>
              <a:rPr lang="pt-BR" sz="1100" b="0" strike="noStrike" spc="-1" dirty="0">
                <a:solidFill>
                  <a:srgbClr val="B90504"/>
                </a:solidFill>
                <a:latin typeface="Georgia"/>
                <a:ea typeface="DejaVu Sans"/>
              </a:rPr>
              <a:t>O(</a:t>
            </a:r>
            <a:r>
              <a:rPr lang="pt-BR" sz="1100" b="0" strike="noStrike" spc="-1" dirty="0" err="1">
                <a:solidFill>
                  <a:srgbClr val="B90504"/>
                </a:solidFill>
                <a:latin typeface="Georgia"/>
                <a:ea typeface="DejaVu Sans"/>
              </a:rPr>
              <a:t>lg</a:t>
            </a:r>
            <a:r>
              <a:rPr lang="pt-BR" sz="1100" b="0" strike="noStrike" spc="7" dirty="0">
                <a:solidFill>
                  <a:srgbClr val="B90504"/>
                </a:solidFill>
                <a:latin typeface="Georgia"/>
                <a:ea typeface="DejaVu Sans"/>
              </a:rPr>
              <a:t> </a:t>
            </a:r>
            <a:r>
              <a:rPr lang="pt-BR" sz="1100" b="0" i="1" strike="noStrike" spc="-1" dirty="0">
                <a:solidFill>
                  <a:srgbClr val="B90504"/>
                </a:solidFill>
                <a:latin typeface="Courier New"/>
                <a:ea typeface="DejaVu Sans"/>
              </a:rPr>
              <a:t>n</a:t>
            </a:r>
            <a:r>
              <a:rPr lang="pt-BR" sz="1100" b="0" strike="noStrike" spc="-1" dirty="0">
                <a:solidFill>
                  <a:srgbClr val="B90504"/>
                </a:solidFill>
                <a:latin typeface="Georgia"/>
                <a:ea typeface="DejaVu Sans"/>
              </a:rPr>
              <a:t>)</a:t>
            </a:r>
            <a:endParaRPr lang="pt-BR" sz="1100" b="0" strike="noStrike" spc="-1" dirty="0">
              <a:latin typeface="Spranq eco sans"/>
            </a:endParaRPr>
          </a:p>
          <a:p>
            <a:pPr marL="394920" indent="-137520">
              <a:lnSpc>
                <a:spcPct val="100000"/>
              </a:lnSpc>
              <a:spcBef>
                <a:spcPts val="386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50" b="0" strike="noStrike" spc="58" dirty="0">
                <a:solidFill>
                  <a:srgbClr val="333333"/>
                </a:solidFill>
                <a:latin typeface="Trebuchet MS"/>
                <a:ea typeface="DejaVu Sans"/>
              </a:rPr>
              <a:t>mas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6" dirty="0">
                <a:solidFill>
                  <a:srgbClr val="333333"/>
                </a:solidFill>
                <a:latin typeface="Trebuchet MS"/>
                <a:ea typeface="DejaVu Sans"/>
              </a:rPr>
              <a:t>precisamos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 dirty="0">
                <a:solidFill>
                  <a:srgbClr val="333333"/>
                </a:solidFill>
                <a:latin typeface="Trebuchet MS"/>
                <a:ea typeface="DejaVu Sans"/>
              </a:rPr>
              <a:t>saber</a:t>
            </a:r>
            <a:r>
              <a:rPr lang="pt-BR" sz="1050" b="0" strike="noStrike" spc="-4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 dirty="0">
                <a:solidFill>
                  <a:srgbClr val="333333"/>
                </a:solidFill>
                <a:latin typeface="Trebuchet MS"/>
                <a:ea typeface="DejaVu Sans"/>
              </a:rPr>
              <a:t>a</a:t>
            </a:r>
            <a:r>
              <a:rPr lang="pt-BR" sz="1050" b="0" strike="noStrike" spc="-4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 dirty="0">
                <a:solidFill>
                  <a:srgbClr val="333333"/>
                </a:solidFill>
                <a:latin typeface="Trebuchet MS"/>
                <a:ea typeface="DejaVu Sans"/>
              </a:rPr>
              <a:t>posição</a:t>
            </a:r>
            <a:r>
              <a:rPr lang="pt-BR" sz="1050" b="0" strike="noStrike" spc="-4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46" dirty="0">
                <a:solidFill>
                  <a:srgbClr val="333333"/>
                </a:solidFill>
                <a:latin typeface="Trebuchet MS"/>
                <a:ea typeface="DejaVu Sans"/>
              </a:rPr>
              <a:t>do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2" dirty="0">
                <a:solidFill>
                  <a:srgbClr val="333333"/>
                </a:solidFill>
                <a:latin typeface="Trebuchet MS"/>
                <a:ea typeface="DejaVu Sans"/>
              </a:rPr>
              <a:t>item</a:t>
            </a:r>
            <a:r>
              <a:rPr lang="pt-BR" sz="1050" b="0" strike="noStrike" spc="-1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38" dirty="0">
                <a:solidFill>
                  <a:srgbClr val="333333"/>
                </a:solidFill>
                <a:latin typeface="Trebuchet MS"/>
                <a:ea typeface="DejaVu Sans"/>
              </a:rPr>
              <a:t>no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 dirty="0" err="1">
                <a:solidFill>
                  <a:srgbClr val="333333"/>
                </a:solidFill>
                <a:latin typeface="Trebuchet MS"/>
                <a:ea typeface="DejaVu Sans"/>
              </a:rPr>
              <a:t>heap</a:t>
            </a:r>
            <a:endParaRPr lang="pt-BR" sz="1050" b="0" strike="noStrike" spc="-1" dirty="0">
              <a:latin typeface="Spranq eco sans"/>
            </a:endParaRPr>
          </a:p>
          <a:p>
            <a:pPr marL="394920" indent="-137520">
              <a:lnSpc>
                <a:spcPct val="100000"/>
              </a:lnSpc>
              <a:spcBef>
                <a:spcPts val="184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50" b="0" strike="noStrike" spc="4" dirty="0">
                <a:solidFill>
                  <a:srgbClr val="333333"/>
                </a:solidFill>
                <a:latin typeface="Trebuchet MS"/>
                <a:ea typeface="DejaVu Sans"/>
              </a:rPr>
              <a:t>e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 dirty="0">
                <a:solidFill>
                  <a:srgbClr val="333333"/>
                </a:solidFill>
                <a:latin typeface="Trebuchet MS"/>
                <a:ea typeface="DejaVu Sans"/>
              </a:rPr>
              <a:t>percorrer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 dirty="0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24" dirty="0" err="1">
                <a:solidFill>
                  <a:srgbClr val="333333"/>
                </a:solidFill>
                <a:latin typeface="Trebuchet MS"/>
                <a:ea typeface="DejaVu Sans"/>
              </a:rPr>
              <a:t>heap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7" dirty="0">
                <a:solidFill>
                  <a:srgbClr val="333333"/>
                </a:solidFill>
                <a:latin typeface="Trebuchet MS"/>
                <a:ea typeface="DejaVu Sans"/>
              </a:rPr>
              <a:t>para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12" dirty="0">
                <a:solidFill>
                  <a:srgbClr val="333333"/>
                </a:solidFill>
                <a:latin typeface="Trebuchet MS"/>
                <a:ea typeface="DejaVu Sans"/>
              </a:rPr>
              <a:t>achar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52" dirty="0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50" b="0" strike="noStrike" spc="-4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2" dirty="0">
                <a:solidFill>
                  <a:srgbClr val="333333"/>
                </a:solidFill>
                <a:latin typeface="Trebuchet MS"/>
                <a:ea typeface="DejaVu Sans"/>
              </a:rPr>
              <a:t>item</a:t>
            </a:r>
            <a:r>
              <a:rPr lang="pt-BR" sz="1050" b="0" strike="noStrike" spc="-4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50" b="0" strike="noStrike" spc="-1" dirty="0">
                <a:solidFill>
                  <a:srgbClr val="333333"/>
                </a:solidFill>
                <a:latin typeface="Trebuchet MS"/>
                <a:ea typeface="DejaVu Sans"/>
              </a:rPr>
              <a:t>leva</a:t>
            </a:r>
            <a:r>
              <a:rPr lang="pt-BR" sz="1050" b="0" strike="noStrike" spc="-7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100" b="0" strike="noStrike" spc="-1" dirty="0">
                <a:solidFill>
                  <a:srgbClr val="B90504"/>
                </a:solidFill>
                <a:latin typeface="Georgia"/>
                <a:ea typeface="DejaVu Sans"/>
              </a:rPr>
              <a:t>O(</a:t>
            </a:r>
            <a:r>
              <a:rPr lang="pt-BR" sz="1100" b="0" i="1" strike="noStrike" spc="-1" dirty="0">
                <a:solidFill>
                  <a:srgbClr val="B90504"/>
                </a:solidFill>
                <a:latin typeface="Courier New"/>
                <a:ea typeface="DejaVu Sans"/>
              </a:rPr>
              <a:t>n</a:t>
            </a:r>
            <a:r>
              <a:rPr lang="pt-BR" sz="1100" b="0" strike="noStrike" spc="-1" dirty="0">
                <a:solidFill>
                  <a:srgbClr val="B90504"/>
                </a:solidFill>
                <a:latin typeface="Georgia"/>
                <a:ea typeface="DejaVu Sans"/>
              </a:rPr>
              <a:t>)</a:t>
            </a:r>
            <a:endParaRPr lang="pt-BR" sz="1100" b="0" strike="noStrike" spc="-1" dirty="0">
              <a:latin typeface="Spranq eco sans"/>
            </a:endParaRPr>
          </a:p>
          <a:p>
            <a:pPr marL="539640">
              <a:lnSpc>
                <a:spcPct val="100000"/>
              </a:lnSpc>
              <a:spcBef>
                <a:spcPts val="176"/>
              </a:spcBef>
            </a:pPr>
            <a:r>
              <a:rPr lang="pt-BR" sz="1000" b="0" strike="noStrike" spc="117" dirty="0">
                <a:solidFill>
                  <a:srgbClr val="333333"/>
                </a:solidFill>
                <a:latin typeface="Trebuchet MS"/>
                <a:ea typeface="DejaVu Sans"/>
              </a:rPr>
              <a:t>– </a:t>
            </a:r>
            <a:r>
              <a:rPr lang="pt-BR" sz="1000" b="0" strike="noStrike" spc="7" dirty="0">
                <a:solidFill>
                  <a:srgbClr val="333333"/>
                </a:solidFill>
                <a:latin typeface="Trebuchet MS"/>
                <a:ea typeface="DejaVu Sans"/>
              </a:rPr>
              <a:t>dá </a:t>
            </a:r>
            <a:r>
              <a:rPr lang="pt-BR" sz="1000" b="0" strike="noStrike" spc="-1" dirty="0">
                <a:solidFill>
                  <a:srgbClr val="333333"/>
                </a:solidFill>
                <a:latin typeface="Trebuchet MS"/>
                <a:ea typeface="DejaVu Sans"/>
              </a:rPr>
              <a:t>para </a:t>
            </a:r>
            <a:r>
              <a:rPr lang="pt-BR" sz="1000" b="0" strike="noStrike" spc="-24" dirty="0">
                <a:solidFill>
                  <a:srgbClr val="333333"/>
                </a:solidFill>
                <a:latin typeface="Trebuchet MS"/>
                <a:ea typeface="DejaVu Sans"/>
              </a:rPr>
              <a:t>fazer</a:t>
            </a:r>
            <a:r>
              <a:rPr lang="pt-BR" sz="1000" b="0" strike="noStrike" spc="18" dirty="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4" dirty="0">
                <a:solidFill>
                  <a:srgbClr val="333333"/>
                </a:solidFill>
                <a:latin typeface="Trebuchet MS"/>
                <a:ea typeface="DejaVu Sans"/>
              </a:rPr>
              <a:t>melhor?</a:t>
            </a:r>
            <a:endParaRPr lang="pt-BR" sz="1000" b="0" strike="noStrike" spc="-1" dirty="0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CustomShape 1"/>
          <p:cNvSpPr/>
          <p:nvPr/>
        </p:nvSpPr>
        <p:spPr>
          <a:xfrm>
            <a:off x="131400" y="59040"/>
            <a:ext cx="303660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58">
                <a:solidFill>
                  <a:srgbClr val="990100"/>
                </a:solidFill>
                <a:latin typeface="Trebuchet MS"/>
                <a:ea typeface="DejaVu Sans"/>
              </a:rPr>
              <a:t>Posição do </a:t>
            </a:r>
            <a:r>
              <a:rPr lang="pt-BR" sz="1400" b="0" strike="noStrike" spc="-26">
                <a:solidFill>
                  <a:srgbClr val="990100"/>
                </a:solidFill>
                <a:latin typeface="Trebuchet MS"/>
                <a:ea typeface="DejaVu Sans"/>
              </a:rPr>
              <a:t>item </a:t>
            </a:r>
            <a:r>
              <a:rPr lang="pt-BR" sz="1400" b="0" strike="noStrike" spc="38">
                <a:solidFill>
                  <a:srgbClr val="990100"/>
                </a:solidFill>
                <a:latin typeface="Trebuchet MS"/>
                <a:ea typeface="DejaVu Sans"/>
              </a:rPr>
              <a:t>no</a:t>
            </a:r>
            <a:r>
              <a:rPr lang="pt-BR" sz="1400" b="0" strike="noStrike" spc="-236">
                <a:solidFill>
                  <a:srgbClr val="990100"/>
                </a:solidFill>
                <a:latin typeface="Trebuchet MS"/>
                <a:ea typeface="DejaVu Sans"/>
              </a:rPr>
              <a:t> </a:t>
            </a:r>
            <a:r>
              <a:rPr lang="pt-BR" sz="1400" b="0" strike="noStrike" spc="24">
                <a:solidFill>
                  <a:srgbClr val="990100"/>
                </a:solidFill>
                <a:latin typeface="Trebuchet MS"/>
                <a:ea typeface="DejaVu Sans"/>
              </a:rPr>
              <a:t>heap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952" name="CustomShape 2"/>
          <p:cNvSpPr/>
          <p:nvPr/>
        </p:nvSpPr>
        <p:spPr>
          <a:xfrm>
            <a:off x="2288160" y="3300120"/>
            <a:ext cx="132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17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53" name="CustomShape 3"/>
          <p:cNvSpPr/>
          <p:nvPr/>
        </p:nvSpPr>
        <p:spPr>
          <a:xfrm>
            <a:off x="324000" y="512640"/>
            <a:ext cx="4092480" cy="279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080" rIns="0" bIns="0"/>
          <a:lstStyle/>
          <a:p>
            <a:pPr marL="12600">
              <a:lnSpc>
                <a:spcPct val="100000"/>
              </a:lnSpc>
              <a:spcBef>
                <a:spcPts val="434"/>
              </a:spcBef>
            </a:pPr>
            <a:r>
              <a:rPr lang="pt-BR" sz="1000" b="0" strike="noStrike" spc="97">
                <a:solidFill>
                  <a:srgbClr val="333333"/>
                </a:solidFill>
                <a:latin typeface="Trebuchet MS"/>
                <a:ea typeface="DejaVu Sans"/>
              </a:rPr>
              <a:t>Se</a:t>
            </a:r>
            <a:r>
              <a:rPr lang="pt-BR" sz="100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77">
                <a:solidFill>
                  <a:srgbClr val="333333"/>
                </a:solidFill>
                <a:latin typeface="Trebuchet MS"/>
                <a:ea typeface="DejaVu Sans"/>
              </a:rPr>
              <a:t>os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itens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tiverem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um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43">
                <a:solidFill>
                  <a:srgbClr val="333333"/>
                </a:solidFill>
                <a:latin typeface="Trebuchet MS"/>
                <a:ea typeface="DejaVu Sans"/>
              </a:rPr>
              <a:t>campo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id</a:t>
            </a:r>
            <a:r>
              <a:rPr lang="pt-BR" sz="1000" b="0" strike="noStrike" spc="-352">
                <a:solidFill>
                  <a:srgbClr val="B90504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com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valores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de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0</a:t>
            </a:r>
            <a:r>
              <a:rPr lang="pt-BR" sz="1000" b="0" strike="noStrike" spc="-352">
                <a:solidFill>
                  <a:srgbClr val="B90504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a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n-1</a:t>
            </a:r>
            <a:endParaRPr lang="pt-BR" sz="1000" b="0" strike="noStrike" spc="-1">
              <a:latin typeface="Spranq eco sans"/>
            </a:endParaRPr>
          </a:p>
          <a:p>
            <a:pPr marL="289440" indent="-137520">
              <a:lnSpc>
                <a:spcPct val="100000"/>
              </a:lnSpc>
              <a:spcBef>
                <a:spcPts val="334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0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Criamos </a:t>
            </a:r>
            <a:r>
              <a:rPr lang="pt-BR" sz="100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um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vetor </a:t>
            </a:r>
            <a:r>
              <a:rPr lang="pt-BR" sz="100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de </a:t>
            </a:r>
            <a:r>
              <a:rPr lang="pt-BR" sz="10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n</a:t>
            </a:r>
            <a:r>
              <a:rPr lang="pt-BR" sz="1000" b="0" strike="noStrike" spc="-540">
                <a:solidFill>
                  <a:srgbClr val="B90504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43">
                <a:solidFill>
                  <a:srgbClr val="333333"/>
                </a:solidFill>
                <a:latin typeface="Trebuchet MS"/>
                <a:ea typeface="DejaVu Sans"/>
              </a:rPr>
              <a:t>posições c</a:t>
            </a:r>
            <a:r>
              <a:rPr lang="pt-BR" sz="1000" b="0" strike="noStrike" spc="72">
                <a:solidFill>
                  <a:srgbClr val="333333"/>
                </a:solidFill>
                <a:latin typeface="Trebuchet MS"/>
                <a:ea typeface="DejaVu Sans"/>
              </a:rPr>
              <a:t>omo</a:t>
            </a:r>
            <a:r>
              <a:rPr lang="pt-BR" sz="100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parte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da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struct</a:t>
            </a:r>
            <a:r>
              <a:rPr lang="pt-BR" sz="1000" b="0" strike="noStrike" spc="-352">
                <a:solidFill>
                  <a:srgbClr val="B90504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do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heap, o qual </a:t>
            </a:r>
            <a:r>
              <a:rPr lang="pt-BR" sz="100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armazena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a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posição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do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item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no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heap</a:t>
            </a:r>
            <a:endParaRPr lang="pt-BR" sz="1000" b="0" strike="noStrike" spc="-1">
              <a:latin typeface="Spranq eco sans"/>
            </a:endParaRPr>
          </a:p>
          <a:p>
            <a:pPr marL="289440" indent="-137520">
              <a:lnSpc>
                <a:spcPct val="100000"/>
              </a:lnSpc>
              <a:spcBef>
                <a:spcPts val="346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00" b="0" strike="noStrike" spc="66">
                <a:solidFill>
                  <a:srgbClr val="333333"/>
                </a:solidFill>
                <a:latin typeface="Trebuchet MS"/>
                <a:ea typeface="DejaVu Sans"/>
              </a:rPr>
              <a:t>Em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18">
                <a:solidFill>
                  <a:srgbClr val="B90504"/>
                </a:solidFill>
                <a:latin typeface="Georgia"/>
                <a:ea typeface="DejaVu Sans"/>
              </a:rPr>
              <a:t>O(1)</a:t>
            </a:r>
            <a:r>
              <a:rPr lang="pt-BR" sz="1000" b="0" strike="noStrike" spc="26">
                <a:solidFill>
                  <a:srgbClr val="B90504"/>
                </a:solidFill>
                <a:latin typeface="Georgia"/>
                <a:ea typeface="DejaVu Sans"/>
              </a:rPr>
              <a:t> </a:t>
            </a:r>
            <a:r>
              <a:rPr lang="pt-BR" sz="100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encontramos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a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posição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46">
                <a:solidFill>
                  <a:srgbClr val="333333"/>
                </a:solidFill>
                <a:latin typeface="Trebuchet MS"/>
                <a:ea typeface="DejaVu Sans"/>
              </a:rPr>
              <a:t>do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item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no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heap</a:t>
            </a:r>
            <a:endParaRPr lang="pt-BR" sz="1000" b="0" strike="noStrike" spc="-1">
              <a:latin typeface="Spranq eco sans"/>
            </a:endParaRPr>
          </a:p>
          <a:p>
            <a:pPr marL="12600">
              <a:lnSpc>
                <a:spcPct val="100000"/>
              </a:lnSpc>
              <a:spcBef>
                <a:spcPts val="1579"/>
              </a:spcBef>
            </a:pPr>
            <a:r>
              <a:rPr lang="pt-BR" sz="1000" b="0" strike="noStrike" spc="72">
                <a:solidFill>
                  <a:srgbClr val="333333"/>
                </a:solidFill>
                <a:latin typeface="Trebuchet MS"/>
                <a:ea typeface="DejaVu Sans"/>
              </a:rPr>
              <a:t>Como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modiﬁcar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77">
                <a:solidFill>
                  <a:srgbClr val="333333"/>
                </a:solidFill>
                <a:latin typeface="Trebuchet MS"/>
                <a:ea typeface="DejaVu Sans"/>
              </a:rPr>
              <a:t>os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algoritmos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para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atualizar </a:t>
            </a: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esse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vetor?</a:t>
            </a:r>
            <a:endParaRPr lang="pt-BR" sz="1000" b="0" strike="noStrike" spc="-1">
              <a:latin typeface="Spranq eco sans"/>
            </a:endParaRPr>
          </a:p>
          <a:p>
            <a:pPr marL="289440" indent="-137520">
              <a:lnSpc>
                <a:spcPct val="100000"/>
              </a:lnSpc>
              <a:spcBef>
                <a:spcPts val="391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0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Toda </a:t>
            </a:r>
            <a:r>
              <a:rPr lang="pt-BR" sz="100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vez </a:t>
            </a:r>
            <a:r>
              <a:rPr lang="pt-BR" sz="1000" b="0" strike="noStrike" spc="24">
                <a:solidFill>
                  <a:srgbClr val="333333"/>
                </a:solidFill>
                <a:latin typeface="Trebuchet MS"/>
                <a:ea typeface="DejaVu Sans"/>
              </a:rPr>
              <a:t>que 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ﬁzer </a:t>
            </a:r>
            <a:r>
              <a:rPr lang="pt-BR" sz="100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uma 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troca,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troque </a:t>
            </a:r>
            <a:r>
              <a:rPr lang="pt-BR" sz="1000" b="0" strike="noStrike" spc="12">
                <a:solidFill>
                  <a:srgbClr val="333333"/>
                </a:solidFill>
                <a:latin typeface="Trebuchet MS"/>
                <a:ea typeface="DejaVu Sans"/>
              </a:rPr>
              <a:t>também </a:t>
            </a:r>
            <a:r>
              <a:rPr lang="pt-BR" sz="1000" b="0" strike="noStrike" spc="66">
                <a:solidFill>
                  <a:srgbClr val="333333"/>
                </a:solidFill>
                <a:latin typeface="Trebuchet MS"/>
                <a:ea typeface="DejaVu Sans"/>
              </a:rPr>
              <a:t>as</a:t>
            </a:r>
            <a:r>
              <a:rPr lang="pt-BR" sz="1000" b="0" strike="noStrike" spc="-18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43">
                <a:solidFill>
                  <a:srgbClr val="333333"/>
                </a:solidFill>
                <a:latin typeface="Trebuchet MS"/>
                <a:ea typeface="DejaVu Sans"/>
              </a:rPr>
              <a:t>posições</a:t>
            </a:r>
            <a:endParaRPr lang="pt-BR" sz="1000" b="0" strike="noStrike" spc="-1">
              <a:latin typeface="Spranq eco sans"/>
            </a:endParaRPr>
          </a:p>
          <a:p>
            <a:pPr marL="12600">
              <a:lnSpc>
                <a:spcPct val="100000"/>
              </a:lnSpc>
              <a:spcBef>
                <a:spcPts val="1539"/>
              </a:spcBef>
            </a:pPr>
            <a:r>
              <a:rPr lang="pt-BR" sz="1000" b="0" strike="noStrike" spc="92">
                <a:solidFill>
                  <a:srgbClr val="333333"/>
                </a:solidFill>
                <a:latin typeface="Trebuchet MS"/>
                <a:ea typeface="DejaVu Sans"/>
              </a:rPr>
              <a:t>E</a:t>
            </a:r>
            <a:r>
              <a:rPr lang="pt-BR" sz="100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se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77">
                <a:solidFill>
                  <a:srgbClr val="333333"/>
                </a:solidFill>
                <a:latin typeface="Trebuchet MS"/>
                <a:ea typeface="DejaVu Sans"/>
              </a:rPr>
              <a:t>os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itens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não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tiverem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esse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43">
                <a:solidFill>
                  <a:srgbClr val="333333"/>
                </a:solidFill>
                <a:latin typeface="Trebuchet MS"/>
                <a:ea typeface="DejaVu Sans"/>
              </a:rPr>
              <a:t>campo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4">
                <a:solidFill>
                  <a:srgbClr val="B90504"/>
                </a:solidFill>
                <a:latin typeface="Courier New"/>
                <a:ea typeface="DejaVu Sans"/>
              </a:rPr>
              <a:t>id</a:t>
            </a:r>
            <a:r>
              <a:rPr lang="pt-BR" sz="100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?</a:t>
            </a:r>
            <a:endParaRPr lang="pt-BR" sz="1000" b="0" strike="noStrike" spc="-1">
              <a:latin typeface="Spranq eco sans"/>
            </a:endParaRPr>
          </a:p>
          <a:p>
            <a:pPr marL="289440" indent="-137520">
              <a:lnSpc>
                <a:spcPct val="100000"/>
              </a:lnSpc>
              <a:spcBef>
                <a:spcPts val="334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Atribua </a:t>
            </a:r>
            <a:r>
              <a:rPr lang="pt-BR" sz="10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ids</a:t>
            </a:r>
            <a:r>
              <a:rPr lang="pt-BR" sz="1000" b="0" strike="noStrike" spc="-542">
                <a:solidFill>
                  <a:srgbClr val="B90504"/>
                </a:solidFill>
                <a:latin typeface="Courier New"/>
                <a:ea typeface="DejaVu Sans"/>
              </a:rPr>
              <a:t> </a:t>
            </a:r>
            <a:r>
              <a:rPr lang="pt-BR" sz="1000" b="0" strike="noStrike" spc="63">
                <a:solidFill>
                  <a:srgbClr val="333333"/>
                </a:solidFill>
                <a:latin typeface="Trebuchet MS"/>
                <a:ea typeface="DejaVu Sans"/>
              </a:rPr>
              <a:t>aos </a:t>
            </a:r>
            <a:r>
              <a:rPr lang="pt-BR" sz="100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elementos </a:t>
            </a:r>
            <a:r>
              <a:rPr lang="pt-BR" sz="100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você </a:t>
            </a: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mesmo</a:t>
            </a:r>
            <a:endParaRPr lang="pt-BR" sz="1000" b="0" strike="noStrike" spc="-1">
              <a:latin typeface="Spranq eco sans"/>
            </a:endParaRPr>
          </a:p>
          <a:p>
            <a:pPr marL="289440" indent="-137520">
              <a:lnSpc>
                <a:spcPct val="100000"/>
              </a:lnSpc>
              <a:spcBef>
                <a:spcPts val="334"/>
              </a:spcBef>
              <a:buClr>
                <a:srgbClr val="333333"/>
              </a:buClr>
              <a:buSzPct val="104000"/>
              <a:buFont typeface="DejaVu Serif"/>
              <a:buChar char="•"/>
            </a:pPr>
            <a:r>
              <a:rPr lang="pt-BR" sz="1000" b="0" strike="noStrike" spc="66">
                <a:solidFill>
                  <a:srgbClr val="333333"/>
                </a:solidFill>
                <a:latin typeface="Trebuchet MS"/>
                <a:ea typeface="DejaVu Sans"/>
              </a:rPr>
              <a:t>Use</a:t>
            </a:r>
            <a:r>
              <a:rPr lang="pt-BR" sz="1000" b="0" strike="noStrike" spc="-12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uma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estrutura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de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58">
                <a:solidFill>
                  <a:srgbClr val="333333"/>
                </a:solidFill>
                <a:latin typeface="Trebuchet MS"/>
                <a:ea typeface="DejaVu Sans"/>
              </a:rPr>
              <a:t>dados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para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encontrar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52">
                <a:solidFill>
                  <a:srgbClr val="333333"/>
                </a:solidFill>
                <a:latin typeface="Trebuchet MS"/>
                <a:ea typeface="DejaVu Sans"/>
              </a:rPr>
              <a:t>o</a:t>
            </a:r>
            <a:r>
              <a:rPr lang="pt-BR" sz="1000" b="0" strike="noStrike" spc="-7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id</a:t>
            </a:r>
            <a:endParaRPr lang="pt-BR" sz="1000" b="0" strike="noStrike" spc="-1">
              <a:latin typeface="Spranq eco sans"/>
            </a:endParaRPr>
          </a:p>
          <a:p>
            <a:pPr marL="289440">
              <a:lnSpc>
                <a:spcPct val="100000"/>
              </a:lnSpc>
              <a:spcBef>
                <a:spcPts val="85"/>
              </a:spcBef>
            </a:pPr>
            <a:r>
              <a:rPr lang="pt-BR" sz="100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Rapidamente.</a:t>
            </a:r>
            <a:endParaRPr lang="pt-BR" sz="1000" b="0" strike="noStrike" spc="-1">
              <a:latin typeface="Spranq eco sans"/>
            </a:endParaRPr>
          </a:p>
          <a:p>
            <a:pPr marL="432000" lvl="1" indent="-216000">
              <a:lnSpc>
                <a:spcPct val="100000"/>
              </a:lnSpc>
              <a:spcBef>
                <a:spcPts val="3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00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Ex: </a:t>
            </a:r>
            <a:r>
              <a:rPr lang="pt-BR" sz="1000" b="0" strike="noStrike" spc="117">
                <a:solidFill>
                  <a:srgbClr val="333333"/>
                </a:solidFill>
                <a:latin typeface="Trebuchet MS"/>
                <a:ea typeface="DejaVu Sans"/>
              </a:rPr>
              <a:t>ABBs</a:t>
            </a:r>
            <a:r>
              <a:rPr lang="pt-BR" sz="1000" b="0" strike="noStrike" spc="-180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00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ou </a:t>
            </a:r>
            <a:r>
              <a:rPr lang="pt-BR" sz="100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Tabela </a:t>
            </a:r>
            <a:r>
              <a:rPr lang="pt-BR" sz="100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de </a:t>
            </a:r>
            <a:r>
              <a:rPr lang="pt-BR" sz="100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Hashing </a:t>
            </a:r>
            <a:r>
              <a:rPr lang="pt-BR" sz="100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(veremos </a:t>
            </a:r>
            <a:r>
              <a:rPr lang="pt-BR" sz="1000" b="0" strike="noStrike" spc="38">
                <a:solidFill>
                  <a:srgbClr val="333333"/>
                </a:solidFill>
                <a:latin typeface="Trebuchet MS"/>
                <a:ea typeface="DejaVu Sans"/>
              </a:rPr>
              <a:t>no </a:t>
            </a:r>
            <a:r>
              <a:rPr lang="pt-BR" sz="1000" b="0" strike="noStrike" spc="-24">
                <a:solidFill>
                  <a:srgbClr val="333333"/>
                </a:solidFill>
                <a:latin typeface="Trebuchet MS"/>
                <a:ea typeface="DejaVu Sans"/>
              </a:rPr>
              <a:t>futuro)</a:t>
            </a:r>
            <a:endParaRPr lang="pt-BR" sz="10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CustomShape 1"/>
          <p:cNvSpPr/>
          <p:nvPr/>
        </p:nvSpPr>
        <p:spPr>
          <a:xfrm>
            <a:off x="167400" y="131040"/>
            <a:ext cx="148788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4">
                <a:solidFill>
                  <a:srgbClr val="990100"/>
                </a:solidFill>
                <a:latin typeface="Trebuchet MS"/>
                <a:ea typeface="DejaVu Sans"/>
              </a:rPr>
              <a:t>Exercício - casa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955" name="CustomShape 2"/>
          <p:cNvSpPr/>
          <p:nvPr/>
        </p:nvSpPr>
        <p:spPr>
          <a:xfrm>
            <a:off x="2288160" y="3300120"/>
            <a:ext cx="132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18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56" name="CustomShape 3"/>
          <p:cNvSpPr/>
          <p:nvPr/>
        </p:nvSpPr>
        <p:spPr>
          <a:xfrm>
            <a:off x="347400" y="1421280"/>
            <a:ext cx="3899880" cy="588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520" rIns="0" bIns="0"/>
          <a:lstStyle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pt-BR" sz="1050" b="0" strike="noStrike" spc="7">
                <a:solidFill>
                  <a:srgbClr val="333333"/>
                </a:solidFill>
                <a:latin typeface="Trebuchet MS"/>
                <a:ea typeface="DejaVu Sans"/>
              </a:rPr>
              <a:t>Crie </a:t>
            </a:r>
            <a:r>
              <a:rPr lang="pt-BR" sz="1050" b="0" strike="noStrike" spc="32">
                <a:solidFill>
                  <a:srgbClr val="333333"/>
                </a:solidFill>
                <a:latin typeface="Trebuchet MS"/>
                <a:ea typeface="DejaVu Sans"/>
              </a:rPr>
              <a:t>versões </a:t>
            </a:r>
            <a:r>
              <a:rPr lang="pt-BR" sz="1050" b="0" strike="noStrike" spc="-4">
                <a:solidFill>
                  <a:srgbClr val="333333"/>
                </a:solidFill>
                <a:latin typeface="Trebuchet MS"/>
                <a:ea typeface="DejaVu Sans"/>
              </a:rPr>
              <a:t>iterativas </a:t>
            </a:r>
            <a:r>
              <a:rPr lang="pt-BR" sz="1050" b="0" strike="noStrike" spc="26">
                <a:solidFill>
                  <a:srgbClr val="333333"/>
                </a:solidFill>
                <a:latin typeface="Trebuchet MS"/>
                <a:ea typeface="DejaVu Sans"/>
              </a:rPr>
              <a:t>de </a:t>
            </a:r>
            <a:r>
              <a:rPr lang="pt-BR" sz="11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desce_no_heap</a:t>
            </a:r>
            <a:r>
              <a:rPr lang="pt-BR" sz="1100" b="0" strike="noStrike" spc="-517">
                <a:solidFill>
                  <a:srgbClr val="B90504"/>
                </a:solidFill>
                <a:latin typeface="Courier New"/>
                <a:ea typeface="DejaVu Sans"/>
              </a:rPr>
              <a:t> </a:t>
            </a:r>
            <a:r>
              <a:rPr lang="pt-BR" sz="1050" b="0" strike="noStrike" spc="4">
                <a:solidFill>
                  <a:srgbClr val="333333"/>
                </a:solidFill>
                <a:latin typeface="Trebuchet MS"/>
                <a:ea typeface="DejaVu Sans"/>
              </a:rPr>
              <a:t>e </a:t>
            </a:r>
            <a:r>
              <a:rPr lang="pt-BR" sz="1100" b="0" strike="noStrike" spc="-83">
                <a:solidFill>
                  <a:srgbClr val="B90504"/>
                </a:solidFill>
                <a:latin typeface="Courier New"/>
                <a:ea typeface="DejaVu Sans"/>
              </a:rPr>
              <a:t>sobe_no_heap</a:t>
            </a:r>
            <a:endParaRPr lang="pt-BR" sz="11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CustomShape 1"/>
          <p:cNvSpPr/>
          <p:nvPr/>
        </p:nvSpPr>
        <p:spPr>
          <a:xfrm>
            <a:off x="131400" y="59040"/>
            <a:ext cx="296388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18">
                <a:solidFill>
                  <a:srgbClr val="990100"/>
                </a:solidFill>
                <a:latin typeface="Trebuchet MS"/>
                <a:ea typeface="DejaVu Sans"/>
              </a:rPr>
              <a:t>Heap max-min e heap min-max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958" name="CustomShape 2"/>
          <p:cNvSpPr/>
          <p:nvPr/>
        </p:nvSpPr>
        <p:spPr>
          <a:xfrm>
            <a:off x="425880" y="539280"/>
            <a:ext cx="3677400" cy="2615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080" rIns="0" bIns="0"/>
          <a:lstStyle/>
          <a:p>
            <a:pPr marL="12600" indent="-215640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SzPct val="45000"/>
              <a:buFont typeface="Symbol"/>
              <a:buChar char=""/>
            </a:pPr>
            <a:r>
              <a:rPr lang="pt-BR" sz="13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Aplicações de heap onde é necessário acessar o elemento que possui a maior e a menor prioridade.</a:t>
            </a:r>
            <a:endParaRPr lang="pt-BR" sz="1300" b="0" strike="noStrike" spc="-1">
              <a:latin typeface="Spranq eco sans"/>
            </a:endParaRPr>
          </a:p>
          <a:p>
            <a:pPr marL="12600" indent="-215640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SzPct val="45000"/>
              <a:buFont typeface="Symbol"/>
              <a:buChar char=""/>
            </a:pPr>
            <a:r>
              <a:rPr lang="pt-BR" sz="13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Implementa estrutura de vetores e podem ser vistas como árvores binárias completas.</a:t>
            </a:r>
            <a:endParaRPr lang="pt-BR" sz="1300" b="0" strike="noStrike" spc="-1">
              <a:latin typeface="Spranq eco sans"/>
            </a:endParaRPr>
          </a:p>
          <a:p>
            <a:pPr marL="12600" indent="-215640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SzPct val="45000"/>
              <a:buFont typeface="Symbol"/>
              <a:buChar char=""/>
            </a:pPr>
            <a:r>
              <a:rPr lang="pt-BR" sz="13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Operações:</a:t>
            </a:r>
            <a:endParaRPr lang="pt-BR" sz="1300" b="0" strike="noStrike" spc="-1">
              <a:latin typeface="Spranq eco sans"/>
            </a:endParaRPr>
          </a:p>
          <a:p>
            <a:pPr marL="648000" lvl="2" indent="-216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3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Consulta do elemento de maior ou de menor prioridade</a:t>
            </a:r>
            <a:endParaRPr lang="pt-BR" sz="1300" b="0" strike="noStrike" spc="-1">
              <a:latin typeface="Spranq eco sans"/>
            </a:endParaRPr>
          </a:p>
          <a:p>
            <a:pPr marL="648000" lvl="2" indent="-216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3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Inserção de um elemento e remoção do elemento de maior ou de menor prioridade.</a:t>
            </a:r>
            <a:endParaRPr lang="pt-BR" sz="1300" b="0" strike="noStrike" spc="-1">
              <a:latin typeface="Spranq eco sans"/>
            </a:endParaRPr>
          </a:p>
        </p:txBody>
      </p:sp>
      <p:sp>
        <p:nvSpPr>
          <p:cNvPr id="959" name="CustomShape 3"/>
          <p:cNvSpPr/>
          <p:nvPr/>
        </p:nvSpPr>
        <p:spPr>
          <a:xfrm>
            <a:off x="2315160" y="3300120"/>
            <a:ext cx="78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CustomShape 1"/>
          <p:cNvSpPr/>
          <p:nvPr/>
        </p:nvSpPr>
        <p:spPr>
          <a:xfrm>
            <a:off x="131400" y="59040"/>
            <a:ext cx="296388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18">
                <a:solidFill>
                  <a:srgbClr val="990100"/>
                </a:solidFill>
                <a:latin typeface="Trebuchet MS"/>
                <a:ea typeface="DejaVu Sans"/>
              </a:rPr>
              <a:t>Heap max-min e heap min-max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961" name="CustomShape 2"/>
          <p:cNvSpPr/>
          <p:nvPr/>
        </p:nvSpPr>
        <p:spPr>
          <a:xfrm>
            <a:off x="432000" y="504000"/>
            <a:ext cx="3677400" cy="2615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080" rIns="0" bIns="0"/>
          <a:lstStyle/>
          <a:p>
            <a:pPr marL="12600" indent="-215640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SzPct val="45000"/>
              <a:buFont typeface="Symbol"/>
              <a:buChar char=""/>
            </a:pPr>
            <a:r>
              <a:rPr lang="pt-BR" sz="1400" b="1" strike="noStrike" spc="-1">
                <a:solidFill>
                  <a:srgbClr val="333333"/>
                </a:solidFill>
                <a:latin typeface="Trebuchet MS"/>
                <a:ea typeface="DejaVu Sans"/>
              </a:rPr>
              <a:t>PROPRIEDADES:</a:t>
            </a:r>
            <a:endParaRPr lang="pt-BR" sz="1400" b="0" strike="noStrike" spc="-1">
              <a:latin typeface="Spranq eco sans"/>
            </a:endParaRPr>
          </a:p>
          <a:p>
            <a:pPr marL="648000" lvl="2" indent="-215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O elemento raiz deve ocupar a posição 1 do vetor.</a:t>
            </a:r>
            <a:endParaRPr lang="pt-BR" sz="1200" b="0" strike="noStrike" spc="-1">
              <a:latin typeface="Spranq eco sans"/>
            </a:endParaRPr>
          </a:p>
          <a:p>
            <a:pPr marL="648000" lvl="2" indent="-215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O vetor utilizado para armazenar n elementos tem a posição inicial zero.</a:t>
            </a:r>
            <a:endParaRPr lang="pt-BR" sz="1200" b="0" strike="noStrike" spc="-1">
              <a:latin typeface="Spranq eco sans"/>
            </a:endParaRPr>
          </a:p>
          <a:p>
            <a:pPr marL="648000" lvl="2" indent="-215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Em um heap </a:t>
            </a:r>
            <a:r>
              <a:rPr lang="pt-BR" sz="1200" b="1" strike="noStrike" spc="-1">
                <a:solidFill>
                  <a:srgbClr val="333333"/>
                </a:solidFill>
                <a:latin typeface="Trebuchet MS"/>
                <a:ea typeface="DejaVu Sans"/>
              </a:rPr>
              <a:t>max-min</a:t>
            </a: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o elemento de maior prioridade ocupa sempre a posição 1 do vetor.</a:t>
            </a:r>
            <a:endParaRPr lang="pt-BR" sz="1200" b="0" strike="noStrike" spc="-1">
              <a:latin typeface="Spranq eco sans"/>
            </a:endParaRPr>
          </a:p>
          <a:p>
            <a:pPr marL="648000" lvl="2" indent="-215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Em um heap </a:t>
            </a:r>
            <a:r>
              <a:rPr lang="pt-BR" sz="1200" b="1" strike="noStrike" spc="-1">
                <a:solidFill>
                  <a:srgbClr val="333333"/>
                </a:solidFill>
                <a:latin typeface="Trebuchet MS"/>
                <a:ea typeface="DejaVu Sans"/>
              </a:rPr>
              <a:t>min-max</a:t>
            </a: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o elemento de menor prioridade ocupa sempre a posição 1 do vetor.</a:t>
            </a:r>
            <a:endParaRPr lang="pt-BR" sz="1200" b="0" strike="noStrike" spc="-1">
              <a:latin typeface="Spranq eco sans"/>
            </a:endParaRPr>
          </a:p>
        </p:txBody>
      </p:sp>
      <p:sp>
        <p:nvSpPr>
          <p:cNvPr id="962" name="CustomShape 3"/>
          <p:cNvSpPr/>
          <p:nvPr/>
        </p:nvSpPr>
        <p:spPr>
          <a:xfrm>
            <a:off x="2315160" y="3300120"/>
            <a:ext cx="78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CustomShape 1"/>
          <p:cNvSpPr/>
          <p:nvPr/>
        </p:nvSpPr>
        <p:spPr>
          <a:xfrm>
            <a:off x="131400" y="59040"/>
            <a:ext cx="296388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18">
                <a:solidFill>
                  <a:srgbClr val="990100"/>
                </a:solidFill>
                <a:latin typeface="Trebuchet MS"/>
                <a:ea typeface="DejaVu Sans"/>
              </a:rPr>
              <a:t>Heap max-min e heap min-max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964" name="CustomShape 2"/>
          <p:cNvSpPr/>
          <p:nvPr/>
        </p:nvSpPr>
        <p:spPr>
          <a:xfrm>
            <a:off x="432000" y="504000"/>
            <a:ext cx="3677400" cy="2347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080" rIns="0" bIns="0"/>
          <a:lstStyle/>
          <a:p>
            <a:pPr marL="12600" indent="-215640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SzPct val="45000"/>
              <a:buFont typeface="Symbol"/>
              <a:buChar char=""/>
            </a:pPr>
            <a:r>
              <a:rPr lang="pt-BR" sz="1400" b="1" strike="noStrike" spc="-1">
                <a:solidFill>
                  <a:srgbClr val="333333"/>
                </a:solidFill>
                <a:latin typeface="Trebuchet MS"/>
                <a:ea typeface="DejaVu Sans"/>
              </a:rPr>
              <a:t> PROPRIEDADES:</a:t>
            </a:r>
            <a:endParaRPr lang="pt-BR" sz="1400" b="0" strike="noStrike" spc="-1">
              <a:latin typeface="Spranq eco sans"/>
            </a:endParaRPr>
          </a:p>
          <a:p>
            <a:pPr marL="648000" lvl="2" indent="-215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Cada elemento do vetor corresponde a um nó da árvore binária e encontra-se em um nível.</a:t>
            </a:r>
            <a:endParaRPr lang="pt-BR" sz="1200" b="0" strike="noStrike" spc="-1">
              <a:latin typeface="Spranq eco sans"/>
            </a:endParaRPr>
          </a:p>
          <a:p>
            <a:pPr marL="648000" lvl="2" indent="-215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Em um heap </a:t>
            </a:r>
            <a:r>
              <a:rPr lang="pt-BR" sz="1200" b="1" strike="noStrike" spc="-1">
                <a:solidFill>
                  <a:srgbClr val="333333"/>
                </a:solidFill>
                <a:latin typeface="Trebuchet MS"/>
                <a:ea typeface="DejaVu Sans"/>
              </a:rPr>
              <a:t>max-min</a:t>
            </a: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os níveis </a:t>
            </a:r>
            <a:r>
              <a:rPr lang="pt-BR" sz="1200" b="0" u="sng" strike="noStrike" spc="-1">
                <a:solidFill>
                  <a:srgbClr val="333333"/>
                </a:solidFill>
                <a:uFillTx/>
                <a:latin typeface="Trebuchet MS"/>
                <a:ea typeface="DejaVu Sans"/>
              </a:rPr>
              <a:t>ímpares</a:t>
            </a: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são chamados </a:t>
            </a:r>
            <a:r>
              <a:rPr lang="pt-BR" sz="1200" b="0" u="sng" strike="noStrike" spc="-1">
                <a:solidFill>
                  <a:srgbClr val="333333"/>
                </a:solidFill>
                <a:uFillTx/>
                <a:latin typeface="Trebuchet MS"/>
                <a:ea typeface="DejaVu Sans"/>
              </a:rPr>
              <a:t>níveis máximos</a:t>
            </a: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e os </a:t>
            </a:r>
            <a:r>
              <a:rPr lang="pt-BR" sz="1200" b="0" u="sng" strike="noStrike" spc="-1">
                <a:solidFill>
                  <a:srgbClr val="333333"/>
                </a:solidFill>
                <a:uFillTx/>
                <a:latin typeface="Trebuchet MS"/>
                <a:ea typeface="DejaVu Sans"/>
              </a:rPr>
              <a:t>pares</a:t>
            </a: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200" b="0" u="sng" strike="noStrike" spc="-1">
                <a:solidFill>
                  <a:srgbClr val="333333"/>
                </a:solidFill>
                <a:uFillTx/>
                <a:latin typeface="Trebuchet MS"/>
                <a:ea typeface="DejaVu Sans"/>
              </a:rPr>
              <a:t>níveis mínimos</a:t>
            </a: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.</a:t>
            </a:r>
            <a:endParaRPr lang="pt-BR" sz="1200" b="0" strike="noStrike" spc="-1">
              <a:latin typeface="Spranq eco sans"/>
            </a:endParaRPr>
          </a:p>
          <a:p>
            <a:pPr marL="648000" lvl="2" indent="-215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Em um heap </a:t>
            </a:r>
            <a:r>
              <a:rPr lang="pt-BR" sz="1200" b="1" strike="noStrike" spc="-1">
                <a:solidFill>
                  <a:srgbClr val="333333"/>
                </a:solidFill>
                <a:latin typeface="Trebuchet MS"/>
                <a:ea typeface="DejaVu Sans"/>
              </a:rPr>
              <a:t>min-max</a:t>
            </a: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os níveis </a:t>
            </a:r>
            <a:r>
              <a:rPr lang="pt-BR" sz="1200" b="0" u="sng" strike="noStrike" spc="-1">
                <a:solidFill>
                  <a:srgbClr val="333333"/>
                </a:solidFill>
                <a:uFillTx/>
                <a:latin typeface="Trebuchet MS"/>
                <a:ea typeface="DejaVu Sans"/>
              </a:rPr>
              <a:t>ímpares</a:t>
            </a: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são chamados </a:t>
            </a:r>
            <a:r>
              <a:rPr lang="pt-BR" sz="1200" b="0" u="sng" strike="noStrike" spc="-1">
                <a:solidFill>
                  <a:srgbClr val="333333"/>
                </a:solidFill>
                <a:uFillTx/>
                <a:latin typeface="Trebuchet MS"/>
                <a:ea typeface="DejaVu Sans"/>
              </a:rPr>
              <a:t>níveis mínimos</a:t>
            </a: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e os </a:t>
            </a:r>
            <a:r>
              <a:rPr lang="pt-BR" sz="1200" b="0" u="sng" strike="noStrike" spc="-1">
                <a:solidFill>
                  <a:srgbClr val="333333"/>
                </a:solidFill>
                <a:uFillTx/>
                <a:latin typeface="Trebuchet MS"/>
                <a:ea typeface="DejaVu Sans"/>
              </a:rPr>
              <a:t>pares</a:t>
            </a: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</a:t>
            </a:r>
            <a:r>
              <a:rPr lang="pt-BR" sz="1200" b="0" u="sng" strike="noStrike" spc="-1">
                <a:solidFill>
                  <a:srgbClr val="333333"/>
                </a:solidFill>
                <a:uFillTx/>
                <a:latin typeface="Trebuchet MS"/>
                <a:ea typeface="DejaVu Sans"/>
              </a:rPr>
              <a:t>níveis máximos</a:t>
            </a:r>
            <a:r>
              <a:rPr lang="pt-BR" sz="12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.</a:t>
            </a:r>
            <a:endParaRPr lang="pt-BR" sz="1200" b="0" strike="noStrike" spc="-1">
              <a:latin typeface="Spranq eco sans"/>
            </a:endParaRPr>
          </a:p>
        </p:txBody>
      </p:sp>
      <p:sp>
        <p:nvSpPr>
          <p:cNvPr id="965" name="CustomShape 3"/>
          <p:cNvSpPr/>
          <p:nvPr/>
        </p:nvSpPr>
        <p:spPr>
          <a:xfrm>
            <a:off x="2315160" y="3300120"/>
            <a:ext cx="78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CustomShape 1"/>
          <p:cNvSpPr/>
          <p:nvPr/>
        </p:nvSpPr>
        <p:spPr>
          <a:xfrm>
            <a:off x="131400" y="59040"/>
            <a:ext cx="296388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18">
                <a:solidFill>
                  <a:srgbClr val="990100"/>
                </a:solidFill>
                <a:latin typeface="Trebuchet MS"/>
                <a:ea typeface="DejaVu Sans"/>
              </a:rPr>
              <a:t>Heap max-min e heap min-max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967" name="CustomShape 2"/>
          <p:cNvSpPr/>
          <p:nvPr/>
        </p:nvSpPr>
        <p:spPr>
          <a:xfrm>
            <a:off x="432000" y="504000"/>
            <a:ext cx="3677400" cy="2079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080" rIns="0" bIns="0"/>
          <a:lstStyle/>
          <a:p>
            <a:pPr marL="12600" indent="-215640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SzPct val="45000"/>
              <a:buFont typeface="Symbol"/>
              <a:buChar char=""/>
            </a:pPr>
            <a:r>
              <a:rPr lang="pt-BR" sz="1400" b="1" strike="noStrike" spc="-1">
                <a:solidFill>
                  <a:srgbClr val="333333"/>
                </a:solidFill>
                <a:latin typeface="Trebuchet MS"/>
                <a:ea typeface="DejaVu Sans"/>
              </a:rPr>
              <a:t>PROPRIEDADES:</a:t>
            </a:r>
            <a:endParaRPr lang="pt-BR" sz="1400" b="0" strike="noStrike" spc="-1">
              <a:latin typeface="Spranq eco sans"/>
            </a:endParaRPr>
          </a:p>
          <a:p>
            <a:pPr marL="648000" lvl="2" indent="-215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Em um heap </a:t>
            </a:r>
            <a:r>
              <a:rPr lang="pt-BR" sz="1400" b="1" strike="noStrike" spc="-1">
                <a:solidFill>
                  <a:srgbClr val="333333"/>
                </a:solidFill>
                <a:latin typeface="Trebuchet MS"/>
                <a:ea typeface="DejaVu Sans"/>
              </a:rPr>
              <a:t>max-min</a:t>
            </a: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, se o nível de um nó i é máximo (ímpar) a sua chave é superior à chave do seu pai e inferior à chave do seu avô.</a:t>
            </a:r>
            <a:endParaRPr lang="pt-BR" sz="1400" b="0" strike="noStrike" spc="-1">
              <a:latin typeface="Spranq eco sans"/>
            </a:endParaRPr>
          </a:p>
          <a:p>
            <a:pPr marL="648000" lvl="2" indent="-215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Em um heap </a:t>
            </a:r>
            <a:r>
              <a:rPr lang="pt-BR" sz="1400" b="1" strike="noStrike" spc="-1">
                <a:solidFill>
                  <a:srgbClr val="333333"/>
                </a:solidFill>
                <a:latin typeface="Trebuchet MS"/>
                <a:ea typeface="DejaVu Sans"/>
              </a:rPr>
              <a:t>min-max</a:t>
            </a: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, se o nível de um nó i é mínimo (ímpar) a sua chave é inferior à chave do seu pai e superior à chave do seu avô.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968" name="CustomShape 3"/>
          <p:cNvSpPr/>
          <p:nvPr/>
        </p:nvSpPr>
        <p:spPr>
          <a:xfrm>
            <a:off x="2315160" y="3300120"/>
            <a:ext cx="78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CustomShape 1"/>
          <p:cNvSpPr/>
          <p:nvPr/>
        </p:nvSpPr>
        <p:spPr>
          <a:xfrm>
            <a:off x="131400" y="59040"/>
            <a:ext cx="296388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18">
                <a:solidFill>
                  <a:srgbClr val="990100"/>
                </a:solidFill>
                <a:latin typeface="Trebuchet MS"/>
                <a:ea typeface="DejaVu Sans"/>
              </a:rPr>
              <a:t>Heap max-min e heap min-max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970" name="CustomShape 2"/>
          <p:cNvSpPr/>
          <p:nvPr/>
        </p:nvSpPr>
        <p:spPr>
          <a:xfrm>
            <a:off x="425880" y="863280"/>
            <a:ext cx="3677400" cy="165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080" rIns="0" bIns="0"/>
          <a:lstStyle/>
          <a:p>
            <a:pPr marL="12600" indent="-215640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SzPct val="45000"/>
              <a:buFont typeface="Symbol"/>
              <a:buChar char=""/>
            </a:pP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Em um heap </a:t>
            </a:r>
            <a:r>
              <a:rPr lang="pt-BR" sz="1400" b="1" strike="noStrike" spc="-1">
                <a:solidFill>
                  <a:srgbClr val="333333"/>
                </a:solidFill>
                <a:latin typeface="Trebuchet MS"/>
                <a:ea typeface="DejaVu Sans"/>
              </a:rPr>
              <a:t>max-min</a:t>
            </a: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e em um heap </a:t>
            </a:r>
            <a:r>
              <a:rPr lang="pt-BR" sz="1400" b="1" strike="noStrike" spc="-1">
                <a:solidFill>
                  <a:srgbClr val="333333"/>
                </a:solidFill>
                <a:latin typeface="Trebuchet MS"/>
                <a:ea typeface="DejaVu Sans"/>
              </a:rPr>
              <a:t>min-max</a:t>
            </a: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 a chave de um nó i é:</a:t>
            </a:r>
            <a:endParaRPr lang="pt-BR" sz="1400" b="0" strike="noStrike" spc="-1">
              <a:latin typeface="Spranq eco sans"/>
            </a:endParaRPr>
          </a:p>
          <a:p>
            <a:pPr marL="648000" lvl="2" indent="-216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Superior às chaves de seus descendentes, quando i está situado em um </a:t>
            </a:r>
            <a:r>
              <a:rPr lang="pt-BR" sz="1400" b="0" u="sng" strike="noStrike" spc="-1">
                <a:solidFill>
                  <a:srgbClr val="333333"/>
                </a:solidFill>
                <a:uFillTx/>
                <a:latin typeface="Trebuchet MS"/>
                <a:ea typeface="DejaVu Sans"/>
              </a:rPr>
              <a:t>nível máximo</a:t>
            </a:r>
            <a:endParaRPr lang="pt-BR" sz="1400" b="0" strike="noStrike" spc="-1">
              <a:latin typeface="Spranq eco sans"/>
            </a:endParaRPr>
          </a:p>
          <a:p>
            <a:pPr marL="648000" lvl="2" indent="-216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Inferior às chaves de seus descendentes quando i é situado em um </a:t>
            </a:r>
            <a:r>
              <a:rPr lang="pt-BR" sz="1400" b="0" u="sng" strike="noStrike" spc="-1">
                <a:solidFill>
                  <a:srgbClr val="333333"/>
                </a:solidFill>
                <a:uFillTx/>
                <a:latin typeface="Trebuchet MS"/>
                <a:ea typeface="DejaVu Sans"/>
              </a:rPr>
              <a:t>nível mínimo</a:t>
            </a:r>
            <a:r>
              <a:rPr lang="pt-BR" sz="1400" b="0" strike="noStrike" spc="-1">
                <a:solidFill>
                  <a:srgbClr val="333333"/>
                </a:solidFill>
                <a:latin typeface="Trebuchet MS"/>
                <a:ea typeface="DejaVu Sans"/>
              </a:rPr>
              <a:t>.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971" name="CustomShape 3"/>
          <p:cNvSpPr/>
          <p:nvPr/>
        </p:nvSpPr>
        <p:spPr>
          <a:xfrm>
            <a:off x="2315160" y="3300120"/>
            <a:ext cx="78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6</a:t>
            </a:r>
            <a:endParaRPr lang="pt-BR" sz="8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CustomShape 1"/>
          <p:cNvSpPr/>
          <p:nvPr/>
        </p:nvSpPr>
        <p:spPr>
          <a:xfrm>
            <a:off x="169200" y="72000"/>
            <a:ext cx="2422080" cy="22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/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pt-BR" sz="1400" b="0" strike="noStrike" spc="4">
                <a:solidFill>
                  <a:srgbClr val="990100"/>
                </a:solidFill>
                <a:latin typeface="Trebuchet MS"/>
                <a:ea typeface="DejaVu Sans"/>
              </a:rPr>
              <a:t>Referências Bibliográficas</a:t>
            </a:r>
            <a:endParaRPr lang="pt-BR" sz="1400" b="0" strike="noStrike" spc="-1">
              <a:latin typeface="Spranq eco sans"/>
            </a:endParaRPr>
          </a:p>
        </p:txBody>
      </p:sp>
      <p:sp>
        <p:nvSpPr>
          <p:cNvPr id="973" name="CustomShape 2"/>
          <p:cNvSpPr/>
          <p:nvPr/>
        </p:nvSpPr>
        <p:spPr>
          <a:xfrm>
            <a:off x="2288160" y="3300120"/>
            <a:ext cx="132120" cy="1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/>
          <a:lstStyle/>
          <a:p>
            <a:pPr marL="12600">
              <a:lnSpc>
                <a:spcPct val="100000"/>
              </a:lnSpc>
              <a:spcBef>
                <a:spcPts val="218"/>
              </a:spcBef>
            </a:pPr>
            <a:r>
              <a:rPr lang="pt-BR" sz="800" b="0" strike="noStrike" spc="-1">
                <a:solidFill>
                  <a:srgbClr val="666666"/>
                </a:solidFill>
                <a:latin typeface="Trebuchet MS"/>
                <a:ea typeface="DejaVu Sans"/>
              </a:rPr>
              <a:t>18</a:t>
            </a:r>
            <a:endParaRPr lang="pt-BR" sz="800" b="0" strike="noStrike" spc="-1">
              <a:latin typeface="Spranq eco sans"/>
            </a:endParaRPr>
          </a:p>
        </p:txBody>
      </p:sp>
      <p:sp>
        <p:nvSpPr>
          <p:cNvPr id="974" name="CustomShape 3"/>
          <p:cNvSpPr/>
          <p:nvPr/>
        </p:nvSpPr>
        <p:spPr>
          <a:xfrm>
            <a:off x="288000" y="724680"/>
            <a:ext cx="3887280" cy="215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Cormen, Thomas H. Leiserson, Charles E, et al Algoritmos.</a:t>
            </a:r>
            <a:endParaRPr lang="pt-BR" sz="1400" b="0" strike="noStrike" spc="-1">
              <a:latin typeface="Spranq eco sans"/>
            </a:endParaRPr>
          </a:p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Notas de aula - professor Rafael C. S. Schouery - Unicamp</a:t>
            </a:r>
            <a:endParaRPr lang="pt-BR" sz="1400" b="0" strike="noStrike" spc="-1">
              <a:latin typeface="Spranq ec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</TotalTime>
  <Words>1734</Words>
  <Application>Microsoft Office PowerPoint</Application>
  <PresentationFormat>Personalizar</PresentationFormat>
  <Paragraphs>457</Paragraphs>
  <Slides>39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12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0</vt:i4>
      </vt:variant>
      <vt:variant>
        <vt:lpstr>Títulos de slides</vt:lpstr>
      </vt:variant>
      <vt:variant>
        <vt:i4>39</vt:i4>
      </vt:variant>
    </vt:vector>
  </HeadingPairs>
  <TitlesOfParts>
    <vt:vector size="55" baseType="lpstr">
      <vt:lpstr>Arial</vt:lpstr>
      <vt:lpstr>Courier New</vt:lpstr>
      <vt:lpstr>DejaVu Sans</vt:lpstr>
      <vt:lpstr>DejaVu Serif</vt:lpstr>
      <vt:lpstr>Garamond</vt:lpstr>
      <vt:lpstr>Georgia</vt:lpstr>
      <vt:lpstr>Noto Sans CJK SC Regular</vt:lpstr>
      <vt:lpstr>Spranq eco sans</vt:lpstr>
      <vt:lpstr>Symbol</vt:lpstr>
      <vt:lpstr>Times New Roman</vt:lpstr>
      <vt:lpstr>Trebuchet MS</vt:lpstr>
      <vt:lpstr>Wingdings</vt:lpstr>
      <vt:lpstr>Office Theme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MC-202  Filas de Prioridade e Heap</dc:title>
  <dc:subject/>
  <dc:creator>Rafael C. S. Schoueryrafael@ic.unicamp.br</dc:creator>
  <dc:description/>
  <cp:lastModifiedBy>André Lucio de Oliveira</cp:lastModifiedBy>
  <cp:revision>123</cp:revision>
  <dcterms:created xsi:type="dcterms:W3CDTF">2019-03-18T14:30:11Z</dcterms:created>
  <dcterms:modified xsi:type="dcterms:W3CDTF">2019-03-25T23:12:14Z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Created">
    <vt:filetime>2018-10-16T00:00:00Z</vt:filetime>
  </property>
  <property fmtid="{D5CDD505-2E9C-101B-9397-08002B2CF9AE}" pid="4" name="Creator">
    <vt:lpwstr>LaTeX with Beamer class</vt:lpwstr>
  </property>
  <property fmtid="{D5CDD505-2E9C-101B-9397-08002B2CF9AE}" pid="5" name="HyperlinksChanged">
    <vt:bool>false</vt:bool>
  </property>
  <property fmtid="{D5CDD505-2E9C-101B-9397-08002B2CF9AE}" pid="6" name="LastSaved">
    <vt:filetime>2019-03-18T00:00:00Z</vt:filetime>
  </property>
  <property fmtid="{D5CDD505-2E9C-101B-9397-08002B2CF9AE}" pid="7" name="LinksUpToDate">
    <vt:bool>false</vt:bool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</Properties>
</file>